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3"/>
  </p:handoutMasterIdLst>
  <p:sldIdLst>
    <p:sldId id="486" r:id="rId3"/>
    <p:sldId id="487" r:id="rId5"/>
    <p:sldId id="488" r:id="rId6"/>
    <p:sldId id="489" r:id="rId7"/>
    <p:sldId id="524" r:id="rId8"/>
    <p:sldId id="495" r:id="rId9"/>
    <p:sldId id="526" r:id="rId10"/>
    <p:sldId id="525" r:id="rId11"/>
    <p:sldId id="502" r:id="rId12"/>
    <p:sldId id="527" r:id="rId13"/>
    <p:sldId id="528" r:id="rId14"/>
    <p:sldId id="529" r:id="rId15"/>
    <p:sldId id="508" r:id="rId16"/>
    <p:sldId id="492" r:id="rId17"/>
    <p:sldId id="491" r:id="rId18"/>
    <p:sldId id="513" r:id="rId19"/>
    <p:sldId id="531" r:id="rId20"/>
    <p:sldId id="490" r:id="rId21"/>
    <p:sldId id="532" r:id="rId22"/>
  </p:sldIdLst>
  <p:sldSz cx="12192000" cy="6858000"/>
  <p:notesSz cx="6858000" cy="9144000"/>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100"/>
    <a:srgbClr val="3475B5"/>
    <a:srgbClr val="EA863D"/>
    <a:srgbClr val="F9BA8B"/>
    <a:srgbClr val="71369F"/>
    <a:srgbClr val="E2D7E8"/>
    <a:srgbClr val="E6EFF8"/>
    <a:srgbClr val="F9E5D7"/>
    <a:srgbClr val="E77F36"/>
    <a:srgbClr val="FEF1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0" d="100"/>
          <a:sy n="100" d="100"/>
        </p:scale>
        <p:origin x="18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tags" Target="tags/tag95.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handoutMaster" Target="handoutMasters/handoutMaster1.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30CF34-5466-4C09-8B8B-5A958BCAE99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D3EEB3-6DEA-48F1-9CD4-EDC2A04DB05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a:t>
            </a:r>
            <a:r>
              <a:rPr lang="zh-CN" altLang="en-US"/>
              <a:t>这一页展示了我们研究的现实背景。新手程序员常常陷入一个</a:t>
            </a:r>
            <a:r>
              <a:rPr lang="en-US" altLang="zh-CN"/>
              <a:t>**‘</a:t>
            </a:r>
            <a:r>
              <a:rPr lang="zh-CN" altLang="en-US"/>
              <a:t>反复试错的死循环</a:t>
            </a:r>
            <a:r>
              <a:rPr lang="en-US" altLang="zh-CN"/>
              <a:t>’**</a:t>
            </a:r>
            <a:r>
              <a:rPr lang="zh-CN" altLang="en-US"/>
              <a:t>（指向顶部图）：提交代码后，只能得到</a:t>
            </a:r>
            <a:r>
              <a:rPr lang="en-US" altLang="zh-CN"/>
              <a:t> WA/TLE </a:t>
            </a:r>
            <a:r>
              <a:rPr lang="zh-CN" altLang="en-US"/>
              <a:t>这样模糊的报错，导致只能盲目修改。</a:t>
            </a:r>
            <a:endParaRPr lang="zh-CN" altLang="en-US"/>
          </a:p>
          <a:p>
            <a:endParaRPr lang="en-US" altLang="zh-CN"/>
          </a:p>
          <a:p>
            <a:r>
              <a:rPr lang="zh-CN" altLang="en-US"/>
              <a:t>这背后有两个主要痛点：</a:t>
            </a:r>
            <a:r>
              <a:rPr lang="en-US" altLang="zh-CN"/>
              <a:t> </a:t>
            </a:r>
            <a:r>
              <a:rPr lang="zh-CN" altLang="en-US"/>
              <a:t>第一是反馈质量差（指向痛点一），现有系统只判对错，不解释原因；</a:t>
            </a:r>
            <a:r>
              <a:rPr lang="en-US" altLang="zh-CN"/>
              <a:t> </a:t>
            </a:r>
            <a:r>
              <a:rPr lang="zh-CN" altLang="en-US"/>
              <a:t>第二是缺乏个性化（指向痛点二），系统无法区分学生是真不懂还是粗心，无法因材施教。</a:t>
            </a:r>
            <a:endParaRPr lang="zh-CN" altLang="en-US"/>
          </a:p>
          <a:p>
            <a:endParaRPr lang="en-US" altLang="zh-CN"/>
          </a:p>
          <a:p>
            <a:r>
              <a:rPr lang="zh-CN" altLang="en-US"/>
              <a:t>因此，我们的核心结论是（指向底部）：解决编程教育中</a:t>
            </a:r>
            <a:r>
              <a:rPr lang="en-US" altLang="zh-CN"/>
              <a:t>**</a:t>
            </a:r>
            <a:r>
              <a:rPr lang="zh-CN" altLang="en-US"/>
              <a:t>缺乏</a:t>
            </a:r>
            <a:r>
              <a:rPr lang="en-US" altLang="zh-CN"/>
              <a:t>‘</a:t>
            </a:r>
            <a:r>
              <a:rPr lang="zh-CN" altLang="en-US"/>
              <a:t>针对性指导</a:t>
            </a:r>
            <a:r>
              <a:rPr lang="en-US" altLang="zh-CN"/>
              <a:t>’</a:t>
            </a:r>
            <a:r>
              <a:rPr lang="zh-CN" altLang="en-US"/>
              <a:t>和</a:t>
            </a:r>
            <a:r>
              <a:rPr lang="en-US" altLang="zh-CN"/>
              <a:t>‘</a:t>
            </a:r>
            <a:r>
              <a:rPr lang="zh-CN" altLang="en-US"/>
              <a:t>深层语义解释</a:t>
            </a:r>
            <a:r>
              <a:rPr lang="en-US" altLang="zh-CN"/>
              <a:t>’**</a:t>
            </a:r>
            <a:r>
              <a:rPr lang="zh-CN" altLang="en-US"/>
              <a:t>的问题，是提升学习效率的关键，也是本课题的研究动力。</a:t>
            </a:r>
            <a:r>
              <a:rPr lang="en-US" altLang="zh-CN"/>
              <a:t>”</a:t>
            </a:r>
            <a:endParaRPr lang="en-US" altLang="zh-CN"/>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a:t>
            </a:r>
            <a:r>
              <a:rPr lang="zh-CN" altLang="en-US"/>
              <a:t>这一页展示了我们研究的核心价值，旨在实现从</a:t>
            </a:r>
            <a:r>
              <a:rPr lang="en-US" altLang="zh-CN"/>
              <a:t>**</a:t>
            </a:r>
            <a:r>
              <a:rPr lang="zh-CN" altLang="en-US"/>
              <a:t>传统</a:t>
            </a:r>
            <a:r>
              <a:rPr lang="en-US" altLang="zh-CN"/>
              <a:t>‘</a:t>
            </a:r>
            <a:r>
              <a:rPr lang="zh-CN" altLang="en-US"/>
              <a:t>被动纠错</a:t>
            </a:r>
            <a:r>
              <a:rPr lang="en-US" altLang="zh-CN"/>
              <a:t>’</a:t>
            </a:r>
            <a:r>
              <a:rPr lang="zh-CN" altLang="en-US"/>
              <a:t>到本研究</a:t>
            </a:r>
            <a:r>
              <a:rPr lang="en-US" altLang="zh-CN"/>
              <a:t>‘</a:t>
            </a:r>
            <a:r>
              <a:rPr lang="zh-CN" altLang="en-US"/>
              <a:t>主动诊断</a:t>
            </a:r>
            <a:r>
              <a:rPr lang="en-US" altLang="zh-CN"/>
              <a:t>’**</a:t>
            </a:r>
            <a:r>
              <a:rPr lang="zh-CN" altLang="en-US"/>
              <a:t>的范式转变（指向中间箭头）。</a:t>
            </a:r>
            <a:endParaRPr lang="zh-CN" altLang="en-US"/>
          </a:p>
          <a:p>
            <a:endParaRPr lang="en-US" altLang="zh-CN"/>
          </a:p>
          <a:p>
            <a:r>
              <a:rPr lang="zh-CN" altLang="en-US"/>
              <a:t>传统方式（指向左侧）只给一个简单的</a:t>
            </a:r>
            <a:r>
              <a:rPr lang="en-US" altLang="zh-CN"/>
              <a:t> WA/TLE </a:t>
            </a:r>
            <a:r>
              <a:rPr lang="zh-CN" altLang="en-US"/>
              <a:t>报错，理论上局限于二元预测，实践上导致学生无效调试。学生只知对错，不知原因。</a:t>
            </a:r>
            <a:endParaRPr lang="zh-CN" altLang="en-US"/>
          </a:p>
          <a:p>
            <a:endParaRPr lang="en-US" altLang="zh-CN"/>
          </a:p>
          <a:p>
            <a:r>
              <a:rPr lang="zh-CN" altLang="en-US"/>
              <a:t>而我们的研究（指向右侧）能生成包含错误类型、深层成因和修复建议的智能诊断报告。这在理论上创新性地实现了生成式语义诊断，在实践上提供了主动预警和智能指导。</a:t>
            </a:r>
            <a:endParaRPr lang="zh-CN" altLang="en-US"/>
          </a:p>
          <a:p>
            <a:endParaRPr lang="en-US" altLang="zh-CN"/>
          </a:p>
          <a:p>
            <a:r>
              <a:rPr lang="zh-CN" altLang="en-US"/>
              <a:t>总之（指向底部），本研究在理论上实现了认知的深度跃迁，在实践上能显著提升教学的智能化水平。</a:t>
            </a:r>
            <a:r>
              <a:rPr lang="en-US" altLang="zh-CN"/>
              <a:t>”</a:t>
            </a:r>
            <a:endParaRPr lang="en-US" altLang="zh-CN"/>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研究的现状，分为三个阶段。</a:t>
            </a:r>
            <a:r>
              <a:rPr lang="en-US" altLang="zh-CN"/>
              <a:t> </a:t>
            </a:r>
            <a:r>
              <a:rPr lang="zh-CN" altLang="en-US"/>
              <a:t>第一阶段：传统深度学习，关注二值预测，代表性工作是</a:t>
            </a:r>
            <a:r>
              <a:rPr lang="en-US" altLang="zh-CN"/>
              <a:t> Error-DKT</a:t>
            </a:r>
            <a:r>
              <a:rPr lang="zh-CN" altLang="en-US"/>
              <a:t>，局限性是缺乏代码语义理解和错误解释。</a:t>
            </a:r>
            <a:r>
              <a:rPr lang="en-US" altLang="zh-CN"/>
              <a:t> </a:t>
            </a:r>
            <a:r>
              <a:rPr lang="zh-CN" altLang="en-US"/>
              <a:t>第二阶段：大模型增强的语义与逻辑追踪，包括语义理解增强（</a:t>
            </a:r>
            <a:r>
              <a:rPr lang="en-US" altLang="zh-CN"/>
              <a:t>OKT &amp; ECKT</a:t>
            </a:r>
            <a:r>
              <a:rPr lang="zh-CN" altLang="en-US"/>
              <a:t>）和精细化追踪（</a:t>
            </a:r>
            <a:r>
              <a:rPr lang="en-US" altLang="zh-CN"/>
              <a:t>TIKTOC</a:t>
            </a:r>
            <a:r>
              <a:rPr lang="zh-CN" altLang="en-US"/>
              <a:t>），通过大模型和思维链提升了预测准确性。</a:t>
            </a:r>
            <a:r>
              <a:rPr lang="en-US" altLang="zh-CN"/>
              <a:t> </a:t>
            </a:r>
            <a:r>
              <a:rPr lang="zh-CN" altLang="en-US"/>
              <a:t>第三阶段：多模态融合与认知代理，关注编程提交行为与过程分析、多模态特征对齐以及认知代理与多阶段预测，旨在实现更准确和具解释性的诊断。</a:t>
            </a:r>
            <a:endParaRPr lang="zh-CN" altLang="en-US"/>
          </a:p>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a:t>
            </a:r>
            <a:r>
              <a:rPr lang="zh-CN" altLang="en-US"/>
              <a:t>在总结了现有研究后，我们发现尽管技术在进步，但对照智能化教学的需求，仍存在三大关键局限，这也是本课题的突破点：</a:t>
            </a:r>
            <a:endParaRPr lang="zh-CN" altLang="en-US"/>
          </a:p>
          <a:p>
            <a:endParaRPr lang="en-US" altLang="zh-CN"/>
          </a:p>
          <a:p>
            <a:r>
              <a:rPr lang="zh-CN" altLang="en-US"/>
              <a:t>第一（指向</a:t>
            </a:r>
            <a:r>
              <a:rPr lang="en-US" altLang="zh-CN"/>
              <a:t> A</a:t>
            </a:r>
            <a:r>
              <a:rPr lang="zh-CN" altLang="en-US"/>
              <a:t>），数据维度缺失。</a:t>
            </a:r>
            <a:r>
              <a:rPr lang="en-US" altLang="zh-CN"/>
              <a:t> </a:t>
            </a:r>
            <a:r>
              <a:rPr lang="zh-CN" altLang="en-US"/>
              <a:t>现有研究只看静态代码快照，忽略了纵向的提交轨迹，导致无法区分学生的</a:t>
            </a:r>
            <a:r>
              <a:rPr lang="en-US" altLang="zh-CN"/>
              <a:t>‘</a:t>
            </a:r>
            <a:r>
              <a:rPr lang="zh-CN" altLang="en-US"/>
              <a:t>盲目试错</a:t>
            </a:r>
            <a:r>
              <a:rPr lang="en-US" altLang="zh-CN"/>
              <a:t>’</a:t>
            </a:r>
            <a:r>
              <a:rPr lang="zh-CN" altLang="en-US"/>
              <a:t>和</a:t>
            </a:r>
            <a:r>
              <a:rPr lang="en-US" altLang="zh-CN"/>
              <a:t>‘</a:t>
            </a:r>
            <a:r>
              <a:rPr lang="zh-CN" altLang="en-US"/>
              <a:t>初次尝试</a:t>
            </a:r>
            <a:r>
              <a:rPr lang="en-US" altLang="zh-CN"/>
              <a:t>’</a:t>
            </a:r>
            <a:r>
              <a:rPr lang="zh-CN" altLang="en-US"/>
              <a:t>，难以进行连贯引导。</a:t>
            </a:r>
            <a:endParaRPr lang="zh-CN" altLang="en-US"/>
          </a:p>
          <a:p>
            <a:endParaRPr lang="en-US" altLang="zh-CN"/>
          </a:p>
          <a:p>
            <a:r>
              <a:rPr lang="zh-CN" altLang="en-US"/>
              <a:t>第二（指向</a:t>
            </a:r>
            <a:r>
              <a:rPr lang="en-US" altLang="zh-CN"/>
              <a:t> B</a:t>
            </a:r>
            <a:r>
              <a:rPr lang="zh-CN" altLang="en-US"/>
              <a:t>），技术实现瓶颈。</a:t>
            </a:r>
            <a:r>
              <a:rPr lang="en-US" altLang="zh-CN"/>
              <a:t> </a:t>
            </a:r>
            <a:r>
              <a:rPr lang="zh-CN" altLang="en-US"/>
              <a:t>数值型的认知状态和文本型的代码之间存在巨大的</a:t>
            </a:r>
            <a:r>
              <a:rPr lang="en-US" altLang="zh-CN"/>
              <a:t>‘</a:t>
            </a:r>
            <a:r>
              <a:rPr lang="zh-CN" altLang="en-US"/>
              <a:t>语义鸿沟</a:t>
            </a:r>
            <a:r>
              <a:rPr lang="en-US" altLang="zh-CN"/>
              <a:t>’</a:t>
            </a:r>
            <a:r>
              <a:rPr lang="zh-CN" altLang="en-US"/>
              <a:t>。目前的提示工程效率低，且容易产生幻觉，缺乏专门的多模态适配器。</a:t>
            </a:r>
            <a:endParaRPr lang="zh-CN" altLang="en-US"/>
          </a:p>
          <a:p>
            <a:endParaRPr lang="en-US" altLang="zh-CN"/>
          </a:p>
          <a:p>
            <a:r>
              <a:rPr lang="zh-CN" altLang="en-US"/>
              <a:t>第三（指向</a:t>
            </a:r>
            <a:r>
              <a:rPr lang="en-US" altLang="zh-CN"/>
              <a:t> C</a:t>
            </a:r>
            <a:r>
              <a:rPr lang="zh-CN" altLang="en-US"/>
              <a:t>），诊断深度不足。</a:t>
            </a:r>
            <a:r>
              <a:rPr lang="en-US" altLang="zh-CN"/>
              <a:t> </a:t>
            </a:r>
            <a:r>
              <a:rPr lang="zh-CN" altLang="en-US"/>
              <a:t>现有模型多停留在预测</a:t>
            </a:r>
            <a:r>
              <a:rPr lang="en-US" altLang="zh-CN"/>
              <a:t>‘</a:t>
            </a:r>
            <a:r>
              <a:rPr lang="zh-CN" altLang="en-US"/>
              <a:t>对错</a:t>
            </a:r>
            <a:r>
              <a:rPr lang="en-US" altLang="zh-CN"/>
              <a:t>’</a:t>
            </a:r>
            <a:r>
              <a:rPr lang="zh-CN" altLang="en-US"/>
              <a:t>的判别式阶段，缺乏对错误深层逻辑根源的因果性解释，无法提供有教学价值的</a:t>
            </a:r>
            <a:r>
              <a:rPr lang="en-US" altLang="zh-CN"/>
              <a:t>‘</a:t>
            </a:r>
            <a:r>
              <a:rPr lang="zh-CN" altLang="en-US"/>
              <a:t>诊断</a:t>
            </a:r>
            <a:r>
              <a:rPr lang="en-US" altLang="zh-CN"/>
              <a:t>’</a:t>
            </a:r>
            <a:r>
              <a:rPr lang="zh-CN" altLang="en-US"/>
              <a:t>。</a:t>
            </a:r>
            <a:endParaRPr lang="zh-CN" altLang="en-US"/>
          </a:p>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研究的核心价值，旨在实现从</a:t>
            </a:r>
            <a:r>
              <a:rPr lang="en-US" altLang="zh-CN"/>
              <a:t>**</a:t>
            </a:r>
            <a:r>
              <a:rPr lang="zh-CN" altLang="en-US"/>
              <a:t>传统</a:t>
            </a:r>
            <a:r>
              <a:rPr lang="en-US" altLang="zh-CN"/>
              <a:t>‘</a:t>
            </a:r>
            <a:r>
              <a:rPr lang="zh-CN" altLang="en-US"/>
              <a:t>被动纠错</a:t>
            </a:r>
            <a:r>
              <a:rPr lang="en-US" altLang="zh-CN"/>
              <a:t>’</a:t>
            </a:r>
            <a:r>
              <a:rPr lang="zh-CN" altLang="en-US"/>
              <a:t>到本研究</a:t>
            </a:r>
            <a:r>
              <a:rPr lang="en-US" altLang="zh-CN"/>
              <a:t>‘</a:t>
            </a:r>
            <a:r>
              <a:rPr lang="zh-CN" altLang="en-US"/>
              <a:t>主动诊断</a:t>
            </a:r>
            <a:r>
              <a:rPr lang="en-US" altLang="zh-CN"/>
              <a:t>’**</a:t>
            </a:r>
            <a:r>
              <a:rPr lang="zh-CN" altLang="en-US"/>
              <a:t>的范式转变（指向中间箭头）。</a:t>
            </a:r>
            <a:endParaRPr lang="zh-CN" altLang="en-US"/>
          </a:p>
          <a:p>
            <a:endParaRPr lang="en-US" altLang="zh-CN"/>
          </a:p>
          <a:p>
            <a:r>
              <a:rPr lang="zh-CN" altLang="en-US"/>
              <a:t>传统方式（指向左侧）只给一个简单的</a:t>
            </a:r>
            <a:r>
              <a:rPr lang="en-US" altLang="zh-CN"/>
              <a:t> WA/TLE </a:t>
            </a:r>
            <a:r>
              <a:rPr lang="zh-CN" altLang="en-US"/>
              <a:t>报错，理论上局限于二元预测，实践上导致学生无效调试。学生只知对错，不知原因。</a:t>
            </a:r>
            <a:endParaRPr lang="zh-CN" altLang="en-US"/>
          </a:p>
          <a:p>
            <a:endParaRPr lang="en-US" altLang="zh-CN"/>
          </a:p>
          <a:p>
            <a:r>
              <a:rPr lang="zh-CN" altLang="en-US"/>
              <a:t>而我们的研究（指向右侧）能生成包含错误类型、深层成因和修复建议的智能诊断报告。这在理论上创新性地实现了生成式语义诊断，在实践上提供了主动预警和智能指导。</a:t>
            </a:r>
            <a:endParaRPr lang="zh-CN" altLang="en-US"/>
          </a:p>
          <a:p>
            <a:endParaRPr lang="en-US" altLang="zh-CN"/>
          </a:p>
          <a:p>
            <a:r>
              <a:rPr lang="zh-CN" altLang="en-US"/>
              <a:t>总之（指向底部），本研究在理论上实现了认知的深度跃迁，在实践上能显著提升教学的智能化水平。</a:t>
            </a:r>
            <a:r>
              <a:rPr lang="en-US" altLang="zh-CN"/>
              <a:t>”</a:t>
            </a:r>
            <a:endParaRPr lang="en-US" altLang="zh-CN"/>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a:p>
          <a:p>
            <a:r>
              <a:rPr lang="zh-CN" altLang="en-US"/>
              <a:t>这里展示如何进行纵向提交轨迹挖掘。</a:t>
            </a:r>
            <a:endParaRPr lang="zh-CN" altLang="en-US"/>
          </a:p>
          <a:p>
            <a:endParaRPr lang="en-US" altLang="zh-CN"/>
          </a:p>
          <a:p>
            <a:r>
              <a:rPr lang="zh-CN" altLang="en-US"/>
              <a:t>我实现了从传统</a:t>
            </a:r>
            <a:r>
              <a:rPr lang="en-US" altLang="zh-CN"/>
              <a:t>‘</a:t>
            </a:r>
            <a:r>
              <a:rPr lang="zh-CN" altLang="en-US"/>
              <a:t>静态快照</a:t>
            </a:r>
            <a:r>
              <a:rPr lang="en-US" altLang="zh-CN"/>
              <a:t>’</a:t>
            </a:r>
            <a:r>
              <a:rPr lang="zh-CN" altLang="en-US"/>
              <a:t>视角向</a:t>
            </a:r>
            <a:r>
              <a:rPr lang="en-US" altLang="zh-CN"/>
              <a:t>‘</a:t>
            </a:r>
            <a:r>
              <a:rPr lang="zh-CN" altLang="en-US"/>
              <a:t>纵向动态流</a:t>
            </a:r>
            <a:r>
              <a:rPr lang="en-US" altLang="zh-CN"/>
              <a:t>’</a:t>
            </a:r>
            <a:r>
              <a:rPr lang="zh-CN" altLang="en-US"/>
              <a:t>视角的跨越。通过分析学生连续提交的时间轴，我们提取了三大核心特征：</a:t>
            </a:r>
            <a:r>
              <a:rPr lang="en-US" altLang="zh-CN"/>
              <a:t> </a:t>
            </a:r>
            <a:r>
              <a:rPr lang="zh-CN" altLang="en-US"/>
              <a:t>一是提交间隔，比如极短的间隔可能暗示学生在焦虑地盲目试错。</a:t>
            </a:r>
            <a:r>
              <a:rPr lang="en-US" altLang="zh-CN"/>
              <a:t> </a:t>
            </a:r>
            <a:r>
              <a:rPr lang="zh-CN" altLang="en-US"/>
              <a:t>二是代码演化，微小的修改可能只是在碰运气，而大幅重构则意味着深层思考和逻辑修正。</a:t>
            </a:r>
            <a:r>
              <a:rPr lang="en-US" altLang="zh-CN"/>
              <a:t> </a:t>
            </a:r>
            <a:r>
              <a:rPr lang="zh-CN" altLang="en-US"/>
              <a:t>三是状态转移，记录了从错误到正确的演变路径。</a:t>
            </a:r>
            <a:endParaRPr lang="zh-CN" altLang="en-US"/>
          </a:p>
          <a:p>
            <a:endParaRPr lang="en-US" altLang="zh-CN"/>
          </a:p>
          <a:p>
            <a:r>
              <a:rPr lang="zh-CN" altLang="en-US"/>
              <a:t>通过组合这些特征，我们能有效区分学生的认知状态，例如识别出是</a:t>
            </a:r>
            <a:r>
              <a:rPr lang="en-US" altLang="zh-CN"/>
              <a:t>‘</a:t>
            </a:r>
            <a:r>
              <a:rPr lang="zh-CN" altLang="en-US"/>
              <a:t>盲目试错</a:t>
            </a:r>
            <a:r>
              <a:rPr lang="en-US" altLang="zh-CN"/>
              <a:t>’</a:t>
            </a:r>
            <a:r>
              <a:rPr lang="zh-CN" altLang="en-US"/>
              <a:t>模式还是</a:t>
            </a:r>
            <a:r>
              <a:rPr lang="en-US" altLang="zh-CN"/>
              <a:t>‘</a:t>
            </a:r>
            <a:r>
              <a:rPr lang="zh-CN" altLang="en-US"/>
              <a:t>深层思考</a:t>
            </a:r>
            <a:r>
              <a:rPr lang="en-US" altLang="zh-CN"/>
              <a:t>’</a:t>
            </a:r>
            <a:r>
              <a:rPr lang="zh-CN" altLang="en-US"/>
              <a:t>模式，从而为个性化诊断提供关键依据。</a:t>
            </a:r>
            <a:r>
              <a:rPr lang="en-US" altLang="zh-CN"/>
              <a:t>”</a:t>
            </a:r>
            <a:endParaRPr lang="en-US" altLang="zh-CN"/>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a:t>
            </a:r>
            <a:r>
              <a:rPr lang="zh-CN" altLang="en-US"/>
              <a:t>首先是特征对齐阶段。为了突破传统静态双塔的局限：</a:t>
            </a:r>
            <a:endParaRPr lang="zh-CN" altLang="en-US"/>
          </a:p>
          <a:p>
            <a:endParaRPr lang="en-US" altLang="zh-CN"/>
          </a:p>
          <a:p>
            <a:r>
              <a:rPr lang="zh-CN" altLang="en-US"/>
              <a:t>我在左侧设计了时序认知编码器，创新性地引入了艾宾浩斯遗忘机制，对学生的历史轨迹进行时间衰减加权，让模型能感知学生能力的动态波动。</a:t>
            </a:r>
            <a:endParaRPr lang="zh-CN" altLang="en-US"/>
          </a:p>
          <a:p>
            <a:endParaRPr lang="en-US" altLang="zh-CN"/>
          </a:p>
          <a:p>
            <a:r>
              <a:rPr lang="zh-CN" altLang="en-US"/>
              <a:t>中间采用非对称对齐策略，专门挖掘逻辑正确但代码差异大的难例，解决了异构数据的语义鸿沟。</a:t>
            </a:r>
            <a:r>
              <a:rPr lang="en-US" altLang="zh-CN"/>
              <a:t>”</a:t>
            </a:r>
            <a:endParaRPr lang="en-US" altLang="zh-CN"/>
          </a:p>
          <a:p>
            <a:endParaRPr lang="en-US" altLang="zh-CN"/>
          </a:p>
          <a:p>
            <a:r>
              <a:rPr lang="en-US" altLang="zh-CN"/>
              <a:t>“</a:t>
            </a:r>
            <a:r>
              <a:rPr lang="zh-CN" altLang="en-US"/>
              <a:t>其次是生成诊断阶段。</a:t>
            </a:r>
            <a:endParaRPr lang="zh-CN" altLang="en-US"/>
          </a:p>
          <a:p>
            <a:endParaRPr lang="en-US" altLang="zh-CN"/>
          </a:p>
          <a:p>
            <a:r>
              <a:rPr lang="zh-CN" altLang="en-US"/>
              <a:t>针对学生盲目试错产生的噪音数据，我设计了认知门控适配器（</a:t>
            </a:r>
            <a:r>
              <a:rPr lang="en-US" altLang="zh-CN"/>
              <a:t>Gated Adapter</a:t>
            </a:r>
            <a:r>
              <a:rPr lang="zh-CN" altLang="en-US"/>
              <a:t>）。利用认知状态作为</a:t>
            </a:r>
            <a:r>
              <a:rPr lang="en-US" altLang="zh-CN"/>
              <a:t>‘</a:t>
            </a:r>
            <a:r>
              <a:rPr lang="zh-CN" altLang="en-US"/>
              <a:t>门控</a:t>
            </a:r>
            <a:r>
              <a:rPr lang="en-US" altLang="zh-CN"/>
              <a:t>’</a:t>
            </a:r>
            <a:r>
              <a:rPr lang="zh-CN" altLang="en-US"/>
              <a:t>，动态过滤掉无效的试错行为，只保留高价值特征。</a:t>
            </a:r>
            <a:endParaRPr lang="zh-CN" altLang="en-US"/>
          </a:p>
          <a:p>
            <a:endParaRPr lang="en-US" altLang="zh-CN"/>
          </a:p>
          <a:p>
            <a:r>
              <a:rPr lang="zh-CN" altLang="en-US"/>
              <a:t>最后，引入反事实推理链，引导大模型进行</a:t>
            </a:r>
            <a:r>
              <a:rPr lang="en-US" altLang="zh-CN"/>
              <a:t>‘</a:t>
            </a:r>
            <a:r>
              <a:rPr lang="zh-CN" altLang="en-US"/>
              <a:t>反向归因</a:t>
            </a:r>
            <a:r>
              <a:rPr lang="en-US" altLang="zh-CN"/>
              <a:t>’</a:t>
            </a:r>
            <a:r>
              <a:rPr lang="zh-CN" altLang="en-US"/>
              <a:t>，从而生成具有教学意义的白盒诊断报告。</a:t>
            </a:r>
            <a:r>
              <a:rPr lang="en-US" altLang="zh-CN"/>
              <a:t>”</a:t>
            </a:r>
            <a:endParaRPr lang="en-US" altLang="zh-CN"/>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1. </a:t>
            </a:r>
            <a:r>
              <a:rPr lang="zh-CN" altLang="en-US"/>
              <a:t>输入层</a:t>
            </a:r>
            <a:r>
              <a:rPr lang="en-US" altLang="zh-CN"/>
              <a:t> (Input Layer) “</a:t>
            </a:r>
            <a:r>
              <a:rPr lang="zh-CN" altLang="en-US"/>
              <a:t>最左侧是输入层。我们基于</a:t>
            </a:r>
            <a:r>
              <a:rPr lang="en-US" altLang="zh-CN"/>
              <a:t> CodeNet </a:t>
            </a:r>
            <a:r>
              <a:rPr lang="zh-CN" altLang="en-US"/>
              <a:t>数据集，提取包含时间戳、代码快照和状态码的全量提交序列，构建完整的调试会话数据。</a:t>
            </a:r>
            <a:r>
              <a:rPr lang="en-US" altLang="zh-CN"/>
              <a:t>”</a:t>
            </a:r>
            <a:endParaRPr lang="en-US" altLang="zh-CN"/>
          </a:p>
          <a:p>
            <a:endParaRPr lang="en-US" altLang="zh-CN"/>
          </a:p>
          <a:p>
            <a:r>
              <a:rPr lang="en-US" altLang="zh-CN"/>
              <a:t>2. </a:t>
            </a:r>
            <a:r>
              <a:rPr lang="zh-CN" altLang="en-US"/>
              <a:t>处理层</a:t>
            </a:r>
            <a:r>
              <a:rPr lang="en-US" altLang="zh-CN"/>
              <a:t> I</a:t>
            </a:r>
            <a:r>
              <a:rPr lang="zh-CN" altLang="en-US"/>
              <a:t>：特征工程与对齐</a:t>
            </a:r>
            <a:r>
              <a:rPr lang="en-US" altLang="zh-CN"/>
              <a:t> (Processing Layer I) “</a:t>
            </a:r>
            <a:r>
              <a:rPr lang="zh-CN" altLang="en-US"/>
              <a:t>进入橙色的处理层，分为两步：</a:t>
            </a:r>
            <a:endParaRPr lang="zh-CN" altLang="en-US"/>
          </a:p>
          <a:p>
            <a:endParaRPr lang="en-US" altLang="zh-CN"/>
          </a:p>
          <a:p>
            <a:r>
              <a:rPr lang="zh-CN" altLang="en-US"/>
              <a:t>特征融合：</a:t>
            </a:r>
            <a:r>
              <a:rPr lang="en-US" altLang="zh-CN"/>
              <a:t> </a:t>
            </a:r>
            <a:r>
              <a:rPr lang="zh-CN" altLang="en-US"/>
              <a:t>我们一方面挖掘纵向轨迹中的行为模式（如反复试错），另一方面利用</a:t>
            </a:r>
            <a:r>
              <a:rPr lang="en-US" altLang="zh-CN"/>
              <a:t> DKT </a:t>
            </a:r>
            <a:r>
              <a:rPr lang="zh-CN" altLang="en-US"/>
              <a:t>建模学生的知识掌握度。</a:t>
            </a:r>
            <a:endParaRPr lang="zh-CN" altLang="en-US"/>
          </a:p>
          <a:p>
            <a:endParaRPr lang="en-US" altLang="zh-CN"/>
          </a:p>
          <a:p>
            <a:r>
              <a:rPr lang="zh-CN" altLang="en-US"/>
              <a:t>双塔对比学习：</a:t>
            </a:r>
            <a:r>
              <a:rPr lang="en-US" altLang="zh-CN"/>
              <a:t> </a:t>
            </a:r>
            <a:r>
              <a:rPr lang="zh-CN" altLang="en-US"/>
              <a:t>这是解决</a:t>
            </a:r>
            <a:r>
              <a:rPr lang="en-US" altLang="zh-CN"/>
              <a:t>‘</a:t>
            </a:r>
            <a:r>
              <a:rPr lang="zh-CN" altLang="en-US"/>
              <a:t>异构语义鸿沟</a:t>
            </a:r>
            <a:r>
              <a:rPr lang="en-US" altLang="zh-CN"/>
              <a:t>’</a:t>
            </a:r>
            <a:r>
              <a:rPr lang="zh-CN" altLang="en-US"/>
              <a:t>的关键。左侧的时序认知编码器处理学生状态，右侧的语义感知编码器处理代码结构。我们通过对比损失函数拉近二者的距离，让模型学会理解</a:t>
            </a:r>
            <a:r>
              <a:rPr lang="en-US" altLang="zh-CN"/>
              <a:t>‘</a:t>
            </a:r>
            <a:r>
              <a:rPr lang="zh-CN" altLang="en-US"/>
              <a:t>什么样的学生状态倾向于写出什么样的代码</a:t>
            </a:r>
            <a:r>
              <a:rPr lang="en-US" altLang="zh-CN"/>
              <a:t>’</a:t>
            </a:r>
            <a:r>
              <a:rPr lang="zh-CN" altLang="en-US"/>
              <a:t>。</a:t>
            </a:r>
            <a:r>
              <a:rPr lang="en-US" altLang="zh-CN"/>
              <a:t>”</a:t>
            </a:r>
            <a:endParaRPr lang="en-US" altLang="zh-CN"/>
          </a:p>
          <a:p>
            <a:endParaRPr lang="en-US" altLang="zh-CN"/>
          </a:p>
          <a:p>
            <a:r>
              <a:rPr lang="en-US" altLang="zh-CN"/>
              <a:t>3. </a:t>
            </a:r>
            <a:r>
              <a:rPr lang="zh-CN" altLang="en-US"/>
              <a:t>处理层</a:t>
            </a:r>
            <a:r>
              <a:rPr lang="en-US" altLang="zh-CN"/>
              <a:t> II</a:t>
            </a:r>
            <a:r>
              <a:rPr lang="zh-CN" altLang="en-US"/>
              <a:t>：大模型适配</a:t>
            </a:r>
            <a:r>
              <a:rPr lang="en-US" altLang="zh-CN"/>
              <a:t> (Processing Layer II) “</a:t>
            </a:r>
            <a:r>
              <a:rPr lang="zh-CN" altLang="en-US"/>
              <a:t>进入紫色的大模型层。我们采用了</a:t>
            </a:r>
            <a:r>
              <a:rPr lang="en-US" altLang="zh-CN"/>
              <a:t> PEFT</a:t>
            </a:r>
            <a:r>
              <a:rPr lang="zh-CN" altLang="en-US"/>
              <a:t>（参数高效微调）</a:t>
            </a:r>
            <a:r>
              <a:rPr lang="en-US" altLang="zh-CN"/>
              <a:t> </a:t>
            </a:r>
            <a:r>
              <a:rPr lang="zh-CN" altLang="en-US"/>
              <a:t>技术：</a:t>
            </a:r>
            <a:endParaRPr lang="zh-CN" altLang="en-US"/>
          </a:p>
          <a:p>
            <a:endParaRPr lang="en-US" altLang="zh-CN"/>
          </a:p>
          <a:p>
            <a:r>
              <a:rPr lang="zh-CN" altLang="en-US"/>
              <a:t>设计一个轻量级的认知门控适配器，它能动态评估特征的重要性，过滤掉低质量的试错噪音。</a:t>
            </a:r>
            <a:endParaRPr lang="zh-CN" altLang="en-US"/>
          </a:p>
          <a:p>
            <a:endParaRPr lang="en-US" altLang="zh-CN"/>
          </a:p>
          <a:p>
            <a:r>
              <a:rPr lang="zh-CN" altLang="en-US"/>
              <a:t>随后，这些特征被转化为</a:t>
            </a:r>
            <a:r>
              <a:rPr lang="en-US" altLang="zh-CN"/>
              <a:t> </a:t>
            </a:r>
            <a:r>
              <a:rPr lang="zh-CN" altLang="en-US"/>
              <a:t>软提示，输入到冻结基座的</a:t>
            </a:r>
            <a:r>
              <a:rPr lang="en-US" altLang="zh-CN"/>
              <a:t> LLM </a:t>
            </a:r>
            <a:r>
              <a:rPr lang="zh-CN" altLang="en-US"/>
              <a:t>中。</a:t>
            </a:r>
            <a:endParaRPr lang="zh-CN" altLang="en-US"/>
          </a:p>
          <a:p>
            <a:endParaRPr lang="en-US" altLang="zh-CN"/>
          </a:p>
          <a:p>
            <a:r>
              <a:rPr lang="zh-CN" altLang="en-US"/>
              <a:t>配合精心设计的反事实推理链（</a:t>
            </a:r>
            <a:r>
              <a:rPr lang="en-US" altLang="zh-CN"/>
              <a:t>CoT</a:t>
            </a:r>
            <a:r>
              <a:rPr lang="zh-CN" altLang="en-US"/>
              <a:t>），模型依次执行</a:t>
            </a:r>
            <a:r>
              <a:rPr lang="en-US" altLang="zh-CN"/>
              <a:t>‘</a:t>
            </a:r>
            <a:r>
              <a:rPr lang="zh-CN" altLang="en-US"/>
              <a:t>现象捕捉</a:t>
            </a:r>
            <a:r>
              <a:rPr lang="en-US" altLang="zh-CN"/>
              <a:t> -&gt; </a:t>
            </a:r>
            <a:r>
              <a:rPr lang="zh-CN" altLang="en-US"/>
              <a:t>逻辑回溯</a:t>
            </a:r>
            <a:r>
              <a:rPr lang="en-US" altLang="zh-CN"/>
              <a:t> -&gt; </a:t>
            </a:r>
            <a:r>
              <a:rPr lang="zh-CN" altLang="en-US"/>
              <a:t>根因推导</a:t>
            </a:r>
            <a:r>
              <a:rPr lang="en-US" altLang="zh-CN"/>
              <a:t>’</a:t>
            </a:r>
            <a:r>
              <a:rPr lang="zh-CN" altLang="en-US"/>
              <a:t>三步推理。</a:t>
            </a:r>
            <a:r>
              <a:rPr lang="en-US" altLang="zh-CN"/>
              <a:t>”</a:t>
            </a:r>
            <a:endParaRPr lang="en-US" altLang="zh-CN"/>
          </a:p>
          <a:p>
            <a:endParaRPr lang="en-US" altLang="zh-CN"/>
          </a:p>
          <a:p>
            <a:r>
              <a:rPr lang="en-US" altLang="zh-CN"/>
              <a:t>4. </a:t>
            </a:r>
            <a:r>
              <a:rPr lang="zh-CN" altLang="en-US"/>
              <a:t>输出层</a:t>
            </a:r>
            <a:r>
              <a:rPr lang="en-US" altLang="zh-CN"/>
              <a:t> (Output Layer) “</a:t>
            </a:r>
            <a:r>
              <a:rPr lang="zh-CN" altLang="en-US"/>
              <a:t>最后是绿色的输出层。系统不再是输出简单的</a:t>
            </a:r>
            <a:r>
              <a:rPr lang="en-US" altLang="zh-CN"/>
              <a:t> Pass/Fail</a:t>
            </a:r>
            <a:r>
              <a:rPr lang="zh-CN" altLang="en-US"/>
              <a:t>，而是生成结构化的诊断报告，明确指出错误类型、深层逻辑根因以及具体的修复建议。</a:t>
            </a:r>
            <a:r>
              <a:rPr lang="en-US" altLang="zh-CN"/>
              <a:t>”</a:t>
            </a:r>
            <a:endParaRPr lang="en-US" altLang="zh-CN"/>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我设计了三个实验来验证我们的核心创新点。</a:t>
            </a:r>
            <a:endParaRPr lang="zh-CN" altLang="en-US"/>
          </a:p>
          <a:p>
            <a:endParaRPr lang="en-US" altLang="zh-CN"/>
          </a:p>
          <a:p>
            <a:r>
              <a:rPr lang="zh-CN" altLang="en-US"/>
              <a:t>实验一（左侧）：</a:t>
            </a:r>
            <a:r>
              <a:rPr lang="en-US" altLang="zh-CN"/>
              <a:t>RQ1 </a:t>
            </a:r>
            <a:r>
              <a:rPr lang="zh-CN" altLang="en-US"/>
              <a:t>性能验证。我们将与</a:t>
            </a:r>
            <a:r>
              <a:rPr lang="en-US" altLang="zh-CN"/>
              <a:t> CodeBERT </a:t>
            </a:r>
            <a:r>
              <a:rPr lang="zh-CN" altLang="en-US"/>
              <a:t>和</a:t>
            </a:r>
            <a:r>
              <a:rPr lang="en-US" altLang="zh-CN"/>
              <a:t> GPT-4 </a:t>
            </a:r>
            <a:r>
              <a:rPr lang="zh-CN" altLang="en-US"/>
              <a:t>等基线模型对比，重点验证我们的方法在识别逻辑错误上的准确性（</a:t>
            </a:r>
            <a:r>
              <a:rPr lang="en-US" altLang="zh-CN"/>
              <a:t>F1-Score</a:t>
            </a:r>
            <a:r>
              <a:rPr lang="zh-CN" altLang="en-US"/>
              <a:t>）和解释性（</a:t>
            </a:r>
            <a:r>
              <a:rPr lang="en-US" altLang="zh-CN"/>
              <a:t>BLEU/Rouge-L</a:t>
            </a:r>
            <a:r>
              <a:rPr lang="zh-CN" altLang="en-US"/>
              <a:t>）。预期在逻辑错误上表现更优。</a:t>
            </a:r>
            <a:endParaRPr lang="zh-CN" altLang="en-US"/>
          </a:p>
          <a:p>
            <a:endParaRPr lang="en-US" altLang="zh-CN"/>
          </a:p>
          <a:p>
            <a:r>
              <a:rPr lang="zh-CN" altLang="en-US"/>
              <a:t>实验二（中间）：</a:t>
            </a:r>
            <a:r>
              <a:rPr lang="en-US" altLang="zh-CN"/>
              <a:t>RQ2 </a:t>
            </a:r>
            <a:r>
              <a:rPr lang="zh-CN" altLang="en-US"/>
              <a:t>消融实验。通过对比不同特征组合的变体模型，验证引入</a:t>
            </a:r>
            <a:r>
              <a:rPr lang="en-US" altLang="zh-CN"/>
              <a:t>‘</a:t>
            </a:r>
            <a:r>
              <a:rPr lang="zh-CN" altLang="en-US"/>
              <a:t>长期认知</a:t>
            </a:r>
            <a:r>
              <a:rPr lang="en-US" altLang="zh-CN"/>
              <a:t>’</a:t>
            </a:r>
            <a:r>
              <a:rPr lang="zh-CN" altLang="en-US"/>
              <a:t>和</a:t>
            </a:r>
            <a:r>
              <a:rPr lang="en-US" altLang="zh-CN"/>
              <a:t>‘</a:t>
            </a:r>
            <a:r>
              <a:rPr lang="zh-CN" altLang="en-US"/>
              <a:t>短期行为</a:t>
            </a:r>
            <a:r>
              <a:rPr lang="en-US" altLang="zh-CN"/>
              <a:t>’</a:t>
            </a:r>
            <a:r>
              <a:rPr lang="zh-CN" altLang="en-US"/>
              <a:t>特征对预测的增益，证明多模态数据融合的必要性。预期全量模型效果最佳，并能区分相同错误的不同成因。</a:t>
            </a:r>
            <a:endParaRPr lang="zh-CN" altLang="en-US"/>
          </a:p>
          <a:p>
            <a:endParaRPr lang="en-US" altLang="zh-CN"/>
          </a:p>
          <a:p>
            <a:r>
              <a:rPr lang="zh-CN" altLang="en-US"/>
              <a:t>实验三（右侧）：</a:t>
            </a:r>
            <a:r>
              <a:rPr lang="en-US" altLang="zh-CN"/>
              <a:t>RQ3 </a:t>
            </a:r>
            <a:r>
              <a:rPr lang="zh-CN" altLang="en-US"/>
              <a:t>架构验证。对比我们的</a:t>
            </a:r>
            <a:r>
              <a:rPr lang="en-US" altLang="zh-CN"/>
              <a:t>‘Soft Prompting’</a:t>
            </a:r>
            <a:r>
              <a:rPr lang="zh-CN" altLang="en-US"/>
              <a:t>方案与传统的</a:t>
            </a:r>
            <a:r>
              <a:rPr lang="en-US" altLang="zh-CN"/>
              <a:t>‘Hard Prompting’</a:t>
            </a:r>
            <a:r>
              <a:rPr lang="zh-CN" altLang="en-US"/>
              <a:t>方案。从</a:t>
            </a:r>
            <a:r>
              <a:rPr lang="en-US" altLang="zh-CN"/>
              <a:t>Token</a:t>
            </a:r>
            <a:r>
              <a:rPr lang="zh-CN" altLang="en-US"/>
              <a:t>消耗和信息保真度两个维度证明我们架构的高效性和精准性。</a:t>
            </a:r>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a:p>
          <a:p>
            <a:r>
              <a:rPr lang="zh-CN" altLang="en-US"/>
              <a:t>本研究面临三大核心技术挑战。</a:t>
            </a:r>
            <a:endParaRPr lang="zh-CN" altLang="en-US"/>
          </a:p>
          <a:p>
            <a:endParaRPr lang="en-US" altLang="zh-CN"/>
          </a:p>
          <a:p>
            <a:r>
              <a:rPr lang="zh-CN" altLang="en-US"/>
              <a:t>第一（指向左侧）：异构特征对齐。</a:t>
            </a:r>
            <a:r>
              <a:rPr lang="en-US" altLang="zh-CN"/>
              <a:t> </a:t>
            </a:r>
            <a:r>
              <a:rPr lang="zh-CN" altLang="en-US"/>
              <a:t>核心难点是如何跨越数值型行为数据与文本型代码数据之间的</a:t>
            </a:r>
            <a:r>
              <a:rPr lang="en-US" altLang="zh-CN"/>
              <a:t>‘</a:t>
            </a:r>
            <a:r>
              <a:rPr lang="zh-CN" altLang="en-US"/>
              <a:t>语义鸿沟</a:t>
            </a:r>
            <a:r>
              <a:rPr lang="en-US" altLang="zh-CN"/>
              <a:t>’</a:t>
            </a:r>
            <a:r>
              <a:rPr lang="zh-CN" altLang="en-US"/>
              <a:t>，将它们映射到统一的语义空间，且不丢失关键的认知信息。</a:t>
            </a:r>
            <a:endParaRPr lang="zh-CN" altLang="en-US"/>
          </a:p>
          <a:p>
            <a:endParaRPr lang="en-US" altLang="zh-CN"/>
          </a:p>
          <a:p>
            <a:r>
              <a:rPr lang="zh-CN" altLang="en-US"/>
              <a:t>第二（指向中间）：</a:t>
            </a:r>
            <a:r>
              <a:rPr lang="en-US" altLang="zh-CN"/>
              <a:t>‘</a:t>
            </a:r>
            <a:r>
              <a:rPr lang="zh-CN" altLang="en-US"/>
              <a:t>伪过程</a:t>
            </a:r>
            <a:r>
              <a:rPr lang="en-US" altLang="zh-CN"/>
              <a:t>’</a:t>
            </a:r>
            <a:r>
              <a:rPr lang="zh-CN" altLang="en-US"/>
              <a:t>特征去噪。</a:t>
            </a:r>
            <a:r>
              <a:rPr lang="en-US" altLang="zh-CN"/>
              <a:t> </a:t>
            </a:r>
            <a:r>
              <a:rPr lang="zh-CN" altLang="en-US"/>
              <a:t>并非所有提交都反映真实的认知过程。难点在于如何从海量数据中剔除网络波动、抄袭等噪声，构建高质量的调试会话样本。</a:t>
            </a:r>
            <a:endParaRPr lang="zh-CN" altLang="en-US"/>
          </a:p>
          <a:p>
            <a:endParaRPr lang="en-US" altLang="zh-CN"/>
          </a:p>
          <a:p>
            <a:r>
              <a:rPr lang="zh-CN" altLang="en-US"/>
              <a:t>第三（指向右侧）：逻辑错误归因。</a:t>
            </a:r>
            <a:r>
              <a:rPr lang="en-US" altLang="zh-CN"/>
              <a:t> </a:t>
            </a:r>
            <a:r>
              <a:rPr lang="zh-CN" altLang="en-US"/>
              <a:t>死循环、边界溢出等逻辑错误缺乏显式报错。难点在于如何利用大模型的推理能力，结合历史轨迹，精准定位这些隐性错误的根源并生成解释。</a:t>
            </a:r>
            <a:endParaRPr lang="zh-CN" altLang="en-US"/>
          </a:p>
          <a:p>
            <a:endParaRPr lang="en-US" altLang="zh-CN"/>
          </a:p>
          <a:p>
            <a:r>
              <a:rPr lang="zh-CN" altLang="en-US"/>
              <a:t>突破这三大难题是我们实现研究目标的关键。</a:t>
            </a:r>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本课题在三个维度上实现了核心突破：</a:t>
            </a:r>
            <a:endParaRPr lang="zh-CN" altLang="en-US"/>
          </a:p>
          <a:p>
            <a:endParaRPr lang="en-US" altLang="zh-CN"/>
          </a:p>
          <a:p>
            <a:r>
              <a:rPr lang="zh-CN" altLang="en-US"/>
              <a:t>第一，模型层面，我提出了时序认知编码器，引入遗忘机制解决了传统模型无法处理学生知识动态衰退的问题。</a:t>
            </a:r>
            <a:r>
              <a:rPr lang="en-US" altLang="zh-CN"/>
              <a:t> </a:t>
            </a:r>
            <a:r>
              <a:rPr lang="zh-CN" altLang="en-US"/>
              <a:t>第二，范式层面，反事实推理技术，将传统的</a:t>
            </a:r>
            <a:r>
              <a:rPr lang="en-US" altLang="zh-CN"/>
              <a:t>‘</a:t>
            </a:r>
            <a:r>
              <a:rPr lang="zh-CN" altLang="en-US"/>
              <a:t>二分类预测</a:t>
            </a:r>
            <a:r>
              <a:rPr lang="en-US" altLang="zh-CN"/>
              <a:t>’</a:t>
            </a:r>
            <a:r>
              <a:rPr lang="zh-CN" altLang="en-US"/>
              <a:t>升级为可解释的</a:t>
            </a:r>
            <a:r>
              <a:rPr lang="en-US" altLang="zh-CN"/>
              <a:t>‘</a:t>
            </a:r>
            <a:r>
              <a:rPr lang="zh-CN" altLang="en-US"/>
              <a:t>白盒归因诊断</a:t>
            </a:r>
            <a:r>
              <a:rPr lang="en-US" altLang="zh-CN"/>
              <a:t>’</a:t>
            </a:r>
            <a:r>
              <a:rPr lang="zh-CN" altLang="en-US"/>
              <a:t>。</a:t>
            </a:r>
            <a:r>
              <a:rPr lang="en-US" altLang="zh-CN"/>
              <a:t> </a:t>
            </a:r>
            <a:r>
              <a:rPr lang="zh-CN" altLang="en-US"/>
              <a:t>第三，架构层面，针对学生乱写代码的噪音问题，我设计了门控适配器，实现了无效特征的自动过滤。</a:t>
            </a:r>
            <a:r>
              <a:rPr lang="en-US" altLang="zh-CN"/>
              <a:t>”</a:t>
            </a:r>
            <a:endParaRPr lang="en-US" altLang="zh-CN"/>
          </a:p>
          <a:p>
            <a:endParaRPr lang="en-US" altLang="zh-CN"/>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showMasterSp="0">
  <p:cSld name="空白">
    <p:bg>
      <p:bgPr>
        <a:solidFill>
          <a:schemeClr val="bg1">
            <a:lumMod val="95000"/>
          </a:schemeClr>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showMasterSp="0">
  <p:cSld name="1_空白">
    <p:bg>
      <p:bgPr>
        <a:solidFill>
          <a:schemeClr val="bg1">
            <a:lumMod val="95000"/>
          </a:schemeClr>
        </a:solidFill>
        <a:effectLst/>
      </p:bgPr>
    </p:bg>
    <p:spTree>
      <p:nvGrpSpPr>
        <p:cNvPr id="1" name=""/>
        <p:cNvGrpSpPr/>
        <p:nvPr/>
      </p:nvGrpSpPr>
      <p:grpSpPr>
        <a:xfrm>
          <a:off x="0" y="0"/>
          <a:ext cx="0" cy="0"/>
          <a:chOff x="0" y="0"/>
          <a:chExt cx="0" cy="0"/>
        </a:xfrm>
      </p:grpSpPr>
      <p:sp>
        <p:nvSpPr>
          <p:cNvPr id="2" name="矩形 1"/>
          <p:cNvSpPr/>
          <p:nvPr userDrawn="1"/>
        </p:nvSpPr>
        <p:spPr>
          <a:xfrm>
            <a:off x="10849147" y="6382534"/>
            <a:ext cx="1093711" cy="369332"/>
          </a:xfrm>
          <a:prstGeom prst="rect">
            <a:avLst/>
          </a:prstGeom>
        </p:spPr>
        <p:txBody>
          <a:bodyPr lIns="91440" tIns="45720" rIns="91440" bIns="45720"/>
          <a:lstStyle/>
          <a:p>
            <a:pPr algn="ctr">
              <a:defRPr/>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第 </a:t>
            </a:r>
            <a:fld id="{2EEF1883-7A0E-4F66-9932-E581691AD397}" type="slidenum">
              <a:rPr lang="zh-CN" altLang="en-US" sz="1600">
                <a:solidFill>
                  <a:schemeClr val="tx1">
                    <a:lumMod val="65000"/>
                    <a:lumOff val="35000"/>
                  </a:schemeClr>
                </a:solidFill>
              </a:rPr>
            </a:fld>
            <a:r>
              <a:rPr lang="zh-CN" altLang="en-US" sz="1600" dirty="0">
                <a:solidFill>
                  <a:schemeClr val="tx1">
                    <a:lumMod val="65000"/>
                    <a:lumOff val="35000"/>
                  </a:schemeClr>
                </a:solidFill>
              </a:rPr>
              <a:t>  </a:t>
            </a: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页</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5167"/>
            <a:ext cx="10972800" cy="1143000"/>
          </a:xfrm>
          <a:prstGeom prst="rect">
            <a:avLst/>
          </a:prstGeom>
        </p:spPr>
        <p:txBody>
          <a:bodyPr/>
          <a:lstStyle/>
          <a:p>
            <a:r>
              <a:rPr lang="zh-CN" altLang="en-US"/>
              <a:t>单击此处编辑母版标题样式</a:t>
            </a:r>
            <a:endParaRPr lang="zh-CN" altLang="en-US"/>
          </a:p>
        </p:txBody>
      </p:sp>
      <p:sp>
        <p:nvSpPr>
          <p:cNvPr id="3" name="矩形 2"/>
          <p:cNvSpPr/>
          <p:nvPr userDrawn="1"/>
        </p:nvSpPr>
        <p:spPr>
          <a:xfrm>
            <a:off x="10330283" y="6529705"/>
            <a:ext cx="1033515" cy="296876"/>
          </a:xfrm>
          <a:prstGeom prst="rect">
            <a:avLst/>
          </a:prstGeom>
        </p:spPr>
        <p:txBody>
          <a:bodyPr wrap="square">
            <a:spAutoFit/>
          </a:bodyPr>
          <a:lstStyle/>
          <a:p>
            <a:pPr defTabSz="1219200"/>
            <a:r>
              <a:rPr lang="en-US" altLang="zh-CN" sz="135" dirty="0">
                <a:solidFill>
                  <a:prstClr val="white"/>
                </a:solidFill>
                <a:latin typeface="Calibri" panose="020F0502020204030204"/>
                <a:ea typeface="宋体" panose="02010600030101010101" pitchFamily="2" charset="-122"/>
              </a:rPr>
              <a:t>PPT</a:t>
            </a:r>
            <a:r>
              <a:rPr lang="zh-CN" altLang="en-US" sz="135" dirty="0">
                <a:solidFill>
                  <a:prstClr val="white"/>
                </a:solidFill>
                <a:latin typeface="Calibri" panose="020F0502020204030204"/>
                <a:ea typeface="宋体" panose="02010600030101010101" pitchFamily="2" charset="-122"/>
              </a:rPr>
              <a:t>模板下载：</a:t>
            </a:r>
            <a:r>
              <a:rPr lang="en-US" altLang="zh-CN" sz="135" dirty="0">
                <a:solidFill>
                  <a:prstClr val="white"/>
                </a:solidFill>
                <a:latin typeface="Calibri" panose="020F0502020204030204"/>
                <a:ea typeface="宋体" panose="02010600030101010101" pitchFamily="2" charset="-122"/>
              </a:rPr>
              <a:t>www.1ppt.com/moban/     </a:t>
            </a:r>
            <a:r>
              <a:rPr lang="zh-CN" altLang="en-US" sz="135" dirty="0">
                <a:solidFill>
                  <a:prstClr val="white"/>
                </a:solidFill>
                <a:latin typeface="Calibri" panose="020F0502020204030204"/>
                <a:ea typeface="宋体" panose="02010600030101010101" pitchFamily="2" charset="-122"/>
              </a:rPr>
              <a:t>行业</a:t>
            </a:r>
            <a:r>
              <a:rPr lang="en-US" altLang="zh-CN" sz="135" dirty="0">
                <a:solidFill>
                  <a:prstClr val="white"/>
                </a:solidFill>
                <a:latin typeface="Calibri" panose="020F0502020204030204"/>
                <a:ea typeface="宋体" panose="02010600030101010101" pitchFamily="2" charset="-122"/>
              </a:rPr>
              <a:t>PPT</a:t>
            </a:r>
            <a:r>
              <a:rPr lang="zh-CN" altLang="en-US" sz="135" dirty="0">
                <a:solidFill>
                  <a:prstClr val="white"/>
                </a:solidFill>
                <a:latin typeface="Calibri" panose="020F0502020204030204"/>
                <a:ea typeface="宋体" panose="02010600030101010101" pitchFamily="2" charset="-122"/>
              </a:rPr>
              <a:t>模板：</a:t>
            </a:r>
            <a:r>
              <a:rPr lang="en-US" altLang="zh-CN" sz="135" dirty="0">
                <a:solidFill>
                  <a:prstClr val="white"/>
                </a:solidFill>
                <a:latin typeface="Calibri" panose="020F0502020204030204"/>
                <a:ea typeface="宋体" panose="02010600030101010101" pitchFamily="2" charset="-122"/>
              </a:rPr>
              <a:t>www.1ppt.com/hangye/ </a:t>
            </a:r>
            <a:endParaRPr lang="en-US" altLang="zh-CN" sz="135" dirty="0">
              <a:solidFill>
                <a:prstClr val="white"/>
              </a:solidFill>
              <a:latin typeface="Calibri" panose="020F0502020204030204"/>
              <a:ea typeface="宋体" panose="02010600030101010101" pitchFamily="2" charset="-122"/>
            </a:endParaRPr>
          </a:p>
          <a:p>
            <a:pPr defTabSz="1219200"/>
            <a:r>
              <a:rPr lang="zh-CN" altLang="en-US" sz="135" dirty="0">
                <a:solidFill>
                  <a:prstClr val="white"/>
                </a:solidFill>
                <a:latin typeface="Calibri" panose="020F0502020204030204"/>
                <a:ea typeface="宋体" panose="02010600030101010101" pitchFamily="2" charset="-122"/>
              </a:rPr>
              <a:t>节日</a:t>
            </a:r>
            <a:r>
              <a:rPr lang="en-US" altLang="zh-CN" sz="135" dirty="0">
                <a:solidFill>
                  <a:prstClr val="white"/>
                </a:solidFill>
                <a:latin typeface="Calibri" panose="020F0502020204030204"/>
                <a:ea typeface="宋体" panose="02010600030101010101" pitchFamily="2" charset="-122"/>
              </a:rPr>
              <a:t>PPT</a:t>
            </a:r>
            <a:r>
              <a:rPr lang="zh-CN" altLang="en-US" sz="135" dirty="0">
                <a:solidFill>
                  <a:prstClr val="white"/>
                </a:solidFill>
                <a:latin typeface="Calibri" panose="020F0502020204030204"/>
                <a:ea typeface="宋体" panose="02010600030101010101" pitchFamily="2" charset="-122"/>
              </a:rPr>
              <a:t>模板：</a:t>
            </a:r>
            <a:r>
              <a:rPr lang="en-US" altLang="zh-CN" sz="135" dirty="0">
                <a:solidFill>
                  <a:prstClr val="white"/>
                </a:solidFill>
                <a:latin typeface="Calibri" panose="020F0502020204030204"/>
                <a:ea typeface="宋体" panose="02010600030101010101" pitchFamily="2" charset="-122"/>
              </a:rPr>
              <a:t>www.1ppt.com/jieri/           PPT</a:t>
            </a:r>
            <a:r>
              <a:rPr lang="zh-CN" altLang="en-US" sz="135" dirty="0">
                <a:solidFill>
                  <a:prstClr val="white"/>
                </a:solidFill>
                <a:latin typeface="Calibri" panose="020F0502020204030204"/>
                <a:ea typeface="宋体" panose="02010600030101010101" pitchFamily="2" charset="-122"/>
              </a:rPr>
              <a:t>素材下载：</a:t>
            </a:r>
            <a:r>
              <a:rPr lang="en-US" altLang="zh-CN" sz="135" dirty="0">
                <a:solidFill>
                  <a:prstClr val="white"/>
                </a:solidFill>
                <a:latin typeface="Calibri" panose="020F0502020204030204"/>
                <a:ea typeface="宋体" panose="02010600030101010101" pitchFamily="2" charset="-122"/>
              </a:rPr>
              <a:t>www.1ppt.com/sucai/</a:t>
            </a:r>
            <a:endParaRPr lang="en-US" altLang="zh-CN" sz="135" dirty="0">
              <a:solidFill>
                <a:prstClr val="white"/>
              </a:solidFill>
              <a:latin typeface="Calibri" panose="020F0502020204030204"/>
              <a:ea typeface="宋体" panose="02010600030101010101" pitchFamily="2" charset="-122"/>
            </a:endParaRPr>
          </a:p>
          <a:p>
            <a:pPr defTabSz="1219200"/>
            <a:r>
              <a:rPr lang="en-US" altLang="zh-CN" sz="135" dirty="0">
                <a:solidFill>
                  <a:prstClr val="white"/>
                </a:solidFill>
                <a:latin typeface="Calibri" panose="020F0502020204030204"/>
                <a:ea typeface="宋体" panose="02010600030101010101" pitchFamily="2" charset="-122"/>
              </a:rPr>
              <a:t>PPT</a:t>
            </a:r>
            <a:r>
              <a:rPr lang="zh-CN" altLang="en-US" sz="135" dirty="0">
                <a:solidFill>
                  <a:prstClr val="white"/>
                </a:solidFill>
                <a:latin typeface="Calibri" panose="020F0502020204030204"/>
                <a:ea typeface="宋体" panose="02010600030101010101" pitchFamily="2" charset="-122"/>
              </a:rPr>
              <a:t>背景图片：</a:t>
            </a:r>
            <a:r>
              <a:rPr lang="en-US" altLang="zh-CN" sz="135" dirty="0">
                <a:solidFill>
                  <a:prstClr val="white"/>
                </a:solidFill>
                <a:latin typeface="Calibri" panose="020F0502020204030204"/>
                <a:ea typeface="宋体" panose="02010600030101010101" pitchFamily="2" charset="-122"/>
              </a:rPr>
              <a:t>www.1ppt.com/beijing/      PPT</a:t>
            </a:r>
            <a:r>
              <a:rPr lang="zh-CN" altLang="en-US" sz="135" dirty="0">
                <a:solidFill>
                  <a:prstClr val="white"/>
                </a:solidFill>
                <a:latin typeface="Calibri" panose="020F0502020204030204"/>
                <a:ea typeface="宋体" panose="02010600030101010101" pitchFamily="2" charset="-122"/>
              </a:rPr>
              <a:t>图表下载：</a:t>
            </a:r>
            <a:r>
              <a:rPr lang="en-US" altLang="zh-CN" sz="135" dirty="0">
                <a:solidFill>
                  <a:prstClr val="white"/>
                </a:solidFill>
                <a:latin typeface="Calibri" panose="020F0502020204030204"/>
                <a:ea typeface="宋体" panose="02010600030101010101" pitchFamily="2" charset="-122"/>
              </a:rPr>
              <a:t>www.1ppt.com/tubiao/      </a:t>
            </a:r>
            <a:endParaRPr lang="en-US" altLang="zh-CN" sz="135" dirty="0">
              <a:solidFill>
                <a:prstClr val="white"/>
              </a:solidFill>
              <a:latin typeface="Calibri" panose="020F0502020204030204"/>
              <a:ea typeface="宋体" panose="02010600030101010101" pitchFamily="2" charset="-122"/>
            </a:endParaRPr>
          </a:p>
          <a:p>
            <a:pPr defTabSz="1219200"/>
            <a:r>
              <a:rPr lang="zh-CN" altLang="en-US" sz="135" dirty="0">
                <a:solidFill>
                  <a:prstClr val="white"/>
                </a:solidFill>
                <a:latin typeface="Calibri" panose="020F0502020204030204"/>
                <a:ea typeface="宋体" panose="02010600030101010101" pitchFamily="2" charset="-122"/>
              </a:rPr>
              <a:t>优秀</a:t>
            </a:r>
            <a:r>
              <a:rPr lang="en-US" altLang="zh-CN" sz="135" dirty="0">
                <a:solidFill>
                  <a:prstClr val="white"/>
                </a:solidFill>
                <a:latin typeface="Calibri" panose="020F0502020204030204"/>
                <a:ea typeface="宋体" panose="02010600030101010101" pitchFamily="2" charset="-122"/>
              </a:rPr>
              <a:t>PPT</a:t>
            </a:r>
            <a:r>
              <a:rPr lang="zh-CN" altLang="en-US" sz="135" dirty="0">
                <a:solidFill>
                  <a:prstClr val="white"/>
                </a:solidFill>
                <a:latin typeface="Calibri" panose="020F0502020204030204"/>
                <a:ea typeface="宋体" panose="02010600030101010101" pitchFamily="2" charset="-122"/>
              </a:rPr>
              <a:t>下载：</a:t>
            </a:r>
            <a:r>
              <a:rPr lang="en-US" altLang="zh-CN" sz="135" dirty="0">
                <a:solidFill>
                  <a:prstClr val="white"/>
                </a:solidFill>
                <a:latin typeface="Calibri" panose="020F0502020204030204"/>
                <a:ea typeface="宋体" panose="02010600030101010101" pitchFamily="2" charset="-122"/>
              </a:rPr>
              <a:t>www.1ppt.com/xiazai/        PPT</a:t>
            </a:r>
            <a:r>
              <a:rPr lang="zh-CN" altLang="en-US" sz="135" dirty="0">
                <a:solidFill>
                  <a:prstClr val="white"/>
                </a:solidFill>
                <a:latin typeface="Calibri" panose="020F0502020204030204"/>
                <a:ea typeface="宋体" panose="02010600030101010101" pitchFamily="2" charset="-122"/>
              </a:rPr>
              <a:t>教程： </a:t>
            </a:r>
            <a:r>
              <a:rPr lang="en-US" altLang="zh-CN" sz="135" dirty="0">
                <a:solidFill>
                  <a:prstClr val="white"/>
                </a:solidFill>
                <a:latin typeface="Calibri" panose="020F0502020204030204"/>
                <a:ea typeface="宋体" panose="02010600030101010101" pitchFamily="2" charset="-122"/>
              </a:rPr>
              <a:t>www.1ppt.com/powerpoint/      </a:t>
            </a:r>
            <a:endParaRPr lang="en-US" altLang="zh-CN" sz="135" dirty="0">
              <a:solidFill>
                <a:prstClr val="white"/>
              </a:solidFill>
              <a:latin typeface="Calibri" panose="020F0502020204030204"/>
              <a:ea typeface="宋体" panose="02010600030101010101" pitchFamily="2" charset="-122"/>
            </a:endParaRPr>
          </a:p>
          <a:p>
            <a:pPr defTabSz="1219200"/>
            <a:r>
              <a:rPr lang="en-US" altLang="zh-CN" sz="135" dirty="0">
                <a:solidFill>
                  <a:prstClr val="white"/>
                </a:solidFill>
                <a:latin typeface="Calibri" panose="020F0502020204030204"/>
                <a:ea typeface="宋体" panose="02010600030101010101" pitchFamily="2" charset="-122"/>
              </a:rPr>
              <a:t>Word</a:t>
            </a:r>
            <a:r>
              <a:rPr lang="zh-CN" altLang="en-US" sz="135" dirty="0">
                <a:solidFill>
                  <a:prstClr val="white"/>
                </a:solidFill>
                <a:latin typeface="Calibri" panose="020F0502020204030204"/>
                <a:ea typeface="宋体" panose="02010600030101010101" pitchFamily="2" charset="-122"/>
              </a:rPr>
              <a:t>教程： </a:t>
            </a:r>
            <a:r>
              <a:rPr lang="en-US" altLang="zh-CN" sz="135" dirty="0">
                <a:solidFill>
                  <a:prstClr val="white"/>
                </a:solidFill>
                <a:latin typeface="Calibri" panose="020F0502020204030204"/>
                <a:ea typeface="宋体" panose="02010600030101010101" pitchFamily="2" charset="-122"/>
              </a:rPr>
              <a:t>www.1ppt.com/word/              Excel</a:t>
            </a:r>
            <a:r>
              <a:rPr lang="zh-CN" altLang="en-US" sz="135" dirty="0">
                <a:solidFill>
                  <a:prstClr val="white"/>
                </a:solidFill>
                <a:latin typeface="Calibri" panose="020F0502020204030204"/>
                <a:ea typeface="宋体" panose="02010600030101010101" pitchFamily="2" charset="-122"/>
              </a:rPr>
              <a:t>教程：</a:t>
            </a:r>
            <a:r>
              <a:rPr lang="en-US" altLang="zh-CN" sz="135" dirty="0">
                <a:solidFill>
                  <a:prstClr val="white"/>
                </a:solidFill>
                <a:latin typeface="Calibri" panose="020F0502020204030204"/>
                <a:ea typeface="宋体" panose="02010600030101010101" pitchFamily="2" charset="-122"/>
              </a:rPr>
              <a:t>www.1ppt.com/excel/  </a:t>
            </a:r>
            <a:endParaRPr lang="en-US" altLang="zh-CN" sz="135" dirty="0">
              <a:solidFill>
                <a:prstClr val="white"/>
              </a:solidFill>
              <a:latin typeface="Calibri" panose="020F0502020204030204"/>
              <a:ea typeface="宋体" panose="02010600030101010101" pitchFamily="2" charset="-122"/>
            </a:endParaRPr>
          </a:p>
          <a:p>
            <a:pPr defTabSz="1219200"/>
            <a:r>
              <a:rPr lang="zh-CN" altLang="en-US" sz="135" dirty="0">
                <a:solidFill>
                  <a:prstClr val="white"/>
                </a:solidFill>
                <a:latin typeface="Calibri" panose="020F0502020204030204"/>
                <a:ea typeface="宋体" panose="02010600030101010101" pitchFamily="2" charset="-122"/>
              </a:rPr>
              <a:t>资料下载：</a:t>
            </a:r>
            <a:r>
              <a:rPr lang="en-US" altLang="zh-CN" sz="135" dirty="0">
                <a:solidFill>
                  <a:prstClr val="white"/>
                </a:solidFill>
                <a:latin typeface="Calibri" panose="020F0502020204030204"/>
                <a:ea typeface="宋体" panose="02010600030101010101" pitchFamily="2" charset="-122"/>
              </a:rPr>
              <a:t>www.1ppt.com/ziliao/                PPT</a:t>
            </a:r>
            <a:r>
              <a:rPr lang="zh-CN" altLang="en-US" sz="135" dirty="0">
                <a:solidFill>
                  <a:prstClr val="white"/>
                </a:solidFill>
                <a:latin typeface="Calibri" panose="020F0502020204030204"/>
                <a:ea typeface="宋体" panose="02010600030101010101" pitchFamily="2" charset="-122"/>
              </a:rPr>
              <a:t>课件下载：</a:t>
            </a:r>
            <a:r>
              <a:rPr lang="en-US" altLang="zh-CN" sz="135" dirty="0">
                <a:solidFill>
                  <a:prstClr val="white"/>
                </a:solidFill>
                <a:latin typeface="Calibri" panose="020F0502020204030204"/>
                <a:ea typeface="宋体" panose="02010600030101010101" pitchFamily="2" charset="-122"/>
              </a:rPr>
              <a:t>www.1ppt.com/kejian/ </a:t>
            </a:r>
            <a:endParaRPr lang="en-US" altLang="zh-CN" sz="135" dirty="0">
              <a:solidFill>
                <a:prstClr val="white"/>
              </a:solidFill>
              <a:latin typeface="Calibri" panose="020F0502020204030204"/>
              <a:ea typeface="宋体" panose="02010600030101010101" pitchFamily="2" charset="-122"/>
            </a:endParaRPr>
          </a:p>
          <a:p>
            <a:pPr defTabSz="1219200"/>
            <a:r>
              <a:rPr lang="zh-CN" altLang="en-US" sz="135" dirty="0">
                <a:solidFill>
                  <a:prstClr val="white"/>
                </a:solidFill>
                <a:latin typeface="Calibri" panose="020F0502020204030204"/>
                <a:ea typeface="宋体" panose="02010600030101010101" pitchFamily="2" charset="-122"/>
              </a:rPr>
              <a:t>范文下载：</a:t>
            </a:r>
            <a:r>
              <a:rPr lang="en-US" altLang="zh-CN" sz="135" dirty="0">
                <a:solidFill>
                  <a:prstClr val="white"/>
                </a:solidFill>
                <a:latin typeface="Calibri" panose="020F0502020204030204"/>
                <a:ea typeface="宋体" panose="02010600030101010101" pitchFamily="2" charset="-122"/>
              </a:rPr>
              <a:t>www.1ppt.com/fanwen/             </a:t>
            </a:r>
            <a:r>
              <a:rPr lang="zh-CN" altLang="en-US" sz="135" dirty="0">
                <a:solidFill>
                  <a:prstClr val="white"/>
                </a:solidFill>
                <a:latin typeface="Calibri" panose="020F0502020204030204"/>
                <a:ea typeface="宋体" panose="02010600030101010101" pitchFamily="2" charset="-122"/>
              </a:rPr>
              <a:t>试卷下载：</a:t>
            </a:r>
            <a:r>
              <a:rPr lang="en-US" altLang="zh-CN" sz="135" dirty="0">
                <a:solidFill>
                  <a:prstClr val="white"/>
                </a:solidFill>
                <a:latin typeface="Calibri" panose="020F0502020204030204"/>
                <a:ea typeface="宋体" panose="02010600030101010101" pitchFamily="2" charset="-122"/>
              </a:rPr>
              <a:t>www.1ppt.com/shiti/  </a:t>
            </a:r>
            <a:endParaRPr lang="en-US" altLang="zh-CN" sz="135" dirty="0">
              <a:solidFill>
                <a:prstClr val="white"/>
              </a:solidFill>
              <a:latin typeface="Calibri" panose="020F0502020204030204"/>
              <a:ea typeface="宋体" panose="02010600030101010101" pitchFamily="2" charset="-122"/>
            </a:endParaRPr>
          </a:p>
          <a:p>
            <a:pPr defTabSz="1219200"/>
            <a:r>
              <a:rPr lang="zh-CN" altLang="en-US" sz="135" dirty="0">
                <a:solidFill>
                  <a:prstClr val="white"/>
                </a:solidFill>
                <a:latin typeface="Calibri" panose="020F0502020204030204"/>
                <a:ea typeface="宋体" panose="02010600030101010101" pitchFamily="2" charset="-122"/>
              </a:rPr>
              <a:t>教案下载：</a:t>
            </a:r>
            <a:r>
              <a:rPr lang="en-US" altLang="zh-CN" sz="135" dirty="0">
                <a:solidFill>
                  <a:prstClr val="white"/>
                </a:solidFill>
                <a:latin typeface="Calibri" panose="020F0502020204030204"/>
                <a:ea typeface="宋体" panose="02010600030101010101" pitchFamily="2" charset="-122"/>
              </a:rPr>
              <a:t>www.1ppt.com/jiaoan/        </a:t>
            </a:r>
            <a:endParaRPr lang="en-US" altLang="zh-CN" sz="135" dirty="0">
              <a:solidFill>
                <a:prstClr val="white"/>
              </a:solidFill>
              <a:latin typeface="Calibri" panose="020F0502020204030204"/>
              <a:ea typeface="宋体" panose="02010600030101010101" pitchFamily="2" charset="-122"/>
            </a:endParaRPr>
          </a:p>
          <a:p>
            <a:pPr defTabSz="1219200"/>
            <a:r>
              <a:rPr lang="zh-CN" altLang="en-US" sz="135" dirty="0">
                <a:solidFill>
                  <a:prstClr val="white"/>
                </a:solidFill>
                <a:latin typeface="Calibri" panose="020F0502020204030204"/>
                <a:ea typeface="宋体" panose="02010600030101010101" pitchFamily="2" charset="-122"/>
              </a:rPr>
              <a:t>字体下载：</a:t>
            </a:r>
            <a:r>
              <a:rPr lang="en-US" altLang="zh-CN" sz="135" dirty="0">
                <a:solidFill>
                  <a:prstClr val="white"/>
                </a:solidFill>
                <a:latin typeface="Calibri" panose="020F0502020204030204"/>
                <a:ea typeface="宋体" panose="02010600030101010101" pitchFamily="2" charset="-122"/>
              </a:rPr>
              <a:t>www.1ppt.com/ziti/</a:t>
            </a:r>
            <a:endParaRPr lang="en-US" altLang="zh-CN" sz="135" dirty="0">
              <a:solidFill>
                <a:prstClr val="white"/>
              </a:solidFill>
              <a:latin typeface="Calibri" panose="020F0502020204030204"/>
              <a:ea typeface="宋体" panose="02010600030101010101" pitchFamily="2" charset="-122"/>
            </a:endParaRPr>
          </a:p>
          <a:p>
            <a:pPr defTabSz="1219200"/>
            <a:r>
              <a:rPr lang="en-US" altLang="zh-CN" sz="135" dirty="0">
                <a:solidFill>
                  <a:prstClr val="white"/>
                </a:solidFill>
                <a:latin typeface="Calibri" panose="020F0502020204030204"/>
                <a:ea typeface="宋体" panose="02010600030101010101" pitchFamily="2" charset="-122"/>
              </a:rPr>
              <a:t> </a:t>
            </a:r>
            <a:endParaRPr lang="zh-CN" altLang="en-US" sz="135" dirty="0">
              <a:solidFill>
                <a:prstClr val="white"/>
              </a:solidFill>
              <a:latin typeface="Calibri" panose="020F0502020204030204"/>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bg>
      <p:bgPr>
        <a:solidFill>
          <a:schemeClr val="accent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mc:AlternateContent xmlns:mc="http://schemas.openxmlformats.org/markup-compatibility/2006">
    <mc:Choice xmlns:p14="http://schemas.microsoft.com/office/powerpoint/2010/main" Requires="p14">
      <p:transition spd="slow" p14:dur="1000"/>
    </mc:Choice>
    <mc:Fallback>
      <p:transition spd="slow"/>
    </mc:Fallback>
  </mc:AlternateContent>
  <p:hf hdr="0" dt="0"/>
  <p:txStyles>
    <p:titleStyle>
      <a:lvl1pPr algn="l" defTabSz="914400" rtl="0" eaLnBrk="1" latinLnBrk="0" hangingPunct="1">
        <a:lnSpc>
          <a:spcPct val="90000"/>
        </a:lnSpc>
        <a:spcBef>
          <a:spcPct val="0"/>
        </a:spcBef>
        <a:buNone/>
        <a:defRPr sz="3200" b="1" i="0" kern="1200" baseline="0">
          <a:solidFill>
            <a:srgbClr val="071F65"/>
          </a:solidFill>
          <a:effectLst/>
          <a:latin typeface="Arial Black" panose="020B0A04020102020204" pitchFamily="34" charset="0"/>
          <a:ea typeface="微软雅黑" panose="020B0503020204020204" pitchFamily="34" charset="-122"/>
          <a:cs typeface="+mj-cs"/>
        </a:defRPr>
      </a:lvl1pPr>
    </p:titleStyle>
    <p:bodyStyle>
      <a:lvl1pPr marL="356870" indent="-356870" algn="just" defTabSz="914400" rtl="0" eaLnBrk="1" latinLnBrk="0" hangingPunct="1">
        <a:lnSpc>
          <a:spcPct val="110000"/>
        </a:lnSpc>
        <a:spcBef>
          <a:spcPts val="1800"/>
        </a:spcBef>
        <a:spcAft>
          <a:spcPts val="0"/>
        </a:spcAft>
        <a:buClr>
          <a:schemeClr val="accent2">
            <a:lumMod val="75000"/>
          </a:schemeClr>
        </a:buClr>
        <a:buSzPct val="70000"/>
        <a:buFont typeface="Wingdings 2" panose="05020102010507070707" pitchFamily="18" charset="2"/>
        <a:buChar char=""/>
        <a:defRPr sz="2000" kern="1200" baseline="0">
          <a:solidFill>
            <a:srgbClr val="071F65"/>
          </a:solidFill>
          <a:latin typeface="Arial" panose="020B0604020202020204" pitchFamily="34" charset="0"/>
          <a:ea typeface="微软雅黑" panose="020B0503020204020204" pitchFamily="34" charset="-122"/>
          <a:cs typeface="+mn-cs"/>
        </a:defRPr>
      </a:lvl1pPr>
      <a:lvl2pPr marL="356870" indent="-356870" algn="just" defTabSz="914400" rtl="0" eaLnBrk="1" latinLnBrk="0" hangingPunct="1">
        <a:lnSpc>
          <a:spcPct val="130000"/>
        </a:lnSpc>
        <a:spcBef>
          <a:spcPts val="0"/>
        </a:spcBef>
        <a:spcAft>
          <a:spcPts val="600"/>
        </a:spcAft>
        <a:buClr>
          <a:schemeClr val="accent2">
            <a:lumMod val="60000"/>
            <a:lumOff val="40000"/>
          </a:schemeClr>
        </a:buClr>
        <a:buFont typeface="幼圆" panose="02010509060101010101" pitchFamily="49" charset="-122"/>
        <a:buChar char=" "/>
        <a:defRPr sz="1600" kern="1200" baseline="0">
          <a:solidFill>
            <a:srgbClr val="071F65"/>
          </a:solidFill>
          <a:latin typeface="幼圆" panose="02010509060101010101" pitchFamily="49" charset="-122"/>
          <a:ea typeface="幼圆" panose="020105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9pPr>
    </p:bodyStyle>
    <p:otherStyle>
      <a:defPPr>
        <a:defRPr lang="en-US"/>
      </a:defPPr>
      <a:lvl1pPr marL="0" algn="l" defTabSz="914400" rtl="0" eaLnBrk="1" latinLnBrk="0" hangingPunct="1">
        <a:defRPr sz="1865" kern="1200">
          <a:solidFill>
            <a:schemeClr val="tx1"/>
          </a:solidFill>
          <a:latin typeface="+mn-lt"/>
          <a:ea typeface="+mn-ea"/>
          <a:cs typeface="+mn-cs"/>
        </a:defRPr>
      </a:lvl1pPr>
      <a:lvl2pPr marL="457200" algn="l" defTabSz="914400" rtl="0" eaLnBrk="1" latinLnBrk="0" hangingPunct="1">
        <a:defRPr sz="1865" kern="1200">
          <a:solidFill>
            <a:schemeClr val="tx1"/>
          </a:solidFill>
          <a:latin typeface="+mn-lt"/>
          <a:ea typeface="+mn-ea"/>
          <a:cs typeface="+mn-cs"/>
        </a:defRPr>
      </a:lvl2pPr>
      <a:lvl3pPr marL="914400" algn="l" defTabSz="914400" rtl="0" eaLnBrk="1" latinLnBrk="0" hangingPunct="1">
        <a:defRPr sz="1865" kern="1200">
          <a:solidFill>
            <a:schemeClr val="tx1"/>
          </a:solidFill>
          <a:latin typeface="+mn-lt"/>
          <a:ea typeface="+mn-ea"/>
          <a:cs typeface="+mn-cs"/>
        </a:defRPr>
      </a:lvl3pPr>
      <a:lvl4pPr marL="1371600" algn="l" defTabSz="914400" rtl="0" eaLnBrk="1" latinLnBrk="0" hangingPunct="1">
        <a:defRPr sz="1865" kern="1200">
          <a:solidFill>
            <a:schemeClr val="tx1"/>
          </a:solidFill>
          <a:latin typeface="+mn-lt"/>
          <a:ea typeface="+mn-ea"/>
          <a:cs typeface="+mn-cs"/>
        </a:defRPr>
      </a:lvl4pPr>
      <a:lvl5pPr marL="1828800" algn="l" defTabSz="914400" rtl="0" eaLnBrk="1" latinLnBrk="0" hangingPunct="1">
        <a:defRPr sz="1865" kern="1200">
          <a:solidFill>
            <a:schemeClr val="tx1"/>
          </a:solidFill>
          <a:latin typeface="+mn-lt"/>
          <a:ea typeface="+mn-ea"/>
          <a:cs typeface="+mn-cs"/>
        </a:defRPr>
      </a:lvl5pPr>
      <a:lvl6pPr marL="2286000" algn="l" defTabSz="914400" rtl="0" eaLnBrk="1" latinLnBrk="0" hangingPunct="1">
        <a:defRPr sz="1865" kern="1200">
          <a:solidFill>
            <a:schemeClr val="tx1"/>
          </a:solidFill>
          <a:latin typeface="+mn-lt"/>
          <a:ea typeface="+mn-ea"/>
          <a:cs typeface="+mn-cs"/>
        </a:defRPr>
      </a:lvl6pPr>
      <a:lvl7pPr marL="2743200" algn="l" defTabSz="914400" rtl="0" eaLnBrk="1" latinLnBrk="0" hangingPunct="1">
        <a:defRPr sz="1865" kern="1200">
          <a:solidFill>
            <a:schemeClr val="tx1"/>
          </a:solidFill>
          <a:latin typeface="+mn-lt"/>
          <a:ea typeface="+mn-ea"/>
          <a:cs typeface="+mn-cs"/>
        </a:defRPr>
      </a:lvl7pPr>
      <a:lvl8pPr marL="3200400" algn="l" defTabSz="914400" rtl="0" eaLnBrk="1" latinLnBrk="0" hangingPunct="1">
        <a:defRPr sz="1865" kern="1200">
          <a:solidFill>
            <a:schemeClr val="tx1"/>
          </a:solidFill>
          <a:latin typeface="+mn-lt"/>
          <a:ea typeface="+mn-ea"/>
          <a:cs typeface="+mn-cs"/>
        </a:defRPr>
      </a:lvl8pPr>
      <a:lvl9pPr marL="3657600" algn="l" defTabSz="914400" rtl="0" eaLnBrk="1" latinLnBrk="0" hangingPunct="1">
        <a:defRPr sz="186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image" Target="../media/image4.png"/><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tags" Target="../tags/tag2.xml"/><Relationship Id="rId4" Type="http://schemas.openxmlformats.org/officeDocument/2006/relationships/tags" Target="../tags/tag1.xml"/><Relationship Id="rId3" Type="http://schemas.openxmlformats.org/officeDocument/2006/relationships/image" Target="../media/image4.png"/><Relationship Id="rId2" Type="http://schemas.microsoft.com/office/2007/relationships/hdphoto" Target="../media/image9.wdp"/><Relationship Id="rId10" Type="http://schemas.openxmlformats.org/officeDocument/2006/relationships/notesSlide" Target="../notesSlides/notesSlide4.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4.png"/><Relationship Id="rId2" Type="http://schemas.microsoft.com/office/2007/relationships/hdphoto" Target="../media/image9.wdp"/><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9" Type="http://schemas.openxmlformats.org/officeDocument/2006/relationships/tags" Target="../tags/tag11.xml"/><Relationship Id="rId8" Type="http://schemas.openxmlformats.org/officeDocument/2006/relationships/tags" Target="../tags/tag10.xml"/><Relationship Id="rId7" Type="http://schemas.openxmlformats.org/officeDocument/2006/relationships/tags" Target="../tags/tag9.xml"/><Relationship Id="rId6" Type="http://schemas.openxmlformats.org/officeDocument/2006/relationships/image" Target="../media/image4.png"/><Relationship Id="rId5" Type="http://schemas.microsoft.com/office/2007/relationships/hdphoto" Target="../media/image9.wdp"/><Relationship Id="rId4" Type="http://schemas.openxmlformats.org/officeDocument/2006/relationships/image" Target="../media/image8.png"/><Relationship Id="rId3" Type="http://schemas.openxmlformats.org/officeDocument/2006/relationships/tags" Target="../tags/tag8.xml"/><Relationship Id="rId25" Type="http://schemas.openxmlformats.org/officeDocument/2006/relationships/notesSlide" Target="../notesSlides/notesSlide7.xml"/><Relationship Id="rId24" Type="http://schemas.openxmlformats.org/officeDocument/2006/relationships/slideLayout" Target="../slideLayouts/slideLayout2.xml"/><Relationship Id="rId23" Type="http://schemas.openxmlformats.org/officeDocument/2006/relationships/tags" Target="../tags/tag25.xml"/><Relationship Id="rId22" Type="http://schemas.openxmlformats.org/officeDocument/2006/relationships/tags" Target="../tags/tag24.xml"/><Relationship Id="rId21" Type="http://schemas.openxmlformats.org/officeDocument/2006/relationships/tags" Target="../tags/tag23.xml"/><Relationship Id="rId20" Type="http://schemas.openxmlformats.org/officeDocument/2006/relationships/tags" Target="../tags/tag22.xml"/><Relationship Id="rId2" Type="http://schemas.openxmlformats.org/officeDocument/2006/relationships/tags" Target="../tags/tag7.xml"/><Relationship Id="rId19" Type="http://schemas.openxmlformats.org/officeDocument/2006/relationships/tags" Target="../tags/tag21.xml"/><Relationship Id="rId18" Type="http://schemas.openxmlformats.org/officeDocument/2006/relationships/tags" Target="../tags/tag20.xml"/><Relationship Id="rId17" Type="http://schemas.openxmlformats.org/officeDocument/2006/relationships/tags" Target="../tags/tag19.xml"/><Relationship Id="rId16" Type="http://schemas.openxmlformats.org/officeDocument/2006/relationships/tags" Target="../tags/tag18.xml"/><Relationship Id="rId15" Type="http://schemas.openxmlformats.org/officeDocument/2006/relationships/tags" Target="../tags/tag17.xml"/><Relationship Id="rId14" Type="http://schemas.openxmlformats.org/officeDocument/2006/relationships/tags" Target="../tags/tag16.xml"/><Relationship Id="rId13" Type="http://schemas.openxmlformats.org/officeDocument/2006/relationships/tags" Target="../tags/tag15.xml"/><Relationship Id="rId12" Type="http://schemas.openxmlformats.org/officeDocument/2006/relationships/tags" Target="../tags/tag14.xml"/><Relationship Id="rId11" Type="http://schemas.openxmlformats.org/officeDocument/2006/relationships/tags" Target="../tags/tag13.xml"/><Relationship Id="rId10" Type="http://schemas.openxmlformats.org/officeDocument/2006/relationships/tags" Target="../tags/tag12.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9" Type="http://schemas.openxmlformats.org/officeDocument/2006/relationships/tags" Target="../tags/tag34.xml"/><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tags" Target="../tags/tag28.xml"/><Relationship Id="rId2" Type="http://schemas.openxmlformats.org/officeDocument/2006/relationships/tags" Target="../tags/tag27.xml"/><Relationship Id="rId18" Type="http://schemas.openxmlformats.org/officeDocument/2006/relationships/notesSlide" Target="../notesSlides/notesSlide8.xml"/><Relationship Id="rId17" Type="http://schemas.openxmlformats.org/officeDocument/2006/relationships/slideLayout" Target="../slideLayouts/slideLayout2.xml"/><Relationship Id="rId16" Type="http://schemas.openxmlformats.org/officeDocument/2006/relationships/image" Target="../media/image4.png"/><Relationship Id="rId15" Type="http://schemas.microsoft.com/office/2007/relationships/hdphoto" Target="../media/image9.wdp"/><Relationship Id="rId14" Type="http://schemas.openxmlformats.org/officeDocument/2006/relationships/image" Target="../media/image8.png"/><Relationship Id="rId13" Type="http://schemas.openxmlformats.org/officeDocument/2006/relationships/image" Target="../media/image12.emf"/><Relationship Id="rId12" Type="http://schemas.openxmlformats.org/officeDocument/2006/relationships/tags" Target="../tags/tag37.xml"/><Relationship Id="rId11" Type="http://schemas.openxmlformats.org/officeDocument/2006/relationships/tags" Target="../tags/tag36.xml"/><Relationship Id="rId10" Type="http://schemas.openxmlformats.org/officeDocument/2006/relationships/tags" Target="../tags/tag35.xml"/><Relationship Id="rId1" Type="http://schemas.openxmlformats.org/officeDocument/2006/relationships/tags" Target="../tags/tag26.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9" Type="http://schemas.openxmlformats.org/officeDocument/2006/relationships/tags" Target="../tags/tag43.xml"/><Relationship Id="rId8" Type="http://schemas.openxmlformats.org/officeDocument/2006/relationships/tags" Target="../tags/tag42.xml"/><Relationship Id="rId7" Type="http://schemas.openxmlformats.org/officeDocument/2006/relationships/tags" Target="../tags/tag41.xml"/><Relationship Id="rId6" Type="http://schemas.openxmlformats.org/officeDocument/2006/relationships/image" Target="../media/image4.png"/><Relationship Id="rId5" Type="http://schemas.microsoft.com/office/2007/relationships/hdphoto" Target="../media/image9.wdp"/><Relationship Id="rId4" Type="http://schemas.openxmlformats.org/officeDocument/2006/relationships/image" Target="../media/image8.png"/><Relationship Id="rId3" Type="http://schemas.openxmlformats.org/officeDocument/2006/relationships/tags" Target="../tags/tag40.xml"/><Relationship Id="rId2" Type="http://schemas.openxmlformats.org/officeDocument/2006/relationships/tags" Target="../tags/tag39.xml"/><Relationship Id="rId16" Type="http://schemas.openxmlformats.org/officeDocument/2006/relationships/notesSlide" Target="../notesSlides/notesSlide10.xml"/><Relationship Id="rId15" Type="http://schemas.openxmlformats.org/officeDocument/2006/relationships/slideLayout" Target="../slideLayouts/slideLayout2.xml"/><Relationship Id="rId14" Type="http://schemas.openxmlformats.org/officeDocument/2006/relationships/tags" Target="../tags/tag48.xml"/><Relationship Id="rId13" Type="http://schemas.openxmlformats.org/officeDocument/2006/relationships/tags" Target="../tags/tag47.xml"/><Relationship Id="rId12" Type="http://schemas.openxmlformats.org/officeDocument/2006/relationships/tags" Target="../tags/tag46.xml"/><Relationship Id="rId11" Type="http://schemas.openxmlformats.org/officeDocument/2006/relationships/tags" Target="../tags/tag45.xml"/><Relationship Id="rId10" Type="http://schemas.openxmlformats.org/officeDocument/2006/relationships/tags" Target="../tags/tag44.xml"/><Relationship Id="rId1" Type="http://schemas.openxmlformats.org/officeDocument/2006/relationships/tags" Target="../tags/tag38.xml"/></Relationships>
</file>

<file path=ppt/slides/_rels/slide11.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tags" Target="../tags/tag53.xml"/><Relationship Id="rId7" Type="http://schemas.openxmlformats.org/officeDocument/2006/relationships/tags" Target="../tags/tag52.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image" Target="../media/image4.png"/><Relationship Id="rId2" Type="http://schemas.microsoft.com/office/2007/relationships/hdphoto" Target="../media/image9.wdp"/><Relationship Id="rId17" Type="http://schemas.openxmlformats.org/officeDocument/2006/relationships/notesSlide" Target="../notesSlides/notesSlide11.xml"/><Relationship Id="rId16" Type="http://schemas.openxmlformats.org/officeDocument/2006/relationships/slideLayout" Target="../slideLayouts/slideLayout2.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tags" Target="../tags/tag55.xml"/><Relationship Id="rId10" Type="http://schemas.openxmlformats.org/officeDocument/2006/relationships/tags" Target="../tags/tag54.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9" Type="http://schemas.openxmlformats.org/officeDocument/2006/relationships/image" Target="../media/image18.png"/><Relationship Id="rId8" Type="http://schemas.openxmlformats.org/officeDocument/2006/relationships/image" Target="../media/image17.png"/><Relationship Id="rId7" Type="http://schemas.openxmlformats.org/officeDocument/2006/relationships/image" Target="../media/image16.png"/><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tags" Target="../tags/tag60.xml"/><Relationship Id="rId3" Type="http://schemas.openxmlformats.org/officeDocument/2006/relationships/image" Target="../media/image4.png"/><Relationship Id="rId26" Type="http://schemas.openxmlformats.org/officeDocument/2006/relationships/notesSlide" Target="../notesSlides/notesSlide12.xml"/><Relationship Id="rId25" Type="http://schemas.openxmlformats.org/officeDocument/2006/relationships/slideLayout" Target="../slideLayouts/slideLayout2.xml"/><Relationship Id="rId24" Type="http://schemas.openxmlformats.org/officeDocument/2006/relationships/tags" Target="../tags/tag73.xml"/><Relationship Id="rId23" Type="http://schemas.openxmlformats.org/officeDocument/2006/relationships/tags" Target="../tags/tag72.xml"/><Relationship Id="rId22" Type="http://schemas.openxmlformats.org/officeDocument/2006/relationships/tags" Target="../tags/tag71.xml"/><Relationship Id="rId21" Type="http://schemas.openxmlformats.org/officeDocument/2006/relationships/tags" Target="../tags/tag70.xml"/><Relationship Id="rId20" Type="http://schemas.openxmlformats.org/officeDocument/2006/relationships/tags" Target="../tags/tag69.xml"/><Relationship Id="rId2" Type="http://schemas.microsoft.com/office/2007/relationships/hdphoto" Target="../media/image9.wdp"/><Relationship Id="rId19" Type="http://schemas.openxmlformats.org/officeDocument/2006/relationships/tags" Target="../tags/tag68.xml"/><Relationship Id="rId18" Type="http://schemas.openxmlformats.org/officeDocument/2006/relationships/tags" Target="../tags/tag67.xml"/><Relationship Id="rId17" Type="http://schemas.openxmlformats.org/officeDocument/2006/relationships/tags" Target="../tags/tag66.xml"/><Relationship Id="rId16" Type="http://schemas.openxmlformats.org/officeDocument/2006/relationships/tags" Target="../tags/tag65.xml"/><Relationship Id="rId15" Type="http://schemas.openxmlformats.org/officeDocument/2006/relationships/tags" Target="../tags/tag64.xml"/><Relationship Id="rId14" Type="http://schemas.openxmlformats.org/officeDocument/2006/relationships/tags" Target="../tags/tag63.xml"/><Relationship Id="rId13" Type="http://schemas.openxmlformats.org/officeDocument/2006/relationships/tags" Target="../tags/tag62.xml"/><Relationship Id="rId12" Type="http://schemas.openxmlformats.org/officeDocument/2006/relationships/tags" Target="../tags/tag61.xml"/><Relationship Id="rId11" Type="http://schemas.openxmlformats.org/officeDocument/2006/relationships/image" Target="../media/image20.png"/><Relationship Id="rId10" Type="http://schemas.openxmlformats.org/officeDocument/2006/relationships/image" Target="../media/image19.png"/><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9" Type="http://schemas.openxmlformats.org/officeDocument/2006/relationships/tags" Target="../tags/tag78.xml"/><Relationship Id="rId8" Type="http://schemas.openxmlformats.org/officeDocument/2006/relationships/tags" Target="../tags/tag77.xml"/><Relationship Id="rId7" Type="http://schemas.openxmlformats.org/officeDocument/2006/relationships/tags" Target="../tags/tag76.xml"/><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image" Target="../media/image13.png"/><Relationship Id="rId3" Type="http://schemas.openxmlformats.org/officeDocument/2006/relationships/image" Target="../media/image4.png"/><Relationship Id="rId23" Type="http://schemas.openxmlformats.org/officeDocument/2006/relationships/notesSlide" Target="../notesSlides/notesSlide14.xml"/><Relationship Id="rId22" Type="http://schemas.openxmlformats.org/officeDocument/2006/relationships/slideLayout" Target="../slideLayouts/slideLayout2.xml"/><Relationship Id="rId21" Type="http://schemas.openxmlformats.org/officeDocument/2006/relationships/image" Target="../media/image28.png"/><Relationship Id="rId20" Type="http://schemas.openxmlformats.org/officeDocument/2006/relationships/image" Target="../media/image27.png"/><Relationship Id="rId2" Type="http://schemas.microsoft.com/office/2007/relationships/hdphoto" Target="../media/image9.wdp"/><Relationship Id="rId19" Type="http://schemas.openxmlformats.org/officeDocument/2006/relationships/image" Target="../media/image26.png"/><Relationship Id="rId18" Type="http://schemas.openxmlformats.org/officeDocument/2006/relationships/image" Target="../media/image25.png"/><Relationship Id="rId17" Type="http://schemas.openxmlformats.org/officeDocument/2006/relationships/image" Target="../media/image24.png"/><Relationship Id="rId16" Type="http://schemas.openxmlformats.org/officeDocument/2006/relationships/image" Target="../media/image23.png"/><Relationship Id="rId15" Type="http://schemas.openxmlformats.org/officeDocument/2006/relationships/image" Target="../media/image22.png"/><Relationship Id="rId14" Type="http://schemas.openxmlformats.org/officeDocument/2006/relationships/image" Target="../media/image21.png"/><Relationship Id="rId13" Type="http://schemas.openxmlformats.org/officeDocument/2006/relationships/tags" Target="../tags/tag82.xml"/><Relationship Id="rId12" Type="http://schemas.openxmlformats.org/officeDocument/2006/relationships/tags" Target="../tags/tag81.xml"/><Relationship Id="rId11" Type="http://schemas.openxmlformats.org/officeDocument/2006/relationships/tags" Target="../tags/tag80.xml"/><Relationship Id="rId10" Type="http://schemas.openxmlformats.org/officeDocument/2006/relationships/tags" Target="../tags/tag79.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2.xml"/><Relationship Id="rId3" Type="http://schemas.openxmlformats.org/officeDocument/2006/relationships/image" Target="../media/image4.png"/><Relationship Id="rId2" Type="http://schemas.microsoft.com/office/2007/relationships/hdphoto" Target="../media/image9.wdp"/><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9" Type="http://schemas.openxmlformats.org/officeDocument/2006/relationships/image" Target="../media/image4.png"/><Relationship Id="rId8" Type="http://schemas.microsoft.com/office/2007/relationships/hdphoto" Target="../media/image9.wdp"/><Relationship Id="rId7" Type="http://schemas.openxmlformats.org/officeDocument/2006/relationships/image" Target="../media/image8.png"/><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tags" Target="../tags/tag85.xml"/><Relationship Id="rId2" Type="http://schemas.openxmlformats.org/officeDocument/2006/relationships/tags" Target="../tags/tag84.xml"/><Relationship Id="rId11" Type="http://schemas.openxmlformats.org/officeDocument/2006/relationships/notesSlide" Target="../notesSlides/notesSlide17.xml"/><Relationship Id="rId10" Type="http://schemas.openxmlformats.org/officeDocument/2006/relationships/slideLayout" Target="../slideLayouts/slideLayout2.xml"/><Relationship Id="rId1" Type="http://schemas.openxmlformats.org/officeDocument/2006/relationships/tags" Target="../tags/tag83.xml"/></Relationships>
</file>

<file path=ppt/slides/_rels/slide18.xml.rels><?xml version="1.0" encoding="UTF-8" standalone="yes"?>
<Relationships xmlns="http://schemas.openxmlformats.org/package/2006/relationships"><Relationship Id="rId9" Type="http://schemas.openxmlformats.org/officeDocument/2006/relationships/image" Target="../media/image4.png"/><Relationship Id="rId8" Type="http://schemas.microsoft.com/office/2007/relationships/hdphoto" Target="../media/image9.wdp"/><Relationship Id="rId7" Type="http://schemas.openxmlformats.org/officeDocument/2006/relationships/image" Target="../media/image8.png"/><Relationship Id="rId6" Type="http://schemas.openxmlformats.org/officeDocument/2006/relationships/tags" Target="../tags/tag94.xml"/><Relationship Id="rId5" Type="http://schemas.openxmlformats.org/officeDocument/2006/relationships/tags" Target="../tags/tag93.xml"/><Relationship Id="rId4" Type="http://schemas.openxmlformats.org/officeDocument/2006/relationships/tags" Target="../tags/tag92.xml"/><Relationship Id="rId3" Type="http://schemas.openxmlformats.org/officeDocument/2006/relationships/tags" Target="../tags/tag91.xml"/><Relationship Id="rId2" Type="http://schemas.openxmlformats.org/officeDocument/2006/relationships/tags" Target="../tags/tag90.xml"/><Relationship Id="rId11" Type="http://schemas.openxmlformats.org/officeDocument/2006/relationships/notesSlide" Target="../notesSlides/notesSlide18.xml"/><Relationship Id="rId10" Type="http://schemas.openxmlformats.org/officeDocument/2006/relationships/slideLayout" Target="../slideLayouts/slideLayout2.xml"/><Relationship Id="rId1" Type="http://schemas.openxmlformats.org/officeDocument/2006/relationships/tags" Target="../tags/tag89.xml"/></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1.xml"/><Relationship Id="rId3" Type="http://schemas.openxmlformats.org/officeDocument/2006/relationships/image" Target="../media/image4.png"/><Relationship Id="rId2" Type="http://schemas.microsoft.com/office/2007/relationships/hdphoto" Target="../media/image3.wdp"/><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6249035" y="527050"/>
            <a:ext cx="5585460" cy="5608955"/>
          </a:xfrm>
          <a:prstGeom prst="rect">
            <a:avLst/>
          </a:prstGeom>
        </p:spPr>
      </p:pic>
      <p:sp>
        <p:nvSpPr>
          <p:cNvPr id="22" name="矩形 21"/>
          <p:cNvSpPr/>
          <p:nvPr/>
        </p:nvSpPr>
        <p:spPr>
          <a:xfrm>
            <a:off x="3390108" y="4283257"/>
            <a:ext cx="1845310" cy="378460"/>
          </a:xfrm>
          <a:prstGeom prst="rect">
            <a:avLst/>
          </a:prstGeom>
        </p:spPr>
        <p:txBody>
          <a:bodyPr wrap="non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865" b="1" i="0" u="none" strike="noStrike" kern="1200" cap="none" spc="0" normalizeH="0" baseline="0" noProof="0" dirty="0">
                <a:ln>
                  <a:noFill/>
                </a:ln>
                <a:solidFill>
                  <a:srgbClr val="9901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答辩人：李岱</a:t>
            </a:r>
            <a:r>
              <a:rPr kumimoji="1" lang="zh-CN" altLang="en-US" sz="1865" b="1" i="0" u="none" strike="noStrike" kern="1200" cap="none" spc="0" normalizeH="0" baseline="0" noProof="0" dirty="0">
                <a:ln>
                  <a:noFill/>
                </a:ln>
                <a:solidFill>
                  <a:srgbClr val="9901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轩</a:t>
            </a:r>
            <a:endParaRPr kumimoji="1" lang="zh-CN" altLang="en-US" sz="1865" b="1" i="0" u="none" strike="noStrike" kern="1200" cap="none" spc="0" normalizeH="0" baseline="0" noProof="0" dirty="0">
              <a:ln>
                <a:noFill/>
              </a:ln>
              <a:solidFill>
                <a:srgbClr val="9901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 name="TextBox 5"/>
          <p:cNvSpPr txBox="1"/>
          <p:nvPr/>
        </p:nvSpPr>
        <p:spPr>
          <a:xfrm>
            <a:off x="5515816" y="4283257"/>
            <a:ext cx="1370330" cy="378460"/>
          </a:xfrm>
          <a:prstGeom prst="rect">
            <a:avLst/>
          </a:prstGeom>
          <a:noFill/>
        </p:spPr>
        <p:txBody>
          <a:bodyPr wrap="none" lIns="91440" tIns="45720" rIns="91440" bIns="4572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65" b="1" i="0" u="none" strike="noStrike" kern="1200" cap="none" spc="0" normalizeH="0" baseline="0" noProof="0" dirty="0">
                <a:ln>
                  <a:noFill/>
                </a:ln>
                <a:solidFill>
                  <a:srgbClr val="9901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导师：覃</a:t>
            </a:r>
            <a:r>
              <a:rPr kumimoji="0" lang="zh-CN" altLang="en-US" sz="1865" b="1" i="0" u="none" strike="noStrike" kern="1200" cap="none" spc="0" normalizeH="0" baseline="0" noProof="0" dirty="0">
                <a:ln>
                  <a:noFill/>
                </a:ln>
                <a:solidFill>
                  <a:srgbClr val="9901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飙</a:t>
            </a:r>
            <a:endParaRPr kumimoji="0" lang="zh-CN" altLang="en-US" sz="1865" b="1" i="0" u="none" strike="noStrike" kern="1200" cap="none" spc="0" normalizeH="0" baseline="0" noProof="0" dirty="0">
              <a:ln>
                <a:noFill/>
              </a:ln>
              <a:solidFill>
                <a:srgbClr val="9901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3" name="矩形 22"/>
          <p:cNvSpPr/>
          <p:nvPr/>
        </p:nvSpPr>
        <p:spPr>
          <a:xfrm>
            <a:off x="3278655" y="2888909"/>
            <a:ext cx="7785980" cy="1076325"/>
          </a:xfrm>
          <a:prstGeom prst="rect">
            <a:avLst/>
          </a:prstGeom>
        </p:spPr>
        <p:txBody>
          <a:bodyPr wrap="squar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990100"/>
                </a:solidFill>
                <a:effectLst/>
                <a:uLnTx/>
                <a:uFillTx/>
                <a:latin typeface="微软雅黑" panose="020B0503020204020204" pitchFamily="34" charset="-122"/>
                <a:ea typeface="微软雅黑" panose="020B0503020204020204" pitchFamily="34" charset="-122"/>
                <a:cs typeface="+mn-cs"/>
              </a:rPr>
              <a:t>基于大模型与多模态特征融合的程序设计教育个性化错误预测方法研究</a:t>
            </a:r>
            <a:endParaRPr kumimoji="0" lang="zh-CN" altLang="en-US" sz="3200" b="1" i="0" u="none" strike="noStrike" kern="1200" cap="none" spc="0" normalizeH="0" baseline="0" noProof="0" dirty="0">
              <a:ln>
                <a:noFill/>
              </a:ln>
              <a:solidFill>
                <a:srgbClr val="990100"/>
              </a:solidFill>
              <a:effectLst/>
              <a:uLnTx/>
              <a:uFillTx/>
              <a:latin typeface="微软雅黑" panose="020B0503020204020204" pitchFamily="34" charset="-122"/>
              <a:ea typeface="微软雅黑" panose="020B0503020204020204" pitchFamily="34" charset="-122"/>
              <a:cs typeface="+mn-cs"/>
            </a:endParaRPr>
          </a:p>
        </p:txBody>
      </p:sp>
      <p:cxnSp>
        <p:nvCxnSpPr>
          <p:cNvPr id="24" name="直接连接符 23"/>
          <p:cNvCxnSpPr/>
          <p:nvPr/>
        </p:nvCxnSpPr>
        <p:spPr>
          <a:xfrm flipH="1">
            <a:off x="3390108" y="4166691"/>
            <a:ext cx="67090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矩形 28"/>
          <p:cNvSpPr/>
          <p:nvPr/>
        </p:nvSpPr>
        <p:spPr>
          <a:xfrm>
            <a:off x="3372002" y="2477576"/>
            <a:ext cx="5097441" cy="378460"/>
          </a:xfrm>
          <a:prstGeom prst="rect">
            <a:avLst/>
          </a:prstGeom>
        </p:spPr>
        <p:txBody>
          <a:bodyPr wrap="squar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1865" b="1" dirty="0">
                <a:solidFill>
                  <a:prstClr val="black"/>
                </a:solidFill>
                <a:latin typeface="微软雅黑" panose="020B0503020204020204" pitchFamily="34" charset="-122"/>
                <a:ea typeface="微软雅黑" panose="020B0503020204020204" pitchFamily="34" charset="-122"/>
              </a:rPr>
              <a:t>中国人民</a:t>
            </a:r>
            <a:r>
              <a:rPr kumimoji="0" lang="zh-CN" altLang="en-US"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大学</a:t>
            </a:r>
            <a:r>
              <a:rPr kumimoji="0" lang="en-US" altLang="zh-CN"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2024</a:t>
            </a:r>
            <a:r>
              <a:rPr kumimoji="0" lang="zh-CN" altLang="en-US"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级</a:t>
            </a:r>
            <a:r>
              <a:rPr kumimoji="0" lang="zh-CN" altLang="en-US"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智慧治理学院</a:t>
            </a:r>
            <a:endParaRPr kumimoji="0" lang="zh-CN" altLang="en-US"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4" name="Freeform 5"/>
          <p:cNvSpPr>
            <a:spLocks noEditPoints="1"/>
          </p:cNvSpPr>
          <p:nvPr/>
        </p:nvSpPr>
        <p:spPr bwMode="auto">
          <a:xfrm>
            <a:off x="1" y="1552169"/>
            <a:ext cx="2387969" cy="3826419"/>
          </a:xfrm>
          <a:custGeom>
            <a:avLst/>
            <a:gdLst>
              <a:gd name="T0" fmla="*/ 0 w 7449"/>
              <a:gd name="T1" fmla="*/ 0 h 11906"/>
              <a:gd name="T2" fmla="*/ 7449 w 7449"/>
              <a:gd name="T3" fmla="*/ 4223 h 11906"/>
              <a:gd name="T4" fmla="*/ 0 w 7449"/>
              <a:gd name="T5" fmla="*/ 4223 h 11906"/>
              <a:gd name="T6" fmla="*/ 0 w 7449"/>
              <a:gd name="T7" fmla="*/ 0 h 11906"/>
              <a:gd name="T8" fmla="*/ 7449 w 7449"/>
              <a:gd name="T9" fmla="*/ 4302 h 11906"/>
              <a:gd name="T10" fmla="*/ 0 w 7449"/>
              <a:gd name="T11" fmla="*/ 8525 h 11906"/>
              <a:gd name="T12" fmla="*/ 0 w 7449"/>
              <a:gd name="T13" fmla="*/ 4302 h 11906"/>
              <a:gd name="T14" fmla="*/ 7449 w 7449"/>
              <a:gd name="T15" fmla="*/ 4302 h 11906"/>
              <a:gd name="T16" fmla="*/ 2857 w 7449"/>
              <a:gd name="T17" fmla="*/ 10038 h 11906"/>
              <a:gd name="T18" fmla="*/ 5 w 7449"/>
              <a:gd name="T19" fmla="*/ 11903 h 11906"/>
              <a:gd name="T20" fmla="*/ 0 w 7449"/>
              <a:gd name="T21" fmla="*/ 11906 h 11906"/>
              <a:gd name="T22" fmla="*/ 0 w 7449"/>
              <a:gd name="T23" fmla="*/ 8789 h 11906"/>
              <a:gd name="T24" fmla="*/ 2857 w 7449"/>
              <a:gd name="T25" fmla="*/ 7136 h 11906"/>
              <a:gd name="T26" fmla="*/ 2857 w 7449"/>
              <a:gd name="T27" fmla="*/ 10038 h 119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449" h="11906">
                <a:moveTo>
                  <a:pt x="0" y="0"/>
                </a:moveTo>
                <a:lnTo>
                  <a:pt x="7449" y="4223"/>
                </a:lnTo>
                <a:lnTo>
                  <a:pt x="0" y="4223"/>
                </a:lnTo>
                <a:lnTo>
                  <a:pt x="0" y="0"/>
                </a:lnTo>
                <a:close/>
                <a:moveTo>
                  <a:pt x="7449" y="4302"/>
                </a:moveTo>
                <a:lnTo>
                  <a:pt x="0" y="8525"/>
                </a:lnTo>
                <a:lnTo>
                  <a:pt x="0" y="4302"/>
                </a:lnTo>
                <a:lnTo>
                  <a:pt x="7449" y="4302"/>
                </a:lnTo>
                <a:close/>
                <a:moveTo>
                  <a:pt x="2857" y="10038"/>
                </a:moveTo>
                <a:cubicBezTo>
                  <a:pt x="2537" y="11326"/>
                  <a:pt x="721" y="11825"/>
                  <a:pt x="5" y="11903"/>
                </a:cubicBezTo>
                <a:lnTo>
                  <a:pt x="0" y="11906"/>
                </a:lnTo>
                <a:lnTo>
                  <a:pt x="0" y="8789"/>
                </a:lnTo>
                <a:lnTo>
                  <a:pt x="2857" y="7136"/>
                </a:lnTo>
                <a:lnTo>
                  <a:pt x="2857" y="10038"/>
                </a:lnTo>
                <a:close/>
              </a:path>
            </a:pathLst>
          </a:custGeom>
          <a:solidFill>
            <a:srgbClr val="990100"/>
          </a:solidFill>
          <a:ln w="5" cap="flat">
            <a:solidFill>
              <a:srgbClr val="990100"/>
            </a:solidFill>
            <a:prstDash val="solid"/>
            <a:miter lim="800000"/>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dirty="0">
              <a:ln>
                <a:noFill/>
              </a:ln>
              <a:solidFill>
                <a:prstClr val="black"/>
              </a:solidFill>
              <a:effectLst/>
              <a:uLnTx/>
              <a:uFillTx/>
              <a:latin typeface="Arial" panose="020B0604020202020204"/>
              <a:ea typeface="微软雅黑" panose="020B0503020204020204" pitchFamily="34" charset="-122"/>
              <a:cs typeface="+mn-cs"/>
            </a:endParaRPr>
          </a:p>
        </p:txBody>
      </p:sp>
      <p:sp>
        <p:nvSpPr>
          <p:cNvPr id="15" name="Freeform 6"/>
          <p:cNvSpPr>
            <a:spLocks noEditPoints="1"/>
          </p:cNvSpPr>
          <p:nvPr/>
        </p:nvSpPr>
        <p:spPr bwMode="auto">
          <a:xfrm>
            <a:off x="2296560" y="2937549"/>
            <a:ext cx="182819" cy="2259004"/>
          </a:xfrm>
          <a:custGeom>
            <a:avLst/>
            <a:gdLst>
              <a:gd name="T0" fmla="*/ 246 w 571"/>
              <a:gd name="T1" fmla="*/ 0 h 7028"/>
              <a:gd name="T2" fmla="*/ 246 w 571"/>
              <a:gd name="T3" fmla="*/ 2716 h 7028"/>
              <a:gd name="T4" fmla="*/ 178 w 571"/>
              <a:gd name="T5" fmla="*/ 2816 h 7028"/>
              <a:gd name="T6" fmla="*/ 286 w 571"/>
              <a:gd name="T7" fmla="*/ 2924 h 7028"/>
              <a:gd name="T8" fmla="*/ 394 w 571"/>
              <a:gd name="T9" fmla="*/ 2816 h 7028"/>
              <a:gd name="T10" fmla="*/ 325 w 571"/>
              <a:gd name="T11" fmla="*/ 2716 h 7028"/>
              <a:gd name="T12" fmla="*/ 325 w 571"/>
              <a:gd name="T13" fmla="*/ 0 h 7028"/>
              <a:gd name="T14" fmla="*/ 246 w 571"/>
              <a:gd name="T15" fmla="*/ 0 h 7028"/>
              <a:gd name="T16" fmla="*/ 0 w 571"/>
              <a:gd name="T17" fmla="*/ 3749 h 7028"/>
              <a:gd name="T18" fmla="*/ 571 w 571"/>
              <a:gd name="T19" fmla="*/ 3749 h 7028"/>
              <a:gd name="T20" fmla="*/ 571 w 571"/>
              <a:gd name="T21" fmla="*/ 3790 h 7028"/>
              <a:gd name="T22" fmla="*/ 0 w 571"/>
              <a:gd name="T23" fmla="*/ 3790 h 7028"/>
              <a:gd name="T24" fmla="*/ 0 w 571"/>
              <a:gd name="T25" fmla="*/ 3749 h 7028"/>
              <a:gd name="T26" fmla="*/ 0 w 571"/>
              <a:gd name="T27" fmla="*/ 3323 h 7028"/>
              <a:gd name="T28" fmla="*/ 0 w 571"/>
              <a:gd name="T29" fmla="*/ 3323 h 7028"/>
              <a:gd name="T30" fmla="*/ 0 w 571"/>
              <a:gd name="T31" fmla="*/ 3323 h 7028"/>
              <a:gd name="T32" fmla="*/ 286 w 571"/>
              <a:gd name="T33" fmla="*/ 3037 h 7028"/>
              <a:gd name="T34" fmla="*/ 571 w 571"/>
              <a:gd name="T35" fmla="*/ 3323 h 7028"/>
              <a:gd name="T36" fmla="*/ 571 w 571"/>
              <a:gd name="T37" fmla="*/ 3323 h 7028"/>
              <a:gd name="T38" fmla="*/ 571 w 571"/>
              <a:gd name="T39" fmla="*/ 3323 h 7028"/>
              <a:gd name="T40" fmla="*/ 571 w 571"/>
              <a:gd name="T41" fmla="*/ 3683 h 7028"/>
              <a:gd name="T42" fmla="*/ 0 w 571"/>
              <a:gd name="T43" fmla="*/ 3683 h 7028"/>
              <a:gd name="T44" fmla="*/ 0 w 571"/>
              <a:gd name="T45" fmla="*/ 3323 h 7028"/>
              <a:gd name="T46" fmla="*/ 37 w 571"/>
              <a:gd name="T47" fmla="*/ 3885 h 7028"/>
              <a:gd name="T48" fmla="*/ 0 w 571"/>
              <a:gd name="T49" fmla="*/ 3885 h 7028"/>
              <a:gd name="T50" fmla="*/ 0 w 571"/>
              <a:gd name="T51" fmla="*/ 7028 h 7028"/>
              <a:gd name="T52" fmla="*/ 37 w 571"/>
              <a:gd name="T53" fmla="*/ 7028 h 7028"/>
              <a:gd name="T54" fmla="*/ 37 w 571"/>
              <a:gd name="T55" fmla="*/ 3885 h 7028"/>
              <a:gd name="T56" fmla="*/ 126 w 571"/>
              <a:gd name="T57" fmla="*/ 3885 h 7028"/>
              <a:gd name="T58" fmla="*/ 89 w 571"/>
              <a:gd name="T59" fmla="*/ 3885 h 7028"/>
              <a:gd name="T60" fmla="*/ 89 w 571"/>
              <a:gd name="T61" fmla="*/ 7028 h 7028"/>
              <a:gd name="T62" fmla="*/ 126 w 571"/>
              <a:gd name="T63" fmla="*/ 7028 h 7028"/>
              <a:gd name="T64" fmla="*/ 126 w 571"/>
              <a:gd name="T65" fmla="*/ 3885 h 7028"/>
              <a:gd name="T66" fmla="*/ 215 w 571"/>
              <a:gd name="T67" fmla="*/ 3885 h 7028"/>
              <a:gd name="T68" fmla="*/ 178 w 571"/>
              <a:gd name="T69" fmla="*/ 3885 h 7028"/>
              <a:gd name="T70" fmla="*/ 178 w 571"/>
              <a:gd name="T71" fmla="*/ 7028 h 7028"/>
              <a:gd name="T72" fmla="*/ 215 w 571"/>
              <a:gd name="T73" fmla="*/ 7028 h 7028"/>
              <a:gd name="T74" fmla="*/ 215 w 571"/>
              <a:gd name="T75" fmla="*/ 3885 h 7028"/>
              <a:gd name="T76" fmla="*/ 304 w 571"/>
              <a:gd name="T77" fmla="*/ 3885 h 7028"/>
              <a:gd name="T78" fmla="*/ 267 w 571"/>
              <a:gd name="T79" fmla="*/ 3885 h 7028"/>
              <a:gd name="T80" fmla="*/ 267 w 571"/>
              <a:gd name="T81" fmla="*/ 7028 h 7028"/>
              <a:gd name="T82" fmla="*/ 304 w 571"/>
              <a:gd name="T83" fmla="*/ 7028 h 7028"/>
              <a:gd name="T84" fmla="*/ 304 w 571"/>
              <a:gd name="T85" fmla="*/ 3885 h 7028"/>
              <a:gd name="T86" fmla="*/ 393 w 571"/>
              <a:gd name="T87" fmla="*/ 3885 h 7028"/>
              <a:gd name="T88" fmla="*/ 356 w 571"/>
              <a:gd name="T89" fmla="*/ 3885 h 7028"/>
              <a:gd name="T90" fmla="*/ 356 w 571"/>
              <a:gd name="T91" fmla="*/ 7028 h 7028"/>
              <a:gd name="T92" fmla="*/ 393 w 571"/>
              <a:gd name="T93" fmla="*/ 7028 h 7028"/>
              <a:gd name="T94" fmla="*/ 393 w 571"/>
              <a:gd name="T95" fmla="*/ 3885 h 7028"/>
              <a:gd name="T96" fmla="*/ 482 w 571"/>
              <a:gd name="T97" fmla="*/ 3885 h 7028"/>
              <a:gd name="T98" fmla="*/ 445 w 571"/>
              <a:gd name="T99" fmla="*/ 3885 h 7028"/>
              <a:gd name="T100" fmla="*/ 445 w 571"/>
              <a:gd name="T101" fmla="*/ 7028 h 7028"/>
              <a:gd name="T102" fmla="*/ 482 w 571"/>
              <a:gd name="T103" fmla="*/ 7028 h 7028"/>
              <a:gd name="T104" fmla="*/ 482 w 571"/>
              <a:gd name="T105" fmla="*/ 3885 h 7028"/>
              <a:gd name="T106" fmla="*/ 571 w 571"/>
              <a:gd name="T107" fmla="*/ 3885 h 7028"/>
              <a:gd name="T108" fmla="*/ 534 w 571"/>
              <a:gd name="T109" fmla="*/ 3885 h 7028"/>
              <a:gd name="T110" fmla="*/ 534 w 571"/>
              <a:gd name="T111" fmla="*/ 7028 h 7028"/>
              <a:gd name="T112" fmla="*/ 571 w 571"/>
              <a:gd name="T113" fmla="*/ 7028 h 7028"/>
              <a:gd name="T114" fmla="*/ 571 w 571"/>
              <a:gd name="T115" fmla="*/ 3885 h 70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71" h="7028">
                <a:moveTo>
                  <a:pt x="246" y="0"/>
                </a:moveTo>
                <a:lnTo>
                  <a:pt x="246" y="2716"/>
                </a:lnTo>
                <a:cubicBezTo>
                  <a:pt x="206" y="2731"/>
                  <a:pt x="178" y="2770"/>
                  <a:pt x="178" y="2816"/>
                </a:cubicBezTo>
                <a:cubicBezTo>
                  <a:pt x="178" y="2876"/>
                  <a:pt x="226" y="2924"/>
                  <a:pt x="286" y="2924"/>
                </a:cubicBezTo>
                <a:cubicBezTo>
                  <a:pt x="345" y="2924"/>
                  <a:pt x="394" y="2876"/>
                  <a:pt x="394" y="2816"/>
                </a:cubicBezTo>
                <a:cubicBezTo>
                  <a:pt x="394" y="2770"/>
                  <a:pt x="365" y="2731"/>
                  <a:pt x="325" y="2716"/>
                </a:cubicBezTo>
                <a:lnTo>
                  <a:pt x="325" y="0"/>
                </a:lnTo>
                <a:lnTo>
                  <a:pt x="246" y="0"/>
                </a:lnTo>
                <a:close/>
                <a:moveTo>
                  <a:pt x="0" y="3749"/>
                </a:moveTo>
                <a:lnTo>
                  <a:pt x="571" y="3749"/>
                </a:lnTo>
                <a:lnTo>
                  <a:pt x="571" y="3790"/>
                </a:lnTo>
                <a:lnTo>
                  <a:pt x="0" y="3790"/>
                </a:lnTo>
                <a:lnTo>
                  <a:pt x="0" y="3749"/>
                </a:lnTo>
                <a:close/>
                <a:moveTo>
                  <a:pt x="0" y="3323"/>
                </a:moveTo>
                <a:lnTo>
                  <a:pt x="0" y="3323"/>
                </a:lnTo>
                <a:lnTo>
                  <a:pt x="0" y="3323"/>
                </a:lnTo>
                <a:cubicBezTo>
                  <a:pt x="0" y="3165"/>
                  <a:pt x="128" y="3037"/>
                  <a:pt x="286" y="3037"/>
                </a:cubicBezTo>
                <a:cubicBezTo>
                  <a:pt x="443" y="3037"/>
                  <a:pt x="571" y="3165"/>
                  <a:pt x="571" y="3323"/>
                </a:cubicBezTo>
                <a:lnTo>
                  <a:pt x="571" y="3323"/>
                </a:lnTo>
                <a:lnTo>
                  <a:pt x="571" y="3323"/>
                </a:lnTo>
                <a:lnTo>
                  <a:pt x="571" y="3683"/>
                </a:lnTo>
                <a:lnTo>
                  <a:pt x="0" y="3683"/>
                </a:lnTo>
                <a:lnTo>
                  <a:pt x="0" y="3323"/>
                </a:lnTo>
                <a:close/>
                <a:moveTo>
                  <a:pt x="37" y="3885"/>
                </a:moveTo>
                <a:lnTo>
                  <a:pt x="0" y="3885"/>
                </a:lnTo>
                <a:lnTo>
                  <a:pt x="0" y="7028"/>
                </a:lnTo>
                <a:lnTo>
                  <a:pt x="37" y="7028"/>
                </a:lnTo>
                <a:lnTo>
                  <a:pt x="37" y="3885"/>
                </a:lnTo>
                <a:close/>
                <a:moveTo>
                  <a:pt x="126" y="3885"/>
                </a:moveTo>
                <a:lnTo>
                  <a:pt x="89" y="3885"/>
                </a:lnTo>
                <a:lnTo>
                  <a:pt x="89" y="7028"/>
                </a:lnTo>
                <a:lnTo>
                  <a:pt x="126" y="7028"/>
                </a:lnTo>
                <a:lnTo>
                  <a:pt x="126" y="3885"/>
                </a:lnTo>
                <a:close/>
                <a:moveTo>
                  <a:pt x="215" y="3885"/>
                </a:moveTo>
                <a:lnTo>
                  <a:pt x="178" y="3885"/>
                </a:lnTo>
                <a:lnTo>
                  <a:pt x="178" y="7028"/>
                </a:lnTo>
                <a:lnTo>
                  <a:pt x="215" y="7028"/>
                </a:lnTo>
                <a:lnTo>
                  <a:pt x="215" y="3885"/>
                </a:lnTo>
                <a:close/>
                <a:moveTo>
                  <a:pt x="304" y="3885"/>
                </a:moveTo>
                <a:lnTo>
                  <a:pt x="267" y="3885"/>
                </a:lnTo>
                <a:lnTo>
                  <a:pt x="267" y="7028"/>
                </a:lnTo>
                <a:lnTo>
                  <a:pt x="304" y="7028"/>
                </a:lnTo>
                <a:lnTo>
                  <a:pt x="304" y="3885"/>
                </a:lnTo>
                <a:close/>
                <a:moveTo>
                  <a:pt x="393" y="3885"/>
                </a:moveTo>
                <a:lnTo>
                  <a:pt x="356" y="3885"/>
                </a:lnTo>
                <a:lnTo>
                  <a:pt x="356" y="7028"/>
                </a:lnTo>
                <a:lnTo>
                  <a:pt x="393" y="7028"/>
                </a:lnTo>
                <a:lnTo>
                  <a:pt x="393" y="3885"/>
                </a:lnTo>
                <a:close/>
                <a:moveTo>
                  <a:pt x="482" y="3885"/>
                </a:moveTo>
                <a:lnTo>
                  <a:pt x="445" y="3885"/>
                </a:lnTo>
                <a:lnTo>
                  <a:pt x="445" y="7028"/>
                </a:lnTo>
                <a:lnTo>
                  <a:pt x="482" y="7028"/>
                </a:lnTo>
                <a:lnTo>
                  <a:pt x="482" y="3885"/>
                </a:lnTo>
                <a:close/>
                <a:moveTo>
                  <a:pt x="571" y="3885"/>
                </a:moveTo>
                <a:lnTo>
                  <a:pt x="534" y="3885"/>
                </a:lnTo>
                <a:lnTo>
                  <a:pt x="534" y="7028"/>
                </a:lnTo>
                <a:lnTo>
                  <a:pt x="571" y="7028"/>
                </a:lnTo>
                <a:lnTo>
                  <a:pt x="571" y="3885"/>
                </a:lnTo>
                <a:close/>
              </a:path>
            </a:pathLst>
          </a:custGeom>
          <a:solidFill>
            <a:srgbClr val="990100"/>
          </a:solidFill>
          <a:ln>
            <a:solidFill>
              <a:srgbClr val="990100"/>
            </a:solidFill>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dirty="0">
              <a:ln>
                <a:noFill/>
              </a:ln>
              <a:solidFill>
                <a:prstClr val="black"/>
              </a:solidFill>
              <a:effectLst/>
              <a:uLnTx/>
              <a:uFillTx/>
              <a:latin typeface="Arial" panose="020B0604020202020204"/>
              <a:ea typeface="微软雅黑" panose="020B0503020204020204" pitchFamily="34" charset="-122"/>
              <a:cs typeface="+mn-cs"/>
            </a:endParaRPr>
          </a:p>
        </p:txBody>
      </p:sp>
      <p:pic>
        <p:nvPicPr>
          <p:cNvPr id="19" name="图片 18"/>
          <p:cNvPicPr>
            <a:picLocks noChangeAspect="1"/>
          </p:cNvPicPr>
          <p:nvPr/>
        </p:nvPicPr>
        <p:blipFill>
          <a:blip r:embed="rId2" cstate="print">
            <a:biLevel thresh="75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10186714" y="6237729"/>
            <a:ext cx="1697786" cy="445883"/>
          </a:xfrm>
          <a:prstGeom prst="rect">
            <a:avLst/>
          </a:prstGeom>
        </p:spPr>
      </p:pic>
      <p:pic>
        <p:nvPicPr>
          <p:cNvPr id="2" name="图片 1" descr="logo红"/>
          <p:cNvPicPr>
            <a:picLocks noChangeAspect="1"/>
          </p:cNvPicPr>
          <p:nvPr/>
        </p:nvPicPr>
        <p:blipFill>
          <a:blip r:embed="rId4"/>
          <a:stretch>
            <a:fillRect/>
          </a:stretch>
        </p:blipFill>
        <p:spPr>
          <a:xfrm>
            <a:off x="3390265" y="1459230"/>
            <a:ext cx="6671310" cy="8788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164188" y="622441"/>
            <a:ext cx="1528413" cy="1528413"/>
            <a:chOff x="1602769" y="143838"/>
            <a:chExt cx="1331936" cy="1331936"/>
          </a:xfrm>
        </p:grpSpPr>
        <p:sp>
          <p:nvSpPr>
            <p:cNvPr id="4" name="椭圆 3"/>
            <p:cNvSpPr/>
            <p:nvPr/>
          </p:nvSpPr>
          <p:spPr>
            <a:xfrm>
              <a:off x="1602769" y="143838"/>
              <a:ext cx="1331936" cy="1331936"/>
            </a:xfrm>
            <a:prstGeom prst="ellipse">
              <a:avLst/>
            </a:prstGeom>
            <a:solidFill>
              <a:srgbClr val="990100"/>
            </a:solidFill>
            <a:ln w="1651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146" name="TextBox 145"/>
            <p:cNvSpPr txBox="1"/>
            <p:nvPr/>
          </p:nvSpPr>
          <p:spPr>
            <a:xfrm>
              <a:off x="1679041" y="396413"/>
              <a:ext cx="1189310" cy="56324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目录</a:t>
              </a:r>
              <a:endParaRPr kumimoji="0" lang="zh-CN" altLang="en-US"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47" name="TextBox 146"/>
            <p:cNvSpPr txBox="1"/>
            <p:nvPr/>
          </p:nvSpPr>
          <p:spPr>
            <a:xfrm>
              <a:off x="1638153" y="937949"/>
              <a:ext cx="1263808" cy="277208"/>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465"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CONTENTS</a:t>
              </a:r>
              <a:endParaRPr kumimoji="0" lang="zh-CN" altLang="en-US" sz="1465"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9" name="Freeform 5"/>
          <p:cNvSpPr/>
          <p:nvPr/>
        </p:nvSpPr>
        <p:spPr bwMode="auto">
          <a:xfrm>
            <a:off x="3177" y="3514337"/>
            <a:ext cx="12188825" cy="1446568"/>
          </a:xfrm>
          <a:custGeom>
            <a:avLst/>
            <a:gdLst>
              <a:gd name="T0" fmla="*/ 0 w 2601"/>
              <a:gd name="T1" fmla="*/ 139 h 306"/>
              <a:gd name="T2" fmla="*/ 647 w 2601"/>
              <a:gd name="T3" fmla="*/ 304 h 306"/>
              <a:gd name="T4" fmla="*/ 1863 w 2601"/>
              <a:gd name="T5" fmla="*/ 11 h 306"/>
              <a:gd name="T6" fmla="*/ 2601 w 2601"/>
              <a:gd name="T7" fmla="*/ 259 h 306"/>
            </a:gdLst>
            <a:ahLst/>
            <a:cxnLst>
              <a:cxn ang="0">
                <a:pos x="T0" y="T1"/>
              </a:cxn>
              <a:cxn ang="0">
                <a:pos x="T2" y="T3"/>
              </a:cxn>
              <a:cxn ang="0">
                <a:pos x="T4" y="T5"/>
              </a:cxn>
              <a:cxn ang="0">
                <a:pos x="T6" y="T7"/>
              </a:cxn>
            </a:cxnLst>
            <a:rect l="0" t="0" r="r" b="b"/>
            <a:pathLst>
              <a:path w="2601" h="306">
                <a:moveTo>
                  <a:pt x="0" y="139"/>
                </a:moveTo>
                <a:cubicBezTo>
                  <a:pt x="0" y="139"/>
                  <a:pt x="179" y="301"/>
                  <a:pt x="647" y="304"/>
                </a:cubicBezTo>
                <a:cubicBezTo>
                  <a:pt x="1090" y="306"/>
                  <a:pt x="1474" y="0"/>
                  <a:pt x="1863" y="11"/>
                </a:cubicBezTo>
                <a:cubicBezTo>
                  <a:pt x="2253" y="21"/>
                  <a:pt x="2601" y="259"/>
                  <a:pt x="2601" y="259"/>
                </a:cubicBezTo>
              </a:path>
            </a:pathLst>
          </a:custGeom>
          <a:noFill/>
          <a:ln w="22225" cap="flat">
            <a:solidFill>
              <a:srgbClr val="9901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44" name="矩形 30"/>
          <p:cNvSpPr>
            <a:spLocks noChangeArrowheads="1"/>
          </p:cNvSpPr>
          <p:nvPr/>
        </p:nvSpPr>
        <p:spPr bwMode="auto">
          <a:xfrm>
            <a:off x="563880" y="5407660"/>
            <a:ext cx="2052320" cy="427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2000" b="1" i="0" u="none" strike="noStrike" kern="1200" cap="none" spc="0" normalizeH="0" baseline="0" noProof="0" dirty="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选题背景与意义</a:t>
            </a:r>
            <a:endParaRPr kumimoji="0" lang="zh-CN" altLang="en-US" sz="2000" b="1" i="0" u="none" strike="noStrike" kern="1200" cap="none" spc="0" normalizeH="0" baseline="0" noProof="0" dirty="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5" name="矩形 68"/>
          <p:cNvSpPr>
            <a:spLocks noChangeArrowheads="1"/>
          </p:cNvSpPr>
          <p:nvPr/>
        </p:nvSpPr>
        <p:spPr bwMode="auto">
          <a:xfrm>
            <a:off x="6950656" y="2534922"/>
            <a:ext cx="2092243" cy="427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2000" b="1" i="0" u="none" strike="noStrike" kern="1200" cap="none" spc="0" normalizeH="0" baseline="0" noProof="0" dirty="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技术路线与方案</a:t>
            </a:r>
            <a:endParaRPr kumimoji="0" lang="zh-CN" altLang="en-US" sz="2000" b="1" i="0" u="none" strike="noStrike" kern="1200" cap="none" spc="0" normalizeH="0" baseline="0" noProof="0" dirty="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6" name="矩形 64"/>
          <p:cNvSpPr>
            <a:spLocks noChangeArrowheads="1"/>
          </p:cNvSpPr>
          <p:nvPr/>
        </p:nvSpPr>
        <p:spPr bwMode="auto">
          <a:xfrm>
            <a:off x="2692604" y="3650742"/>
            <a:ext cx="2068801" cy="427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2000" b="1" i="0" u="none" strike="noStrike" kern="1200" cap="none" spc="0" normalizeH="0" baseline="0" noProof="0" dirty="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研究现状</a:t>
            </a:r>
            <a:endParaRPr kumimoji="0" lang="zh-CN" altLang="en-US" sz="2000" b="1" i="0" u="none" strike="noStrike" kern="1200" cap="none" spc="0" normalizeH="0" baseline="0" noProof="0" dirty="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7" name="矩形 66"/>
          <p:cNvSpPr>
            <a:spLocks noChangeArrowheads="1"/>
          </p:cNvSpPr>
          <p:nvPr/>
        </p:nvSpPr>
        <p:spPr bwMode="auto">
          <a:xfrm>
            <a:off x="4504554" y="4873260"/>
            <a:ext cx="2700245" cy="427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2000" b="1" i="0" u="none" strike="noStrike" kern="1200" cap="none" spc="0" normalizeH="0" baseline="0" noProof="0" dirty="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研究目标与内容</a:t>
            </a:r>
            <a:endParaRPr kumimoji="0" lang="zh-CN" altLang="en-US" sz="2000" b="1" i="0" u="none" strike="noStrike" kern="1200" cap="none" spc="0" normalizeH="0" baseline="0" noProof="0" dirty="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48" name="组合 47"/>
          <p:cNvGrpSpPr/>
          <p:nvPr/>
        </p:nvGrpSpPr>
        <p:grpSpPr>
          <a:xfrm>
            <a:off x="1088011" y="4173021"/>
            <a:ext cx="999564" cy="1001764"/>
            <a:chOff x="3437020" y="1033173"/>
            <a:chExt cx="863676" cy="865577"/>
          </a:xfrm>
        </p:grpSpPr>
        <p:sp>
          <p:nvSpPr>
            <p:cNvPr id="49" name="椭圆 18"/>
            <p:cNvSpPr>
              <a:spLocks noChangeArrowheads="1"/>
            </p:cNvSpPr>
            <p:nvPr/>
          </p:nvSpPr>
          <p:spPr bwMode="auto">
            <a:xfrm>
              <a:off x="3437020" y="1033173"/>
              <a:ext cx="863676" cy="865577"/>
            </a:xfrm>
            <a:prstGeom prst="ellipse">
              <a:avLst/>
            </a:prstGeom>
            <a:solidFill>
              <a:srgbClr val="990100"/>
            </a:solidFill>
            <a:ln w="38100">
              <a:solidFill>
                <a:schemeClr val="bg1">
                  <a:lumMod val="75000"/>
                </a:schemeClr>
              </a:solidFill>
              <a:miter lim="800000"/>
            </a:ln>
          </p:spPr>
          <p:txBody>
            <a:bodyPr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pic>
          <p:nvPicPr>
            <p:cNvPr id="50" name="图片 49"/>
            <p:cNvPicPr>
              <a:picLocks noChangeAspect="1"/>
            </p:cNvPicPr>
            <p:nvPr/>
          </p:nvPicPr>
          <p:blipFill>
            <a:blip r:embed="rId1" cstate="screen">
              <a:biLevel thresh="25000"/>
            </a:blip>
            <a:stretch>
              <a:fillRect/>
            </a:stretch>
          </p:blipFill>
          <p:spPr>
            <a:xfrm>
              <a:off x="3587275" y="1169757"/>
              <a:ext cx="552644" cy="566109"/>
            </a:xfrm>
            <a:prstGeom prst="rect">
              <a:avLst/>
            </a:prstGeom>
          </p:spPr>
        </p:pic>
      </p:grpSp>
      <p:sp>
        <p:nvSpPr>
          <p:cNvPr id="51" name="矩形 68"/>
          <p:cNvSpPr>
            <a:spLocks noChangeArrowheads="1"/>
          </p:cNvSpPr>
          <p:nvPr/>
        </p:nvSpPr>
        <p:spPr bwMode="auto">
          <a:xfrm>
            <a:off x="9040449" y="4638345"/>
            <a:ext cx="2651547" cy="427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2000" b="1" i="0" u="none" strike="noStrike" kern="1200" cap="none" spc="0" normalizeH="0" baseline="0" noProof="0" dirty="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难点与创新点</a:t>
            </a:r>
            <a:endParaRPr kumimoji="0" lang="zh-CN" altLang="en-US" sz="2000" b="1" i="0" u="none" strike="noStrike" kern="1200" cap="none" spc="0" normalizeH="0" baseline="0" noProof="0" dirty="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52" name="组合 51"/>
          <p:cNvGrpSpPr/>
          <p:nvPr/>
        </p:nvGrpSpPr>
        <p:grpSpPr>
          <a:xfrm>
            <a:off x="3240691" y="4340316"/>
            <a:ext cx="999564" cy="1001764"/>
            <a:chOff x="3437020" y="2074814"/>
            <a:chExt cx="863676" cy="865577"/>
          </a:xfrm>
        </p:grpSpPr>
        <p:sp>
          <p:nvSpPr>
            <p:cNvPr id="53" name="椭圆 19"/>
            <p:cNvSpPr>
              <a:spLocks noChangeArrowheads="1"/>
            </p:cNvSpPr>
            <p:nvPr/>
          </p:nvSpPr>
          <p:spPr bwMode="auto">
            <a:xfrm>
              <a:off x="3437020" y="2074814"/>
              <a:ext cx="863676" cy="865577"/>
            </a:xfrm>
            <a:prstGeom prst="ellipse">
              <a:avLst/>
            </a:prstGeom>
            <a:solidFill>
              <a:srgbClr val="990100"/>
            </a:solidFill>
            <a:ln w="38100">
              <a:solidFill>
                <a:schemeClr val="bg1">
                  <a:lumMod val="75000"/>
                </a:schemeClr>
              </a:solidFill>
              <a:miter lim="800000"/>
            </a:ln>
          </p:spPr>
          <p:txBody>
            <a:bodyPr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pic>
          <p:nvPicPr>
            <p:cNvPr id="54" name="图片 53"/>
            <p:cNvPicPr>
              <a:picLocks noChangeAspect="1"/>
            </p:cNvPicPr>
            <p:nvPr/>
          </p:nvPicPr>
          <p:blipFill>
            <a:blip r:embed="rId2" cstate="screen">
              <a:biLevel thresh="25000"/>
            </a:blip>
            <a:stretch>
              <a:fillRect/>
            </a:stretch>
          </p:blipFill>
          <p:spPr>
            <a:xfrm>
              <a:off x="3596360" y="2243692"/>
              <a:ext cx="553608" cy="567096"/>
            </a:xfrm>
            <a:prstGeom prst="rect">
              <a:avLst/>
            </a:prstGeom>
          </p:spPr>
        </p:pic>
      </p:grpSp>
      <p:grpSp>
        <p:nvGrpSpPr>
          <p:cNvPr id="55" name="组合 54"/>
          <p:cNvGrpSpPr/>
          <p:nvPr/>
        </p:nvGrpSpPr>
        <p:grpSpPr>
          <a:xfrm>
            <a:off x="5316873" y="3634817"/>
            <a:ext cx="999564" cy="999925"/>
            <a:chOff x="3437020" y="3157655"/>
            <a:chExt cx="863676" cy="863988"/>
          </a:xfrm>
        </p:grpSpPr>
        <p:sp>
          <p:nvSpPr>
            <p:cNvPr id="56" name="椭圆 20"/>
            <p:cNvSpPr>
              <a:spLocks noChangeArrowheads="1"/>
            </p:cNvSpPr>
            <p:nvPr/>
          </p:nvSpPr>
          <p:spPr bwMode="auto">
            <a:xfrm>
              <a:off x="3437020" y="3157655"/>
              <a:ext cx="863676" cy="863988"/>
            </a:xfrm>
            <a:prstGeom prst="ellipse">
              <a:avLst/>
            </a:prstGeom>
            <a:solidFill>
              <a:srgbClr val="990100"/>
            </a:solidFill>
            <a:ln w="38100">
              <a:solidFill>
                <a:schemeClr val="bg1">
                  <a:lumMod val="75000"/>
                </a:schemeClr>
              </a:solidFill>
              <a:miter lim="800000"/>
            </a:ln>
          </p:spPr>
          <p:txBody>
            <a:bodyPr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57" name="组合 56"/>
            <p:cNvGrpSpPr/>
            <p:nvPr/>
          </p:nvGrpSpPr>
          <p:grpSpPr>
            <a:xfrm>
              <a:off x="3603965" y="3301680"/>
              <a:ext cx="519264" cy="531742"/>
              <a:chOff x="9901114" y="2870043"/>
              <a:chExt cx="1094967" cy="1121279"/>
            </a:xfrm>
          </p:grpSpPr>
          <p:sp>
            <p:nvSpPr>
              <p:cNvPr id="58" name="Freeform 5"/>
              <p:cNvSpPr/>
              <p:nvPr/>
            </p:nvSpPr>
            <p:spPr bwMode="auto">
              <a:xfrm>
                <a:off x="10585467" y="2870043"/>
                <a:ext cx="234963" cy="800500"/>
              </a:xfrm>
              <a:custGeom>
                <a:avLst/>
                <a:gdLst>
                  <a:gd name="T0" fmla="*/ 2 w 43"/>
                  <a:gd name="T1" fmla="*/ 115 h 115"/>
                  <a:gd name="T2" fmla="*/ 3 w 43"/>
                  <a:gd name="T3" fmla="*/ 115 h 115"/>
                  <a:gd name="T4" fmla="*/ 3 w 43"/>
                  <a:gd name="T5" fmla="*/ 115 h 115"/>
                  <a:gd name="T6" fmla="*/ 3 w 43"/>
                  <a:gd name="T7" fmla="*/ 115 h 115"/>
                  <a:gd name="T8" fmla="*/ 4 w 43"/>
                  <a:gd name="T9" fmla="*/ 115 h 115"/>
                  <a:gd name="T10" fmla="*/ 4 w 43"/>
                  <a:gd name="T11" fmla="*/ 115 h 115"/>
                  <a:gd name="T12" fmla="*/ 5 w 43"/>
                  <a:gd name="T13" fmla="*/ 114 h 115"/>
                  <a:gd name="T14" fmla="*/ 22 w 43"/>
                  <a:gd name="T15" fmla="*/ 98 h 115"/>
                  <a:gd name="T16" fmla="*/ 38 w 43"/>
                  <a:gd name="T17" fmla="*/ 114 h 115"/>
                  <a:gd name="T18" fmla="*/ 39 w 43"/>
                  <a:gd name="T19" fmla="*/ 115 h 115"/>
                  <a:gd name="T20" fmla="*/ 39 w 43"/>
                  <a:gd name="T21" fmla="*/ 115 h 115"/>
                  <a:gd name="T22" fmla="*/ 40 w 43"/>
                  <a:gd name="T23" fmla="*/ 115 h 115"/>
                  <a:gd name="T24" fmla="*/ 40 w 43"/>
                  <a:gd name="T25" fmla="*/ 115 h 115"/>
                  <a:gd name="T26" fmla="*/ 40 w 43"/>
                  <a:gd name="T27" fmla="*/ 115 h 115"/>
                  <a:gd name="T28" fmla="*/ 41 w 43"/>
                  <a:gd name="T29" fmla="*/ 115 h 115"/>
                  <a:gd name="T30" fmla="*/ 42 w 43"/>
                  <a:gd name="T31" fmla="*/ 114 h 115"/>
                  <a:gd name="T32" fmla="*/ 43 w 43"/>
                  <a:gd name="T33" fmla="*/ 112 h 115"/>
                  <a:gd name="T34" fmla="*/ 43 w 43"/>
                  <a:gd name="T35" fmla="*/ 27 h 115"/>
                  <a:gd name="T36" fmla="*/ 43 w 43"/>
                  <a:gd name="T37" fmla="*/ 13 h 115"/>
                  <a:gd name="T38" fmla="*/ 43 w 43"/>
                  <a:gd name="T39" fmla="*/ 3 h 115"/>
                  <a:gd name="T40" fmla="*/ 42 w 43"/>
                  <a:gd name="T41" fmla="*/ 1 h 115"/>
                  <a:gd name="T42" fmla="*/ 40 w 43"/>
                  <a:gd name="T43" fmla="*/ 0 h 115"/>
                  <a:gd name="T44" fmla="*/ 3 w 43"/>
                  <a:gd name="T45" fmla="*/ 0 h 115"/>
                  <a:gd name="T46" fmla="*/ 3 w 43"/>
                  <a:gd name="T47" fmla="*/ 0 h 115"/>
                  <a:gd name="T48" fmla="*/ 2 w 43"/>
                  <a:gd name="T49" fmla="*/ 1 h 115"/>
                  <a:gd name="T50" fmla="*/ 2 w 43"/>
                  <a:gd name="T51" fmla="*/ 1 h 115"/>
                  <a:gd name="T52" fmla="*/ 0 w 43"/>
                  <a:gd name="T53" fmla="*/ 3 h 115"/>
                  <a:gd name="T54" fmla="*/ 0 w 43"/>
                  <a:gd name="T55" fmla="*/ 13 h 115"/>
                  <a:gd name="T56" fmla="*/ 0 w 43"/>
                  <a:gd name="T57" fmla="*/ 27 h 115"/>
                  <a:gd name="T58" fmla="*/ 0 w 43"/>
                  <a:gd name="T59" fmla="*/ 112 h 115"/>
                  <a:gd name="T60" fmla="*/ 2 w 43"/>
                  <a:gd name="T61" fmla="*/ 115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3" h="115">
                    <a:moveTo>
                      <a:pt x="2" y="115"/>
                    </a:moveTo>
                    <a:cubicBezTo>
                      <a:pt x="2" y="115"/>
                      <a:pt x="2" y="115"/>
                      <a:pt x="3" y="115"/>
                    </a:cubicBezTo>
                    <a:cubicBezTo>
                      <a:pt x="3" y="115"/>
                      <a:pt x="3" y="115"/>
                      <a:pt x="3" y="115"/>
                    </a:cubicBezTo>
                    <a:cubicBezTo>
                      <a:pt x="3" y="115"/>
                      <a:pt x="3" y="115"/>
                      <a:pt x="3" y="115"/>
                    </a:cubicBezTo>
                    <a:cubicBezTo>
                      <a:pt x="3" y="115"/>
                      <a:pt x="4" y="115"/>
                      <a:pt x="4" y="115"/>
                    </a:cubicBezTo>
                    <a:cubicBezTo>
                      <a:pt x="4" y="115"/>
                      <a:pt x="4" y="115"/>
                      <a:pt x="4" y="115"/>
                    </a:cubicBezTo>
                    <a:cubicBezTo>
                      <a:pt x="4" y="115"/>
                      <a:pt x="5" y="114"/>
                      <a:pt x="5" y="114"/>
                    </a:cubicBezTo>
                    <a:cubicBezTo>
                      <a:pt x="22" y="98"/>
                      <a:pt x="22" y="98"/>
                      <a:pt x="22" y="98"/>
                    </a:cubicBezTo>
                    <a:cubicBezTo>
                      <a:pt x="38" y="114"/>
                      <a:pt x="38" y="114"/>
                      <a:pt x="38" y="114"/>
                    </a:cubicBezTo>
                    <a:cubicBezTo>
                      <a:pt x="38" y="114"/>
                      <a:pt x="39" y="115"/>
                      <a:pt x="39" y="115"/>
                    </a:cubicBezTo>
                    <a:cubicBezTo>
                      <a:pt x="39" y="115"/>
                      <a:pt x="39" y="115"/>
                      <a:pt x="39" y="115"/>
                    </a:cubicBezTo>
                    <a:cubicBezTo>
                      <a:pt x="40" y="115"/>
                      <a:pt x="40" y="115"/>
                      <a:pt x="40" y="115"/>
                    </a:cubicBezTo>
                    <a:cubicBezTo>
                      <a:pt x="40" y="115"/>
                      <a:pt x="40" y="115"/>
                      <a:pt x="40" y="115"/>
                    </a:cubicBezTo>
                    <a:cubicBezTo>
                      <a:pt x="40" y="115"/>
                      <a:pt x="40" y="115"/>
                      <a:pt x="40" y="115"/>
                    </a:cubicBezTo>
                    <a:cubicBezTo>
                      <a:pt x="41" y="115"/>
                      <a:pt x="41" y="115"/>
                      <a:pt x="41" y="115"/>
                    </a:cubicBezTo>
                    <a:cubicBezTo>
                      <a:pt x="42" y="115"/>
                      <a:pt x="42" y="114"/>
                      <a:pt x="42" y="114"/>
                    </a:cubicBezTo>
                    <a:cubicBezTo>
                      <a:pt x="43" y="114"/>
                      <a:pt x="43" y="113"/>
                      <a:pt x="43" y="112"/>
                    </a:cubicBezTo>
                    <a:cubicBezTo>
                      <a:pt x="43" y="27"/>
                      <a:pt x="43" y="27"/>
                      <a:pt x="43" y="27"/>
                    </a:cubicBezTo>
                    <a:cubicBezTo>
                      <a:pt x="43" y="13"/>
                      <a:pt x="43" y="13"/>
                      <a:pt x="43" y="13"/>
                    </a:cubicBezTo>
                    <a:cubicBezTo>
                      <a:pt x="43" y="3"/>
                      <a:pt x="43" y="3"/>
                      <a:pt x="43" y="3"/>
                    </a:cubicBezTo>
                    <a:cubicBezTo>
                      <a:pt x="43" y="3"/>
                      <a:pt x="43" y="2"/>
                      <a:pt x="42" y="1"/>
                    </a:cubicBezTo>
                    <a:cubicBezTo>
                      <a:pt x="42" y="1"/>
                      <a:pt x="41" y="0"/>
                      <a:pt x="40" y="0"/>
                    </a:cubicBezTo>
                    <a:cubicBezTo>
                      <a:pt x="3" y="0"/>
                      <a:pt x="3" y="0"/>
                      <a:pt x="3" y="0"/>
                    </a:cubicBezTo>
                    <a:cubicBezTo>
                      <a:pt x="3" y="0"/>
                      <a:pt x="3" y="0"/>
                      <a:pt x="3" y="0"/>
                    </a:cubicBezTo>
                    <a:cubicBezTo>
                      <a:pt x="3" y="0"/>
                      <a:pt x="2" y="0"/>
                      <a:pt x="2" y="1"/>
                    </a:cubicBezTo>
                    <a:cubicBezTo>
                      <a:pt x="2" y="1"/>
                      <a:pt x="2" y="1"/>
                      <a:pt x="2" y="1"/>
                    </a:cubicBezTo>
                    <a:cubicBezTo>
                      <a:pt x="1" y="1"/>
                      <a:pt x="0" y="2"/>
                      <a:pt x="0" y="3"/>
                    </a:cubicBezTo>
                    <a:cubicBezTo>
                      <a:pt x="0" y="13"/>
                      <a:pt x="0" y="13"/>
                      <a:pt x="0" y="13"/>
                    </a:cubicBezTo>
                    <a:cubicBezTo>
                      <a:pt x="0" y="27"/>
                      <a:pt x="0" y="27"/>
                      <a:pt x="0" y="27"/>
                    </a:cubicBezTo>
                    <a:cubicBezTo>
                      <a:pt x="0" y="112"/>
                      <a:pt x="0" y="112"/>
                      <a:pt x="0" y="112"/>
                    </a:cubicBezTo>
                    <a:cubicBezTo>
                      <a:pt x="0" y="113"/>
                      <a:pt x="1" y="114"/>
                      <a:pt x="2" y="115"/>
                    </a:cubicBezTo>
                    <a:close/>
                  </a:path>
                </a:pathLst>
              </a:custGeom>
              <a:solidFill>
                <a:schemeClr val="bg1">
                  <a:lumMod val="95000"/>
                </a:schemeClr>
              </a:solidFill>
              <a:ln>
                <a:noFill/>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59" name="Freeform 6"/>
              <p:cNvSpPr/>
              <p:nvPr/>
            </p:nvSpPr>
            <p:spPr bwMode="auto">
              <a:xfrm>
                <a:off x="10044830" y="3280407"/>
                <a:ext cx="289711" cy="34679"/>
              </a:xfrm>
              <a:custGeom>
                <a:avLst/>
                <a:gdLst>
                  <a:gd name="T0" fmla="*/ 0 w 53"/>
                  <a:gd name="T1" fmla="*/ 3 h 5"/>
                  <a:gd name="T2" fmla="*/ 3 w 53"/>
                  <a:gd name="T3" fmla="*/ 5 h 5"/>
                  <a:gd name="T4" fmla="*/ 50 w 53"/>
                  <a:gd name="T5" fmla="*/ 5 h 5"/>
                  <a:gd name="T6" fmla="*/ 53 w 53"/>
                  <a:gd name="T7" fmla="*/ 3 h 5"/>
                  <a:gd name="T8" fmla="*/ 50 w 53"/>
                  <a:gd name="T9" fmla="*/ 0 h 5"/>
                  <a:gd name="T10" fmla="*/ 3 w 53"/>
                  <a:gd name="T11" fmla="*/ 0 h 5"/>
                  <a:gd name="T12" fmla="*/ 0 w 53"/>
                  <a:gd name="T13" fmla="*/ 3 h 5"/>
                </a:gdLst>
                <a:ahLst/>
                <a:cxnLst>
                  <a:cxn ang="0">
                    <a:pos x="T0" y="T1"/>
                  </a:cxn>
                  <a:cxn ang="0">
                    <a:pos x="T2" y="T3"/>
                  </a:cxn>
                  <a:cxn ang="0">
                    <a:pos x="T4" y="T5"/>
                  </a:cxn>
                  <a:cxn ang="0">
                    <a:pos x="T6" y="T7"/>
                  </a:cxn>
                  <a:cxn ang="0">
                    <a:pos x="T8" y="T9"/>
                  </a:cxn>
                  <a:cxn ang="0">
                    <a:pos x="T10" y="T11"/>
                  </a:cxn>
                  <a:cxn ang="0">
                    <a:pos x="T12" y="T13"/>
                  </a:cxn>
                </a:cxnLst>
                <a:rect l="0" t="0" r="r" b="b"/>
                <a:pathLst>
                  <a:path w="53" h="5">
                    <a:moveTo>
                      <a:pt x="0" y="3"/>
                    </a:moveTo>
                    <a:cubicBezTo>
                      <a:pt x="0" y="4"/>
                      <a:pt x="2" y="5"/>
                      <a:pt x="3" y="5"/>
                    </a:cubicBezTo>
                    <a:cubicBezTo>
                      <a:pt x="50" y="5"/>
                      <a:pt x="50" y="5"/>
                      <a:pt x="50" y="5"/>
                    </a:cubicBezTo>
                    <a:cubicBezTo>
                      <a:pt x="52" y="5"/>
                      <a:pt x="53" y="4"/>
                      <a:pt x="53" y="3"/>
                    </a:cubicBezTo>
                    <a:cubicBezTo>
                      <a:pt x="53" y="1"/>
                      <a:pt x="52" y="0"/>
                      <a:pt x="50" y="0"/>
                    </a:cubicBezTo>
                    <a:cubicBezTo>
                      <a:pt x="3" y="0"/>
                      <a:pt x="3" y="0"/>
                      <a:pt x="3" y="0"/>
                    </a:cubicBezTo>
                    <a:cubicBezTo>
                      <a:pt x="2" y="0"/>
                      <a:pt x="0" y="1"/>
                      <a:pt x="0" y="3"/>
                    </a:cubicBezTo>
                    <a:close/>
                  </a:path>
                </a:pathLst>
              </a:custGeom>
              <a:solidFill>
                <a:schemeClr val="bg1">
                  <a:lumMod val="95000"/>
                </a:schemeClr>
              </a:solidFill>
              <a:ln>
                <a:noFill/>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60" name="Freeform 7"/>
              <p:cNvSpPr/>
              <p:nvPr/>
            </p:nvSpPr>
            <p:spPr bwMode="auto">
              <a:xfrm>
                <a:off x="10044830" y="3442241"/>
                <a:ext cx="289711" cy="34679"/>
              </a:xfrm>
              <a:custGeom>
                <a:avLst/>
                <a:gdLst>
                  <a:gd name="T0" fmla="*/ 50 w 53"/>
                  <a:gd name="T1" fmla="*/ 0 h 5"/>
                  <a:gd name="T2" fmla="*/ 3 w 53"/>
                  <a:gd name="T3" fmla="*/ 0 h 5"/>
                  <a:gd name="T4" fmla="*/ 0 w 53"/>
                  <a:gd name="T5" fmla="*/ 2 h 5"/>
                  <a:gd name="T6" fmla="*/ 3 w 53"/>
                  <a:gd name="T7" fmla="*/ 5 h 5"/>
                  <a:gd name="T8" fmla="*/ 50 w 53"/>
                  <a:gd name="T9" fmla="*/ 5 h 5"/>
                  <a:gd name="T10" fmla="*/ 53 w 53"/>
                  <a:gd name="T11" fmla="*/ 2 h 5"/>
                  <a:gd name="T12" fmla="*/ 50 w 53"/>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53" h="5">
                    <a:moveTo>
                      <a:pt x="50" y="0"/>
                    </a:moveTo>
                    <a:cubicBezTo>
                      <a:pt x="3" y="0"/>
                      <a:pt x="3" y="0"/>
                      <a:pt x="3" y="0"/>
                    </a:cubicBezTo>
                    <a:cubicBezTo>
                      <a:pt x="2" y="0"/>
                      <a:pt x="0" y="1"/>
                      <a:pt x="0" y="2"/>
                    </a:cubicBezTo>
                    <a:cubicBezTo>
                      <a:pt x="0" y="4"/>
                      <a:pt x="2" y="5"/>
                      <a:pt x="3" y="5"/>
                    </a:cubicBezTo>
                    <a:cubicBezTo>
                      <a:pt x="50" y="5"/>
                      <a:pt x="50" y="5"/>
                      <a:pt x="50" y="5"/>
                    </a:cubicBezTo>
                    <a:cubicBezTo>
                      <a:pt x="52" y="5"/>
                      <a:pt x="53" y="4"/>
                      <a:pt x="53" y="2"/>
                    </a:cubicBezTo>
                    <a:cubicBezTo>
                      <a:pt x="53" y="1"/>
                      <a:pt x="52" y="0"/>
                      <a:pt x="50" y="0"/>
                    </a:cubicBezTo>
                    <a:close/>
                  </a:path>
                </a:pathLst>
              </a:custGeom>
              <a:solidFill>
                <a:schemeClr val="bg1">
                  <a:lumMod val="95000"/>
                </a:schemeClr>
              </a:solidFill>
              <a:ln>
                <a:noFill/>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61" name="Freeform 8"/>
              <p:cNvSpPr/>
              <p:nvPr/>
            </p:nvSpPr>
            <p:spPr bwMode="auto">
              <a:xfrm>
                <a:off x="10044830" y="3601186"/>
                <a:ext cx="289711" cy="34679"/>
              </a:xfrm>
              <a:custGeom>
                <a:avLst/>
                <a:gdLst>
                  <a:gd name="T0" fmla="*/ 50 w 53"/>
                  <a:gd name="T1" fmla="*/ 0 h 5"/>
                  <a:gd name="T2" fmla="*/ 3 w 53"/>
                  <a:gd name="T3" fmla="*/ 0 h 5"/>
                  <a:gd name="T4" fmla="*/ 0 w 53"/>
                  <a:gd name="T5" fmla="*/ 2 h 5"/>
                  <a:gd name="T6" fmla="*/ 3 w 53"/>
                  <a:gd name="T7" fmla="*/ 5 h 5"/>
                  <a:gd name="T8" fmla="*/ 50 w 53"/>
                  <a:gd name="T9" fmla="*/ 5 h 5"/>
                  <a:gd name="T10" fmla="*/ 53 w 53"/>
                  <a:gd name="T11" fmla="*/ 2 h 5"/>
                  <a:gd name="T12" fmla="*/ 50 w 53"/>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53" h="5">
                    <a:moveTo>
                      <a:pt x="50" y="0"/>
                    </a:moveTo>
                    <a:cubicBezTo>
                      <a:pt x="3" y="0"/>
                      <a:pt x="3" y="0"/>
                      <a:pt x="3" y="0"/>
                    </a:cubicBezTo>
                    <a:cubicBezTo>
                      <a:pt x="2" y="0"/>
                      <a:pt x="0" y="1"/>
                      <a:pt x="0" y="2"/>
                    </a:cubicBezTo>
                    <a:cubicBezTo>
                      <a:pt x="0" y="4"/>
                      <a:pt x="2" y="5"/>
                      <a:pt x="3" y="5"/>
                    </a:cubicBezTo>
                    <a:cubicBezTo>
                      <a:pt x="50" y="5"/>
                      <a:pt x="50" y="5"/>
                      <a:pt x="50" y="5"/>
                    </a:cubicBezTo>
                    <a:cubicBezTo>
                      <a:pt x="52" y="5"/>
                      <a:pt x="53" y="4"/>
                      <a:pt x="53" y="2"/>
                    </a:cubicBezTo>
                    <a:cubicBezTo>
                      <a:pt x="53" y="1"/>
                      <a:pt x="52" y="0"/>
                      <a:pt x="50" y="0"/>
                    </a:cubicBezTo>
                    <a:close/>
                  </a:path>
                </a:pathLst>
              </a:custGeom>
              <a:solidFill>
                <a:schemeClr val="bg1">
                  <a:lumMod val="95000"/>
                </a:schemeClr>
              </a:solidFill>
              <a:ln>
                <a:noFill/>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62" name="Freeform 9"/>
              <p:cNvSpPr>
                <a:spLocks noEditPoints="1"/>
              </p:cNvSpPr>
              <p:nvPr/>
            </p:nvSpPr>
            <p:spPr bwMode="auto">
              <a:xfrm>
                <a:off x="9901114" y="2953851"/>
                <a:ext cx="1094967" cy="1037471"/>
              </a:xfrm>
              <a:custGeom>
                <a:avLst/>
                <a:gdLst>
                  <a:gd name="T0" fmla="*/ 177 w 200"/>
                  <a:gd name="T1" fmla="*/ 3 h 149"/>
                  <a:gd name="T2" fmla="*/ 177 w 200"/>
                  <a:gd name="T3" fmla="*/ 17 h 149"/>
                  <a:gd name="T4" fmla="*/ 186 w 200"/>
                  <a:gd name="T5" fmla="*/ 21 h 149"/>
                  <a:gd name="T6" fmla="*/ 186 w 200"/>
                  <a:gd name="T7" fmla="*/ 134 h 149"/>
                  <a:gd name="T8" fmla="*/ 107 w 200"/>
                  <a:gd name="T9" fmla="*/ 134 h 149"/>
                  <a:gd name="T10" fmla="*/ 107 w 200"/>
                  <a:gd name="T11" fmla="*/ 21 h 149"/>
                  <a:gd name="T12" fmla="*/ 117 w 200"/>
                  <a:gd name="T13" fmla="*/ 17 h 149"/>
                  <a:gd name="T14" fmla="*/ 117 w 200"/>
                  <a:gd name="T15" fmla="*/ 3 h 149"/>
                  <a:gd name="T16" fmla="*/ 100 w 200"/>
                  <a:gd name="T17" fmla="*/ 9 h 149"/>
                  <a:gd name="T18" fmla="*/ 53 w 200"/>
                  <a:gd name="T19" fmla="*/ 0 h 149"/>
                  <a:gd name="T20" fmla="*/ 0 w 200"/>
                  <a:gd name="T21" fmla="*/ 20 h 149"/>
                  <a:gd name="T22" fmla="*/ 0 w 200"/>
                  <a:gd name="T23" fmla="*/ 142 h 149"/>
                  <a:gd name="T24" fmla="*/ 2 w 200"/>
                  <a:gd name="T25" fmla="*/ 147 h 149"/>
                  <a:gd name="T26" fmla="*/ 8 w 200"/>
                  <a:gd name="T27" fmla="*/ 149 h 149"/>
                  <a:gd name="T28" fmla="*/ 53 w 200"/>
                  <a:gd name="T29" fmla="*/ 145 h 149"/>
                  <a:gd name="T30" fmla="*/ 99 w 200"/>
                  <a:gd name="T31" fmla="*/ 149 h 149"/>
                  <a:gd name="T32" fmla="*/ 99 w 200"/>
                  <a:gd name="T33" fmla="*/ 149 h 149"/>
                  <a:gd name="T34" fmla="*/ 100 w 200"/>
                  <a:gd name="T35" fmla="*/ 149 h 149"/>
                  <a:gd name="T36" fmla="*/ 100 w 200"/>
                  <a:gd name="T37" fmla="*/ 149 h 149"/>
                  <a:gd name="T38" fmla="*/ 101 w 200"/>
                  <a:gd name="T39" fmla="*/ 149 h 149"/>
                  <a:gd name="T40" fmla="*/ 101 w 200"/>
                  <a:gd name="T41" fmla="*/ 149 h 149"/>
                  <a:gd name="T42" fmla="*/ 146 w 200"/>
                  <a:gd name="T43" fmla="*/ 145 h 149"/>
                  <a:gd name="T44" fmla="*/ 192 w 200"/>
                  <a:gd name="T45" fmla="*/ 149 h 149"/>
                  <a:gd name="T46" fmla="*/ 193 w 200"/>
                  <a:gd name="T47" fmla="*/ 149 h 149"/>
                  <a:gd name="T48" fmla="*/ 197 w 200"/>
                  <a:gd name="T49" fmla="*/ 147 h 149"/>
                  <a:gd name="T50" fmla="*/ 200 w 200"/>
                  <a:gd name="T51" fmla="*/ 142 h 149"/>
                  <a:gd name="T52" fmla="*/ 200 w 200"/>
                  <a:gd name="T53" fmla="*/ 20 h 149"/>
                  <a:gd name="T54" fmla="*/ 177 w 200"/>
                  <a:gd name="T55" fmla="*/ 3 h 149"/>
                  <a:gd name="T56" fmla="*/ 93 w 200"/>
                  <a:gd name="T57" fmla="*/ 134 h 149"/>
                  <a:gd name="T58" fmla="*/ 53 w 200"/>
                  <a:gd name="T59" fmla="*/ 131 h 149"/>
                  <a:gd name="T60" fmla="*/ 14 w 200"/>
                  <a:gd name="T61" fmla="*/ 134 h 149"/>
                  <a:gd name="T62" fmla="*/ 14 w 200"/>
                  <a:gd name="T63" fmla="*/ 21 h 149"/>
                  <a:gd name="T64" fmla="*/ 53 w 200"/>
                  <a:gd name="T65" fmla="*/ 14 h 149"/>
                  <a:gd name="T66" fmla="*/ 93 w 200"/>
                  <a:gd name="T67" fmla="*/ 21 h 149"/>
                  <a:gd name="T68" fmla="*/ 93 w 200"/>
                  <a:gd name="T69" fmla="*/ 13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00" h="149">
                    <a:moveTo>
                      <a:pt x="177" y="3"/>
                    </a:moveTo>
                    <a:cubicBezTo>
                      <a:pt x="177" y="17"/>
                      <a:pt x="177" y="17"/>
                      <a:pt x="177" y="17"/>
                    </a:cubicBezTo>
                    <a:cubicBezTo>
                      <a:pt x="181" y="18"/>
                      <a:pt x="185" y="20"/>
                      <a:pt x="186" y="21"/>
                    </a:cubicBezTo>
                    <a:cubicBezTo>
                      <a:pt x="186" y="134"/>
                      <a:pt x="186" y="134"/>
                      <a:pt x="186" y="134"/>
                    </a:cubicBezTo>
                    <a:cubicBezTo>
                      <a:pt x="161" y="130"/>
                      <a:pt x="131" y="130"/>
                      <a:pt x="107" y="134"/>
                    </a:cubicBezTo>
                    <a:cubicBezTo>
                      <a:pt x="107" y="21"/>
                      <a:pt x="107" y="21"/>
                      <a:pt x="107" y="21"/>
                    </a:cubicBezTo>
                    <a:cubicBezTo>
                      <a:pt x="108" y="20"/>
                      <a:pt x="111" y="18"/>
                      <a:pt x="117" y="17"/>
                    </a:cubicBezTo>
                    <a:cubicBezTo>
                      <a:pt x="117" y="3"/>
                      <a:pt x="117" y="3"/>
                      <a:pt x="117" y="3"/>
                    </a:cubicBezTo>
                    <a:cubicBezTo>
                      <a:pt x="110" y="4"/>
                      <a:pt x="104" y="6"/>
                      <a:pt x="100" y="9"/>
                    </a:cubicBezTo>
                    <a:cubicBezTo>
                      <a:pt x="90" y="2"/>
                      <a:pt x="70" y="0"/>
                      <a:pt x="53" y="0"/>
                    </a:cubicBezTo>
                    <a:cubicBezTo>
                      <a:pt x="29" y="0"/>
                      <a:pt x="0" y="5"/>
                      <a:pt x="0" y="20"/>
                    </a:cubicBezTo>
                    <a:cubicBezTo>
                      <a:pt x="0" y="142"/>
                      <a:pt x="0" y="142"/>
                      <a:pt x="0" y="142"/>
                    </a:cubicBezTo>
                    <a:cubicBezTo>
                      <a:pt x="0" y="144"/>
                      <a:pt x="1" y="146"/>
                      <a:pt x="2" y="147"/>
                    </a:cubicBezTo>
                    <a:cubicBezTo>
                      <a:pt x="4" y="148"/>
                      <a:pt x="6" y="149"/>
                      <a:pt x="8" y="149"/>
                    </a:cubicBezTo>
                    <a:cubicBezTo>
                      <a:pt x="22" y="146"/>
                      <a:pt x="37" y="145"/>
                      <a:pt x="53" y="145"/>
                    </a:cubicBezTo>
                    <a:cubicBezTo>
                      <a:pt x="69" y="145"/>
                      <a:pt x="85" y="146"/>
                      <a:pt x="99" y="149"/>
                    </a:cubicBezTo>
                    <a:cubicBezTo>
                      <a:pt x="99" y="149"/>
                      <a:pt x="99" y="149"/>
                      <a:pt x="99" y="149"/>
                    </a:cubicBezTo>
                    <a:cubicBezTo>
                      <a:pt x="99" y="149"/>
                      <a:pt x="99" y="149"/>
                      <a:pt x="100" y="149"/>
                    </a:cubicBezTo>
                    <a:cubicBezTo>
                      <a:pt x="100" y="149"/>
                      <a:pt x="100" y="149"/>
                      <a:pt x="100" y="149"/>
                    </a:cubicBezTo>
                    <a:cubicBezTo>
                      <a:pt x="100" y="149"/>
                      <a:pt x="100" y="149"/>
                      <a:pt x="101" y="149"/>
                    </a:cubicBezTo>
                    <a:cubicBezTo>
                      <a:pt x="101" y="149"/>
                      <a:pt x="101" y="149"/>
                      <a:pt x="101" y="149"/>
                    </a:cubicBezTo>
                    <a:cubicBezTo>
                      <a:pt x="115" y="146"/>
                      <a:pt x="130" y="145"/>
                      <a:pt x="146" y="145"/>
                    </a:cubicBezTo>
                    <a:cubicBezTo>
                      <a:pt x="162" y="145"/>
                      <a:pt x="178" y="146"/>
                      <a:pt x="192" y="149"/>
                    </a:cubicBezTo>
                    <a:cubicBezTo>
                      <a:pt x="192" y="149"/>
                      <a:pt x="192" y="149"/>
                      <a:pt x="193" y="149"/>
                    </a:cubicBezTo>
                    <a:cubicBezTo>
                      <a:pt x="194" y="149"/>
                      <a:pt x="196" y="148"/>
                      <a:pt x="197" y="147"/>
                    </a:cubicBezTo>
                    <a:cubicBezTo>
                      <a:pt x="199" y="146"/>
                      <a:pt x="200" y="144"/>
                      <a:pt x="200" y="142"/>
                    </a:cubicBezTo>
                    <a:cubicBezTo>
                      <a:pt x="200" y="20"/>
                      <a:pt x="200" y="20"/>
                      <a:pt x="200" y="20"/>
                    </a:cubicBezTo>
                    <a:cubicBezTo>
                      <a:pt x="200" y="11"/>
                      <a:pt x="190" y="6"/>
                      <a:pt x="177" y="3"/>
                    </a:cubicBezTo>
                    <a:close/>
                    <a:moveTo>
                      <a:pt x="93" y="134"/>
                    </a:moveTo>
                    <a:cubicBezTo>
                      <a:pt x="80" y="132"/>
                      <a:pt x="67" y="131"/>
                      <a:pt x="53" y="131"/>
                    </a:cubicBezTo>
                    <a:cubicBezTo>
                      <a:pt x="40" y="131"/>
                      <a:pt x="26" y="132"/>
                      <a:pt x="14" y="134"/>
                    </a:cubicBezTo>
                    <a:cubicBezTo>
                      <a:pt x="14" y="21"/>
                      <a:pt x="14" y="21"/>
                      <a:pt x="14" y="21"/>
                    </a:cubicBezTo>
                    <a:cubicBezTo>
                      <a:pt x="16" y="18"/>
                      <a:pt x="30" y="14"/>
                      <a:pt x="53" y="14"/>
                    </a:cubicBezTo>
                    <a:cubicBezTo>
                      <a:pt x="76" y="14"/>
                      <a:pt x="90" y="18"/>
                      <a:pt x="93" y="21"/>
                    </a:cubicBezTo>
                    <a:lnTo>
                      <a:pt x="93" y="134"/>
                    </a:lnTo>
                    <a:close/>
                  </a:path>
                </a:pathLst>
              </a:custGeom>
              <a:solidFill>
                <a:schemeClr val="bg1">
                  <a:lumMod val="95000"/>
                </a:schemeClr>
              </a:solidFill>
              <a:ln>
                <a:noFill/>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grpSp>
      <p:grpSp>
        <p:nvGrpSpPr>
          <p:cNvPr id="63" name="组合 62"/>
          <p:cNvGrpSpPr/>
          <p:nvPr/>
        </p:nvGrpSpPr>
        <p:grpSpPr>
          <a:xfrm>
            <a:off x="7529563" y="3147585"/>
            <a:ext cx="999564" cy="1001763"/>
            <a:chOff x="3437020" y="4201727"/>
            <a:chExt cx="863676" cy="865576"/>
          </a:xfrm>
        </p:grpSpPr>
        <p:sp>
          <p:nvSpPr>
            <p:cNvPr id="64" name="椭圆 21"/>
            <p:cNvSpPr>
              <a:spLocks noChangeArrowheads="1"/>
            </p:cNvSpPr>
            <p:nvPr/>
          </p:nvSpPr>
          <p:spPr bwMode="auto">
            <a:xfrm>
              <a:off x="3437020" y="4201727"/>
              <a:ext cx="863676" cy="865576"/>
            </a:xfrm>
            <a:prstGeom prst="ellipse">
              <a:avLst/>
            </a:prstGeom>
            <a:solidFill>
              <a:srgbClr val="990100"/>
            </a:solidFill>
            <a:ln w="38100">
              <a:solidFill>
                <a:schemeClr val="bg1">
                  <a:lumMod val="75000"/>
                </a:schemeClr>
              </a:solidFill>
              <a:miter lim="800000"/>
            </a:ln>
          </p:spPr>
          <p:txBody>
            <a:bodyPr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65" name="Group 4"/>
            <p:cNvGrpSpPr>
              <a:grpSpLocks noChangeAspect="1"/>
            </p:cNvGrpSpPr>
            <p:nvPr/>
          </p:nvGrpSpPr>
          <p:grpSpPr bwMode="auto">
            <a:xfrm>
              <a:off x="3626902" y="4339091"/>
              <a:ext cx="476560" cy="578496"/>
              <a:chOff x="2694" y="1931"/>
              <a:chExt cx="374" cy="454"/>
            </a:xfrm>
            <a:solidFill>
              <a:schemeClr val="bg1"/>
            </a:solidFill>
          </p:grpSpPr>
          <p:sp>
            <p:nvSpPr>
              <p:cNvPr id="66" name="Freeform 5"/>
              <p:cNvSpPr>
                <a:spLocks noEditPoints="1"/>
              </p:cNvSpPr>
              <p:nvPr/>
            </p:nvSpPr>
            <p:spPr bwMode="auto">
              <a:xfrm>
                <a:off x="2694" y="1931"/>
                <a:ext cx="374" cy="454"/>
              </a:xfrm>
              <a:custGeom>
                <a:avLst/>
                <a:gdLst>
                  <a:gd name="T0" fmla="*/ 127 w 155"/>
                  <a:gd name="T1" fmla="*/ 7 h 189"/>
                  <a:gd name="T2" fmla="*/ 124 w 155"/>
                  <a:gd name="T3" fmla="*/ 0 h 189"/>
                  <a:gd name="T4" fmla="*/ 122 w 155"/>
                  <a:gd name="T5" fmla="*/ 7 h 189"/>
                  <a:gd name="T6" fmla="*/ 96 w 155"/>
                  <a:gd name="T7" fmla="*/ 3 h 189"/>
                  <a:gd name="T8" fmla="*/ 90 w 155"/>
                  <a:gd name="T9" fmla="*/ 3 h 189"/>
                  <a:gd name="T10" fmla="*/ 64 w 155"/>
                  <a:gd name="T11" fmla="*/ 7 h 189"/>
                  <a:gd name="T12" fmla="*/ 62 w 155"/>
                  <a:gd name="T13" fmla="*/ 0 h 189"/>
                  <a:gd name="T14" fmla="*/ 59 w 155"/>
                  <a:gd name="T15" fmla="*/ 7 h 189"/>
                  <a:gd name="T16" fmla="*/ 33 w 155"/>
                  <a:gd name="T17" fmla="*/ 3 h 189"/>
                  <a:gd name="T18" fmla="*/ 27 w 155"/>
                  <a:gd name="T19" fmla="*/ 3 h 189"/>
                  <a:gd name="T20" fmla="*/ 7 w 155"/>
                  <a:gd name="T21" fmla="*/ 7 h 189"/>
                  <a:gd name="T22" fmla="*/ 0 w 155"/>
                  <a:gd name="T23" fmla="*/ 182 h 189"/>
                  <a:gd name="T24" fmla="*/ 148 w 155"/>
                  <a:gd name="T25" fmla="*/ 189 h 189"/>
                  <a:gd name="T26" fmla="*/ 155 w 155"/>
                  <a:gd name="T27" fmla="*/ 13 h 189"/>
                  <a:gd name="T28" fmla="*/ 124 w 155"/>
                  <a:gd name="T29" fmla="*/ 40 h 189"/>
                  <a:gd name="T30" fmla="*/ 127 w 155"/>
                  <a:gd name="T31" fmla="*/ 31 h 189"/>
                  <a:gd name="T32" fmla="*/ 124 w 155"/>
                  <a:gd name="T33" fmla="*/ 44 h 189"/>
                  <a:gd name="T34" fmla="*/ 122 w 155"/>
                  <a:gd name="T35" fmla="*/ 31 h 189"/>
                  <a:gd name="T36" fmla="*/ 124 w 155"/>
                  <a:gd name="T37" fmla="*/ 40 h 189"/>
                  <a:gd name="T38" fmla="*/ 96 w 155"/>
                  <a:gd name="T39" fmla="*/ 37 h 189"/>
                  <a:gd name="T40" fmla="*/ 100 w 155"/>
                  <a:gd name="T41" fmla="*/ 37 h 189"/>
                  <a:gd name="T42" fmla="*/ 86 w 155"/>
                  <a:gd name="T43" fmla="*/ 37 h 189"/>
                  <a:gd name="T44" fmla="*/ 90 w 155"/>
                  <a:gd name="T45" fmla="*/ 37 h 189"/>
                  <a:gd name="T46" fmla="*/ 62 w 155"/>
                  <a:gd name="T47" fmla="*/ 40 h 189"/>
                  <a:gd name="T48" fmla="*/ 64 w 155"/>
                  <a:gd name="T49" fmla="*/ 31 h 189"/>
                  <a:gd name="T50" fmla="*/ 62 w 155"/>
                  <a:gd name="T51" fmla="*/ 44 h 189"/>
                  <a:gd name="T52" fmla="*/ 59 w 155"/>
                  <a:gd name="T53" fmla="*/ 31 h 189"/>
                  <a:gd name="T54" fmla="*/ 62 w 155"/>
                  <a:gd name="T55" fmla="*/ 40 h 189"/>
                  <a:gd name="T56" fmla="*/ 33 w 155"/>
                  <a:gd name="T57" fmla="*/ 37 h 189"/>
                  <a:gd name="T58" fmla="*/ 37 w 155"/>
                  <a:gd name="T59" fmla="*/ 37 h 189"/>
                  <a:gd name="T60" fmla="*/ 23 w 155"/>
                  <a:gd name="T61" fmla="*/ 37 h 189"/>
                  <a:gd name="T62" fmla="*/ 27 w 155"/>
                  <a:gd name="T63" fmla="*/ 37 h 189"/>
                  <a:gd name="T64" fmla="*/ 141 w 155"/>
                  <a:gd name="T65" fmla="*/ 175 h 189"/>
                  <a:gd name="T66" fmla="*/ 14 w 155"/>
                  <a:gd name="T67" fmla="*/ 20 h 189"/>
                  <a:gd name="T68" fmla="*/ 27 w 155"/>
                  <a:gd name="T69" fmla="*/ 25 h 189"/>
                  <a:gd name="T70" fmla="*/ 30 w 155"/>
                  <a:gd name="T71" fmla="*/ 50 h 189"/>
                  <a:gd name="T72" fmla="*/ 33 w 155"/>
                  <a:gd name="T73" fmla="*/ 25 h 189"/>
                  <a:gd name="T74" fmla="*/ 59 w 155"/>
                  <a:gd name="T75" fmla="*/ 20 h 189"/>
                  <a:gd name="T76" fmla="*/ 49 w 155"/>
                  <a:gd name="T77" fmla="*/ 37 h 189"/>
                  <a:gd name="T78" fmla="*/ 74 w 155"/>
                  <a:gd name="T79" fmla="*/ 37 h 189"/>
                  <a:gd name="T80" fmla="*/ 64 w 155"/>
                  <a:gd name="T81" fmla="*/ 20 h 189"/>
                  <a:gd name="T82" fmla="*/ 90 w 155"/>
                  <a:gd name="T83" fmla="*/ 25 h 189"/>
                  <a:gd name="T84" fmla="*/ 93 w 155"/>
                  <a:gd name="T85" fmla="*/ 50 h 189"/>
                  <a:gd name="T86" fmla="*/ 96 w 155"/>
                  <a:gd name="T87" fmla="*/ 25 h 189"/>
                  <a:gd name="T88" fmla="*/ 122 w 155"/>
                  <a:gd name="T89" fmla="*/ 20 h 189"/>
                  <a:gd name="T90" fmla="*/ 112 w 155"/>
                  <a:gd name="T91" fmla="*/ 37 h 189"/>
                  <a:gd name="T92" fmla="*/ 137 w 155"/>
                  <a:gd name="T93" fmla="*/ 37 h 189"/>
                  <a:gd name="T94" fmla="*/ 127 w 155"/>
                  <a:gd name="T95" fmla="*/ 20 h 189"/>
                  <a:gd name="T96" fmla="*/ 141 w 155"/>
                  <a:gd name="T97" fmla="*/ 175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5" h="189">
                    <a:moveTo>
                      <a:pt x="148" y="7"/>
                    </a:moveTo>
                    <a:cubicBezTo>
                      <a:pt x="127" y="7"/>
                      <a:pt x="127" y="7"/>
                      <a:pt x="127" y="7"/>
                    </a:cubicBezTo>
                    <a:cubicBezTo>
                      <a:pt x="127" y="3"/>
                      <a:pt x="127" y="3"/>
                      <a:pt x="127" y="3"/>
                    </a:cubicBezTo>
                    <a:cubicBezTo>
                      <a:pt x="127" y="1"/>
                      <a:pt x="126" y="0"/>
                      <a:pt x="124" y="0"/>
                    </a:cubicBezTo>
                    <a:cubicBezTo>
                      <a:pt x="123" y="0"/>
                      <a:pt x="122" y="1"/>
                      <a:pt x="122" y="3"/>
                    </a:cubicBezTo>
                    <a:cubicBezTo>
                      <a:pt x="122" y="7"/>
                      <a:pt x="122" y="7"/>
                      <a:pt x="122" y="7"/>
                    </a:cubicBezTo>
                    <a:cubicBezTo>
                      <a:pt x="96" y="7"/>
                      <a:pt x="96" y="7"/>
                      <a:pt x="96" y="7"/>
                    </a:cubicBezTo>
                    <a:cubicBezTo>
                      <a:pt x="96" y="3"/>
                      <a:pt x="96" y="3"/>
                      <a:pt x="96" y="3"/>
                    </a:cubicBezTo>
                    <a:cubicBezTo>
                      <a:pt x="96" y="1"/>
                      <a:pt x="94" y="0"/>
                      <a:pt x="93" y="0"/>
                    </a:cubicBezTo>
                    <a:cubicBezTo>
                      <a:pt x="91" y="0"/>
                      <a:pt x="90" y="1"/>
                      <a:pt x="90" y="3"/>
                    </a:cubicBezTo>
                    <a:cubicBezTo>
                      <a:pt x="90" y="7"/>
                      <a:pt x="90" y="7"/>
                      <a:pt x="90" y="7"/>
                    </a:cubicBezTo>
                    <a:cubicBezTo>
                      <a:pt x="64" y="7"/>
                      <a:pt x="64" y="7"/>
                      <a:pt x="64" y="7"/>
                    </a:cubicBezTo>
                    <a:cubicBezTo>
                      <a:pt x="64" y="3"/>
                      <a:pt x="64" y="3"/>
                      <a:pt x="64" y="3"/>
                    </a:cubicBezTo>
                    <a:cubicBezTo>
                      <a:pt x="64" y="1"/>
                      <a:pt x="63" y="0"/>
                      <a:pt x="62" y="0"/>
                    </a:cubicBezTo>
                    <a:cubicBezTo>
                      <a:pt x="60" y="0"/>
                      <a:pt x="59" y="1"/>
                      <a:pt x="59" y="3"/>
                    </a:cubicBezTo>
                    <a:cubicBezTo>
                      <a:pt x="59" y="7"/>
                      <a:pt x="59" y="7"/>
                      <a:pt x="59" y="7"/>
                    </a:cubicBezTo>
                    <a:cubicBezTo>
                      <a:pt x="33" y="7"/>
                      <a:pt x="33" y="7"/>
                      <a:pt x="33" y="7"/>
                    </a:cubicBezTo>
                    <a:cubicBezTo>
                      <a:pt x="33" y="3"/>
                      <a:pt x="33" y="3"/>
                      <a:pt x="33" y="3"/>
                    </a:cubicBezTo>
                    <a:cubicBezTo>
                      <a:pt x="33" y="1"/>
                      <a:pt x="32" y="0"/>
                      <a:pt x="30" y="0"/>
                    </a:cubicBezTo>
                    <a:cubicBezTo>
                      <a:pt x="29" y="0"/>
                      <a:pt x="27" y="1"/>
                      <a:pt x="27" y="3"/>
                    </a:cubicBezTo>
                    <a:cubicBezTo>
                      <a:pt x="27" y="7"/>
                      <a:pt x="27" y="7"/>
                      <a:pt x="27" y="7"/>
                    </a:cubicBezTo>
                    <a:cubicBezTo>
                      <a:pt x="7" y="7"/>
                      <a:pt x="7" y="7"/>
                      <a:pt x="7" y="7"/>
                    </a:cubicBezTo>
                    <a:cubicBezTo>
                      <a:pt x="3" y="7"/>
                      <a:pt x="0" y="10"/>
                      <a:pt x="0" y="13"/>
                    </a:cubicBezTo>
                    <a:cubicBezTo>
                      <a:pt x="0" y="182"/>
                      <a:pt x="0" y="182"/>
                      <a:pt x="0" y="182"/>
                    </a:cubicBezTo>
                    <a:cubicBezTo>
                      <a:pt x="0" y="186"/>
                      <a:pt x="3" y="189"/>
                      <a:pt x="7" y="189"/>
                    </a:cubicBezTo>
                    <a:cubicBezTo>
                      <a:pt x="148" y="189"/>
                      <a:pt x="148" y="189"/>
                      <a:pt x="148" y="189"/>
                    </a:cubicBezTo>
                    <a:cubicBezTo>
                      <a:pt x="152" y="189"/>
                      <a:pt x="155" y="186"/>
                      <a:pt x="155" y="182"/>
                    </a:cubicBezTo>
                    <a:cubicBezTo>
                      <a:pt x="155" y="13"/>
                      <a:pt x="155" y="13"/>
                      <a:pt x="155" y="13"/>
                    </a:cubicBezTo>
                    <a:cubicBezTo>
                      <a:pt x="155" y="10"/>
                      <a:pt x="152" y="7"/>
                      <a:pt x="148" y="7"/>
                    </a:cubicBezTo>
                    <a:close/>
                    <a:moveTo>
                      <a:pt x="124" y="40"/>
                    </a:moveTo>
                    <a:cubicBezTo>
                      <a:pt x="126" y="40"/>
                      <a:pt x="127" y="39"/>
                      <a:pt x="127" y="37"/>
                    </a:cubicBezTo>
                    <a:cubicBezTo>
                      <a:pt x="127" y="31"/>
                      <a:pt x="127" y="31"/>
                      <a:pt x="127" y="31"/>
                    </a:cubicBezTo>
                    <a:cubicBezTo>
                      <a:pt x="130" y="32"/>
                      <a:pt x="131" y="35"/>
                      <a:pt x="131" y="37"/>
                    </a:cubicBezTo>
                    <a:cubicBezTo>
                      <a:pt x="131" y="41"/>
                      <a:pt x="128" y="44"/>
                      <a:pt x="124" y="44"/>
                    </a:cubicBezTo>
                    <a:cubicBezTo>
                      <a:pt x="120" y="44"/>
                      <a:pt x="117" y="41"/>
                      <a:pt x="117" y="37"/>
                    </a:cubicBezTo>
                    <a:cubicBezTo>
                      <a:pt x="117" y="34"/>
                      <a:pt x="119" y="32"/>
                      <a:pt x="122" y="31"/>
                    </a:cubicBezTo>
                    <a:cubicBezTo>
                      <a:pt x="122" y="37"/>
                      <a:pt x="122" y="37"/>
                      <a:pt x="122" y="37"/>
                    </a:cubicBezTo>
                    <a:cubicBezTo>
                      <a:pt x="122" y="39"/>
                      <a:pt x="123" y="40"/>
                      <a:pt x="124" y="40"/>
                    </a:cubicBezTo>
                    <a:close/>
                    <a:moveTo>
                      <a:pt x="93" y="40"/>
                    </a:moveTo>
                    <a:cubicBezTo>
                      <a:pt x="94" y="40"/>
                      <a:pt x="96" y="39"/>
                      <a:pt x="96" y="37"/>
                    </a:cubicBezTo>
                    <a:cubicBezTo>
                      <a:pt x="96" y="31"/>
                      <a:pt x="96" y="31"/>
                      <a:pt x="96" y="31"/>
                    </a:cubicBezTo>
                    <a:cubicBezTo>
                      <a:pt x="98" y="32"/>
                      <a:pt x="100" y="35"/>
                      <a:pt x="100" y="37"/>
                    </a:cubicBezTo>
                    <a:cubicBezTo>
                      <a:pt x="100" y="41"/>
                      <a:pt x="97" y="44"/>
                      <a:pt x="93" y="44"/>
                    </a:cubicBezTo>
                    <a:cubicBezTo>
                      <a:pt x="89" y="44"/>
                      <a:pt x="86" y="41"/>
                      <a:pt x="86" y="37"/>
                    </a:cubicBezTo>
                    <a:cubicBezTo>
                      <a:pt x="86" y="34"/>
                      <a:pt x="88" y="32"/>
                      <a:pt x="90" y="31"/>
                    </a:cubicBezTo>
                    <a:cubicBezTo>
                      <a:pt x="90" y="37"/>
                      <a:pt x="90" y="37"/>
                      <a:pt x="90" y="37"/>
                    </a:cubicBezTo>
                    <a:cubicBezTo>
                      <a:pt x="90" y="39"/>
                      <a:pt x="91" y="40"/>
                      <a:pt x="93" y="40"/>
                    </a:cubicBezTo>
                    <a:close/>
                    <a:moveTo>
                      <a:pt x="62" y="40"/>
                    </a:moveTo>
                    <a:cubicBezTo>
                      <a:pt x="63" y="40"/>
                      <a:pt x="64" y="39"/>
                      <a:pt x="64" y="37"/>
                    </a:cubicBezTo>
                    <a:cubicBezTo>
                      <a:pt x="64" y="31"/>
                      <a:pt x="64" y="31"/>
                      <a:pt x="64" y="31"/>
                    </a:cubicBezTo>
                    <a:cubicBezTo>
                      <a:pt x="67" y="32"/>
                      <a:pt x="69" y="35"/>
                      <a:pt x="69" y="37"/>
                    </a:cubicBezTo>
                    <a:cubicBezTo>
                      <a:pt x="69" y="41"/>
                      <a:pt x="65" y="44"/>
                      <a:pt x="62" y="44"/>
                    </a:cubicBezTo>
                    <a:cubicBezTo>
                      <a:pt x="58" y="44"/>
                      <a:pt x="54" y="41"/>
                      <a:pt x="54" y="37"/>
                    </a:cubicBezTo>
                    <a:cubicBezTo>
                      <a:pt x="54" y="34"/>
                      <a:pt x="56" y="32"/>
                      <a:pt x="59" y="31"/>
                    </a:cubicBezTo>
                    <a:cubicBezTo>
                      <a:pt x="59" y="37"/>
                      <a:pt x="59" y="37"/>
                      <a:pt x="59" y="37"/>
                    </a:cubicBezTo>
                    <a:cubicBezTo>
                      <a:pt x="59" y="39"/>
                      <a:pt x="60" y="40"/>
                      <a:pt x="62" y="40"/>
                    </a:cubicBezTo>
                    <a:close/>
                    <a:moveTo>
                      <a:pt x="30" y="40"/>
                    </a:moveTo>
                    <a:cubicBezTo>
                      <a:pt x="32" y="40"/>
                      <a:pt x="33" y="39"/>
                      <a:pt x="33" y="37"/>
                    </a:cubicBezTo>
                    <a:cubicBezTo>
                      <a:pt x="33" y="31"/>
                      <a:pt x="33" y="31"/>
                      <a:pt x="33" y="31"/>
                    </a:cubicBezTo>
                    <a:cubicBezTo>
                      <a:pt x="35" y="32"/>
                      <a:pt x="37" y="35"/>
                      <a:pt x="37" y="37"/>
                    </a:cubicBezTo>
                    <a:cubicBezTo>
                      <a:pt x="37" y="41"/>
                      <a:pt x="34" y="44"/>
                      <a:pt x="30" y="44"/>
                    </a:cubicBezTo>
                    <a:cubicBezTo>
                      <a:pt x="26" y="44"/>
                      <a:pt x="23" y="41"/>
                      <a:pt x="23" y="37"/>
                    </a:cubicBezTo>
                    <a:cubicBezTo>
                      <a:pt x="23" y="34"/>
                      <a:pt x="25" y="32"/>
                      <a:pt x="27" y="31"/>
                    </a:cubicBezTo>
                    <a:cubicBezTo>
                      <a:pt x="27" y="37"/>
                      <a:pt x="27" y="37"/>
                      <a:pt x="27" y="37"/>
                    </a:cubicBezTo>
                    <a:cubicBezTo>
                      <a:pt x="27" y="39"/>
                      <a:pt x="29" y="40"/>
                      <a:pt x="30" y="40"/>
                    </a:cubicBezTo>
                    <a:close/>
                    <a:moveTo>
                      <a:pt x="141" y="175"/>
                    </a:moveTo>
                    <a:cubicBezTo>
                      <a:pt x="14" y="175"/>
                      <a:pt x="14" y="175"/>
                      <a:pt x="14" y="175"/>
                    </a:cubicBezTo>
                    <a:cubicBezTo>
                      <a:pt x="14" y="20"/>
                      <a:pt x="14" y="20"/>
                      <a:pt x="14" y="20"/>
                    </a:cubicBezTo>
                    <a:cubicBezTo>
                      <a:pt x="27" y="20"/>
                      <a:pt x="27" y="20"/>
                      <a:pt x="27" y="20"/>
                    </a:cubicBezTo>
                    <a:cubicBezTo>
                      <a:pt x="27" y="25"/>
                      <a:pt x="27" y="25"/>
                      <a:pt x="27" y="25"/>
                    </a:cubicBezTo>
                    <a:cubicBezTo>
                      <a:pt x="22" y="26"/>
                      <a:pt x="18" y="31"/>
                      <a:pt x="18" y="37"/>
                    </a:cubicBezTo>
                    <a:cubicBezTo>
                      <a:pt x="18" y="44"/>
                      <a:pt x="23" y="50"/>
                      <a:pt x="30" y="50"/>
                    </a:cubicBezTo>
                    <a:cubicBezTo>
                      <a:pt x="37" y="50"/>
                      <a:pt x="43" y="44"/>
                      <a:pt x="43" y="37"/>
                    </a:cubicBezTo>
                    <a:cubicBezTo>
                      <a:pt x="43" y="31"/>
                      <a:pt x="39" y="26"/>
                      <a:pt x="33" y="25"/>
                    </a:cubicBezTo>
                    <a:cubicBezTo>
                      <a:pt x="33" y="20"/>
                      <a:pt x="33" y="20"/>
                      <a:pt x="33" y="20"/>
                    </a:cubicBezTo>
                    <a:cubicBezTo>
                      <a:pt x="59" y="20"/>
                      <a:pt x="59" y="20"/>
                      <a:pt x="59" y="20"/>
                    </a:cubicBezTo>
                    <a:cubicBezTo>
                      <a:pt x="59" y="25"/>
                      <a:pt x="59" y="25"/>
                      <a:pt x="59" y="25"/>
                    </a:cubicBezTo>
                    <a:cubicBezTo>
                      <a:pt x="53" y="26"/>
                      <a:pt x="49" y="31"/>
                      <a:pt x="49" y="37"/>
                    </a:cubicBezTo>
                    <a:cubicBezTo>
                      <a:pt x="49" y="44"/>
                      <a:pt x="55" y="50"/>
                      <a:pt x="62" y="50"/>
                    </a:cubicBezTo>
                    <a:cubicBezTo>
                      <a:pt x="68" y="50"/>
                      <a:pt x="74" y="44"/>
                      <a:pt x="74" y="37"/>
                    </a:cubicBezTo>
                    <a:cubicBezTo>
                      <a:pt x="74" y="31"/>
                      <a:pt x="70" y="26"/>
                      <a:pt x="64" y="25"/>
                    </a:cubicBezTo>
                    <a:cubicBezTo>
                      <a:pt x="64" y="20"/>
                      <a:pt x="64" y="20"/>
                      <a:pt x="64" y="20"/>
                    </a:cubicBezTo>
                    <a:cubicBezTo>
                      <a:pt x="90" y="20"/>
                      <a:pt x="90" y="20"/>
                      <a:pt x="90" y="20"/>
                    </a:cubicBezTo>
                    <a:cubicBezTo>
                      <a:pt x="90" y="25"/>
                      <a:pt x="90" y="25"/>
                      <a:pt x="90" y="25"/>
                    </a:cubicBezTo>
                    <a:cubicBezTo>
                      <a:pt x="85" y="26"/>
                      <a:pt x="80" y="31"/>
                      <a:pt x="80" y="37"/>
                    </a:cubicBezTo>
                    <a:cubicBezTo>
                      <a:pt x="80" y="44"/>
                      <a:pt x="86" y="50"/>
                      <a:pt x="93" y="50"/>
                    </a:cubicBezTo>
                    <a:cubicBezTo>
                      <a:pt x="100" y="50"/>
                      <a:pt x="105" y="44"/>
                      <a:pt x="105" y="37"/>
                    </a:cubicBezTo>
                    <a:cubicBezTo>
                      <a:pt x="105" y="31"/>
                      <a:pt x="101" y="26"/>
                      <a:pt x="96" y="25"/>
                    </a:cubicBezTo>
                    <a:cubicBezTo>
                      <a:pt x="96" y="20"/>
                      <a:pt x="96" y="20"/>
                      <a:pt x="96" y="20"/>
                    </a:cubicBezTo>
                    <a:cubicBezTo>
                      <a:pt x="122" y="20"/>
                      <a:pt x="122" y="20"/>
                      <a:pt x="122" y="20"/>
                    </a:cubicBezTo>
                    <a:cubicBezTo>
                      <a:pt x="122" y="25"/>
                      <a:pt x="122" y="25"/>
                      <a:pt x="122" y="25"/>
                    </a:cubicBezTo>
                    <a:cubicBezTo>
                      <a:pt x="116" y="26"/>
                      <a:pt x="112" y="31"/>
                      <a:pt x="112" y="37"/>
                    </a:cubicBezTo>
                    <a:cubicBezTo>
                      <a:pt x="112" y="44"/>
                      <a:pt x="117" y="50"/>
                      <a:pt x="124" y="50"/>
                    </a:cubicBezTo>
                    <a:cubicBezTo>
                      <a:pt x="131" y="50"/>
                      <a:pt x="137" y="44"/>
                      <a:pt x="137" y="37"/>
                    </a:cubicBezTo>
                    <a:cubicBezTo>
                      <a:pt x="137" y="31"/>
                      <a:pt x="133" y="26"/>
                      <a:pt x="127" y="25"/>
                    </a:cubicBezTo>
                    <a:cubicBezTo>
                      <a:pt x="127" y="20"/>
                      <a:pt x="127" y="20"/>
                      <a:pt x="127" y="20"/>
                    </a:cubicBezTo>
                    <a:cubicBezTo>
                      <a:pt x="141" y="20"/>
                      <a:pt x="141" y="20"/>
                      <a:pt x="141" y="20"/>
                    </a:cubicBezTo>
                    <a:lnTo>
                      <a:pt x="141" y="17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67" name="Freeform 6"/>
              <p:cNvSpPr/>
              <p:nvPr/>
            </p:nvSpPr>
            <p:spPr bwMode="auto">
              <a:xfrm>
                <a:off x="2820" y="2272"/>
                <a:ext cx="181" cy="12"/>
              </a:xfrm>
              <a:custGeom>
                <a:avLst/>
                <a:gdLst>
                  <a:gd name="T0" fmla="*/ 73 w 75"/>
                  <a:gd name="T1" fmla="*/ 0 h 5"/>
                  <a:gd name="T2" fmla="*/ 2 w 75"/>
                  <a:gd name="T3" fmla="*/ 0 h 5"/>
                  <a:gd name="T4" fmla="*/ 0 w 75"/>
                  <a:gd name="T5" fmla="*/ 3 h 5"/>
                  <a:gd name="T6" fmla="*/ 2 w 75"/>
                  <a:gd name="T7" fmla="*/ 5 h 5"/>
                  <a:gd name="T8" fmla="*/ 73 w 75"/>
                  <a:gd name="T9" fmla="*/ 5 h 5"/>
                  <a:gd name="T10" fmla="*/ 75 w 75"/>
                  <a:gd name="T11" fmla="*/ 3 h 5"/>
                  <a:gd name="T12" fmla="*/ 73 w 75"/>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75" h="5">
                    <a:moveTo>
                      <a:pt x="73" y="0"/>
                    </a:moveTo>
                    <a:cubicBezTo>
                      <a:pt x="2" y="0"/>
                      <a:pt x="2" y="0"/>
                      <a:pt x="2" y="0"/>
                    </a:cubicBezTo>
                    <a:cubicBezTo>
                      <a:pt x="1" y="0"/>
                      <a:pt x="0" y="1"/>
                      <a:pt x="0" y="3"/>
                    </a:cubicBezTo>
                    <a:cubicBezTo>
                      <a:pt x="0" y="4"/>
                      <a:pt x="1" y="5"/>
                      <a:pt x="2" y="5"/>
                    </a:cubicBezTo>
                    <a:cubicBezTo>
                      <a:pt x="73" y="5"/>
                      <a:pt x="73" y="5"/>
                      <a:pt x="73" y="5"/>
                    </a:cubicBezTo>
                    <a:cubicBezTo>
                      <a:pt x="74" y="5"/>
                      <a:pt x="75" y="4"/>
                      <a:pt x="75" y="3"/>
                    </a:cubicBezTo>
                    <a:cubicBezTo>
                      <a:pt x="75" y="1"/>
                      <a:pt x="74" y="0"/>
                      <a:pt x="7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68" name="Freeform 7"/>
              <p:cNvSpPr/>
              <p:nvPr/>
            </p:nvSpPr>
            <p:spPr bwMode="auto">
              <a:xfrm>
                <a:off x="2820" y="2190"/>
                <a:ext cx="181" cy="14"/>
              </a:xfrm>
              <a:custGeom>
                <a:avLst/>
                <a:gdLst>
                  <a:gd name="T0" fmla="*/ 73 w 75"/>
                  <a:gd name="T1" fmla="*/ 0 h 6"/>
                  <a:gd name="T2" fmla="*/ 2 w 75"/>
                  <a:gd name="T3" fmla="*/ 0 h 6"/>
                  <a:gd name="T4" fmla="*/ 0 w 75"/>
                  <a:gd name="T5" fmla="*/ 3 h 6"/>
                  <a:gd name="T6" fmla="*/ 2 w 75"/>
                  <a:gd name="T7" fmla="*/ 6 h 6"/>
                  <a:gd name="T8" fmla="*/ 73 w 75"/>
                  <a:gd name="T9" fmla="*/ 6 h 6"/>
                  <a:gd name="T10" fmla="*/ 75 w 75"/>
                  <a:gd name="T11" fmla="*/ 3 h 6"/>
                  <a:gd name="T12" fmla="*/ 73 w 75"/>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75" h="6">
                    <a:moveTo>
                      <a:pt x="73" y="0"/>
                    </a:moveTo>
                    <a:cubicBezTo>
                      <a:pt x="2" y="0"/>
                      <a:pt x="2" y="0"/>
                      <a:pt x="2" y="0"/>
                    </a:cubicBezTo>
                    <a:cubicBezTo>
                      <a:pt x="1" y="0"/>
                      <a:pt x="0" y="2"/>
                      <a:pt x="0" y="3"/>
                    </a:cubicBezTo>
                    <a:cubicBezTo>
                      <a:pt x="0" y="5"/>
                      <a:pt x="1" y="6"/>
                      <a:pt x="2" y="6"/>
                    </a:cubicBezTo>
                    <a:cubicBezTo>
                      <a:pt x="73" y="6"/>
                      <a:pt x="73" y="6"/>
                      <a:pt x="73" y="6"/>
                    </a:cubicBezTo>
                    <a:cubicBezTo>
                      <a:pt x="74" y="6"/>
                      <a:pt x="75" y="5"/>
                      <a:pt x="75" y="3"/>
                    </a:cubicBezTo>
                    <a:cubicBezTo>
                      <a:pt x="75" y="2"/>
                      <a:pt x="74" y="0"/>
                      <a:pt x="7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69" name="Freeform 8"/>
              <p:cNvSpPr/>
              <p:nvPr/>
            </p:nvSpPr>
            <p:spPr bwMode="auto">
              <a:xfrm>
                <a:off x="2820" y="2111"/>
                <a:ext cx="181" cy="12"/>
              </a:xfrm>
              <a:custGeom>
                <a:avLst/>
                <a:gdLst>
                  <a:gd name="T0" fmla="*/ 73 w 75"/>
                  <a:gd name="T1" fmla="*/ 0 h 5"/>
                  <a:gd name="T2" fmla="*/ 2 w 75"/>
                  <a:gd name="T3" fmla="*/ 0 h 5"/>
                  <a:gd name="T4" fmla="*/ 0 w 75"/>
                  <a:gd name="T5" fmla="*/ 3 h 5"/>
                  <a:gd name="T6" fmla="*/ 2 w 75"/>
                  <a:gd name="T7" fmla="*/ 5 h 5"/>
                  <a:gd name="T8" fmla="*/ 73 w 75"/>
                  <a:gd name="T9" fmla="*/ 5 h 5"/>
                  <a:gd name="T10" fmla="*/ 75 w 75"/>
                  <a:gd name="T11" fmla="*/ 3 h 5"/>
                  <a:gd name="T12" fmla="*/ 73 w 75"/>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75" h="5">
                    <a:moveTo>
                      <a:pt x="73" y="0"/>
                    </a:moveTo>
                    <a:cubicBezTo>
                      <a:pt x="2" y="0"/>
                      <a:pt x="2" y="0"/>
                      <a:pt x="2" y="0"/>
                    </a:cubicBezTo>
                    <a:cubicBezTo>
                      <a:pt x="1" y="0"/>
                      <a:pt x="0" y="1"/>
                      <a:pt x="0" y="3"/>
                    </a:cubicBezTo>
                    <a:cubicBezTo>
                      <a:pt x="0" y="4"/>
                      <a:pt x="1" y="5"/>
                      <a:pt x="2" y="5"/>
                    </a:cubicBezTo>
                    <a:cubicBezTo>
                      <a:pt x="73" y="5"/>
                      <a:pt x="73" y="5"/>
                      <a:pt x="73" y="5"/>
                    </a:cubicBezTo>
                    <a:cubicBezTo>
                      <a:pt x="74" y="5"/>
                      <a:pt x="75" y="4"/>
                      <a:pt x="75" y="3"/>
                    </a:cubicBezTo>
                    <a:cubicBezTo>
                      <a:pt x="75" y="1"/>
                      <a:pt x="74" y="0"/>
                      <a:pt x="7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70" name="Freeform 9"/>
              <p:cNvSpPr/>
              <p:nvPr/>
            </p:nvSpPr>
            <p:spPr bwMode="auto">
              <a:xfrm>
                <a:off x="2755" y="2096"/>
                <a:ext cx="41" cy="41"/>
              </a:xfrm>
              <a:custGeom>
                <a:avLst/>
                <a:gdLst>
                  <a:gd name="T0" fmla="*/ 15 w 17"/>
                  <a:gd name="T1" fmla="*/ 0 h 17"/>
                  <a:gd name="T2" fmla="*/ 3 w 17"/>
                  <a:gd name="T3" fmla="*/ 0 h 17"/>
                  <a:gd name="T4" fmla="*/ 0 w 17"/>
                  <a:gd name="T5" fmla="*/ 3 h 17"/>
                  <a:gd name="T6" fmla="*/ 0 w 17"/>
                  <a:gd name="T7" fmla="*/ 15 h 17"/>
                  <a:gd name="T8" fmla="*/ 3 w 17"/>
                  <a:gd name="T9" fmla="*/ 17 h 17"/>
                  <a:gd name="T10" fmla="*/ 15 w 17"/>
                  <a:gd name="T11" fmla="*/ 17 h 17"/>
                  <a:gd name="T12" fmla="*/ 17 w 17"/>
                  <a:gd name="T13" fmla="*/ 15 h 17"/>
                  <a:gd name="T14" fmla="*/ 17 w 17"/>
                  <a:gd name="T15" fmla="*/ 3 h 17"/>
                  <a:gd name="T16" fmla="*/ 15 w 17"/>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7">
                    <a:moveTo>
                      <a:pt x="15" y="0"/>
                    </a:moveTo>
                    <a:cubicBezTo>
                      <a:pt x="3" y="0"/>
                      <a:pt x="3" y="0"/>
                      <a:pt x="3" y="0"/>
                    </a:cubicBezTo>
                    <a:cubicBezTo>
                      <a:pt x="1" y="0"/>
                      <a:pt x="0" y="1"/>
                      <a:pt x="0" y="3"/>
                    </a:cubicBezTo>
                    <a:cubicBezTo>
                      <a:pt x="0" y="15"/>
                      <a:pt x="0" y="15"/>
                      <a:pt x="0" y="15"/>
                    </a:cubicBezTo>
                    <a:cubicBezTo>
                      <a:pt x="0" y="16"/>
                      <a:pt x="1" y="17"/>
                      <a:pt x="3" y="17"/>
                    </a:cubicBezTo>
                    <a:cubicBezTo>
                      <a:pt x="15" y="17"/>
                      <a:pt x="15" y="17"/>
                      <a:pt x="15" y="17"/>
                    </a:cubicBezTo>
                    <a:cubicBezTo>
                      <a:pt x="16" y="17"/>
                      <a:pt x="17" y="16"/>
                      <a:pt x="17" y="15"/>
                    </a:cubicBezTo>
                    <a:cubicBezTo>
                      <a:pt x="17" y="3"/>
                      <a:pt x="17" y="3"/>
                      <a:pt x="17" y="3"/>
                    </a:cubicBezTo>
                    <a:cubicBezTo>
                      <a:pt x="17" y="1"/>
                      <a:pt x="16" y="0"/>
                      <a:pt x="1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71" name="Freeform 10"/>
              <p:cNvSpPr/>
              <p:nvPr/>
            </p:nvSpPr>
            <p:spPr bwMode="auto">
              <a:xfrm>
                <a:off x="2755" y="2176"/>
                <a:ext cx="41" cy="43"/>
              </a:xfrm>
              <a:custGeom>
                <a:avLst/>
                <a:gdLst>
                  <a:gd name="T0" fmla="*/ 15 w 17"/>
                  <a:gd name="T1" fmla="*/ 0 h 18"/>
                  <a:gd name="T2" fmla="*/ 3 w 17"/>
                  <a:gd name="T3" fmla="*/ 0 h 18"/>
                  <a:gd name="T4" fmla="*/ 0 w 17"/>
                  <a:gd name="T5" fmla="*/ 3 h 18"/>
                  <a:gd name="T6" fmla="*/ 0 w 17"/>
                  <a:gd name="T7" fmla="*/ 15 h 18"/>
                  <a:gd name="T8" fmla="*/ 3 w 17"/>
                  <a:gd name="T9" fmla="*/ 18 h 18"/>
                  <a:gd name="T10" fmla="*/ 15 w 17"/>
                  <a:gd name="T11" fmla="*/ 18 h 18"/>
                  <a:gd name="T12" fmla="*/ 17 w 17"/>
                  <a:gd name="T13" fmla="*/ 15 h 18"/>
                  <a:gd name="T14" fmla="*/ 17 w 17"/>
                  <a:gd name="T15" fmla="*/ 3 h 18"/>
                  <a:gd name="T16" fmla="*/ 15 w 17"/>
                  <a:gd name="T17"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8">
                    <a:moveTo>
                      <a:pt x="15" y="0"/>
                    </a:moveTo>
                    <a:cubicBezTo>
                      <a:pt x="3" y="0"/>
                      <a:pt x="3" y="0"/>
                      <a:pt x="3" y="0"/>
                    </a:cubicBezTo>
                    <a:cubicBezTo>
                      <a:pt x="1" y="0"/>
                      <a:pt x="0" y="2"/>
                      <a:pt x="0" y="3"/>
                    </a:cubicBezTo>
                    <a:cubicBezTo>
                      <a:pt x="0" y="15"/>
                      <a:pt x="0" y="15"/>
                      <a:pt x="0" y="15"/>
                    </a:cubicBezTo>
                    <a:cubicBezTo>
                      <a:pt x="0" y="17"/>
                      <a:pt x="1" y="18"/>
                      <a:pt x="3" y="18"/>
                    </a:cubicBezTo>
                    <a:cubicBezTo>
                      <a:pt x="15" y="18"/>
                      <a:pt x="15" y="18"/>
                      <a:pt x="15" y="18"/>
                    </a:cubicBezTo>
                    <a:cubicBezTo>
                      <a:pt x="16" y="18"/>
                      <a:pt x="17" y="17"/>
                      <a:pt x="17" y="15"/>
                    </a:cubicBezTo>
                    <a:cubicBezTo>
                      <a:pt x="17" y="3"/>
                      <a:pt x="17" y="3"/>
                      <a:pt x="17" y="3"/>
                    </a:cubicBezTo>
                    <a:cubicBezTo>
                      <a:pt x="17" y="2"/>
                      <a:pt x="16" y="0"/>
                      <a:pt x="1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72" name="Freeform 11"/>
              <p:cNvSpPr/>
              <p:nvPr/>
            </p:nvSpPr>
            <p:spPr bwMode="auto">
              <a:xfrm>
                <a:off x="2755" y="2257"/>
                <a:ext cx="41" cy="41"/>
              </a:xfrm>
              <a:custGeom>
                <a:avLst/>
                <a:gdLst>
                  <a:gd name="T0" fmla="*/ 15 w 17"/>
                  <a:gd name="T1" fmla="*/ 0 h 17"/>
                  <a:gd name="T2" fmla="*/ 3 w 17"/>
                  <a:gd name="T3" fmla="*/ 0 h 17"/>
                  <a:gd name="T4" fmla="*/ 0 w 17"/>
                  <a:gd name="T5" fmla="*/ 3 h 17"/>
                  <a:gd name="T6" fmla="*/ 0 w 17"/>
                  <a:gd name="T7" fmla="*/ 15 h 17"/>
                  <a:gd name="T8" fmla="*/ 3 w 17"/>
                  <a:gd name="T9" fmla="*/ 17 h 17"/>
                  <a:gd name="T10" fmla="*/ 15 w 17"/>
                  <a:gd name="T11" fmla="*/ 17 h 17"/>
                  <a:gd name="T12" fmla="*/ 17 w 17"/>
                  <a:gd name="T13" fmla="*/ 15 h 17"/>
                  <a:gd name="T14" fmla="*/ 17 w 17"/>
                  <a:gd name="T15" fmla="*/ 3 h 17"/>
                  <a:gd name="T16" fmla="*/ 15 w 17"/>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7">
                    <a:moveTo>
                      <a:pt x="15" y="0"/>
                    </a:moveTo>
                    <a:cubicBezTo>
                      <a:pt x="3" y="0"/>
                      <a:pt x="3" y="0"/>
                      <a:pt x="3" y="0"/>
                    </a:cubicBezTo>
                    <a:cubicBezTo>
                      <a:pt x="1" y="0"/>
                      <a:pt x="0" y="1"/>
                      <a:pt x="0" y="3"/>
                    </a:cubicBezTo>
                    <a:cubicBezTo>
                      <a:pt x="0" y="15"/>
                      <a:pt x="0" y="15"/>
                      <a:pt x="0" y="15"/>
                    </a:cubicBezTo>
                    <a:cubicBezTo>
                      <a:pt x="0" y="16"/>
                      <a:pt x="1" y="17"/>
                      <a:pt x="3" y="17"/>
                    </a:cubicBezTo>
                    <a:cubicBezTo>
                      <a:pt x="15" y="17"/>
                      <a:pt x="15" y="17"/>
                      <a:pt x="15" y="17"/>
                    </a:cubicBezTo>
                    <a:cubicBezTo>
                      <a:pt x="16" y="17"/>
                      <a:pt x="17" y="16"/>
                      <a:pt x="17" y="15"/>
                    </a:cubicBezTo>
                    <a:cubicBezTo>
                      <a:pt x="17" y="3"/>
                      <a:pt x="17" y="3"/>
                      <a:pt x="17" y="3"/>
                    </a:cubicBezTo>
                    <a:cubicBezTo>
                      <a:pt x="17" y="1"/>
                      <a:pt x="16" y="0"/>
                      <a:pt x="1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grpSp>
      <p:grpSp>
        <p:nvGrpSpPr>
          <p:cNvPr id="73" name="组合 72"/>
          <p:cNvGrpSpPr/>
          <p:nvPr/>
        </p:nvGrpSpPr>
        <p:grpSpPr>
          <a:xfrm>
            <a:off x="9858482" y="3379847"/>
            <a:ext cx="999564" cy="1001763"/>
            <a:chOff x="3437020" y="5246272"/>
            <a:chExt cx="863676" cy="865576"/>
          </a:xfrm>
        </p:grpSpPr>
        <p:sp>
          <p:nvSpPr>
            <p:cNvPr id="74" name="椭圆 21"/>
            <p:cNvSpPr>
              <a:spLocks noChangeArrowheads="1"/>
            </p:cNvSpPr>
            <p:nvPr/>
          </p:nvSpPr>
          <p:spPr bwMode="auto">
            <a:xfrm>
              <a:off x="3437020" y="5246272"/>
              <a:ext cx="863676" cy="865576"/>
            </a:xfrm>
            <a:prstGeom prst="ellipse">
              <a:avLst/>
            </a:prstGeom>
            <a:solidFill>
              <a:srgbClr val="990100"/>
            </a:solidFill>
            <a:ln w="38100">
              <a:solidFill>
                <a:schemeClr val="bg1">
                  <a:lumMod val="75000"/>
                </a:schemeClr>
              </a:solidFill>
              <a:miter lim="800000"/>
            </a:ln>
          </p:spPr>
          <p:txBody>
            <a:bodyPr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75" name="Freeform 9"/>
            <p:cNvSpPr>
              <a:spLocks noEditPoints="1"/>
            </p:cNvSpPr>
            <p:nvPr/>
          </p:nvSpPr>
          <p:spPr bwMode="auto">
            <a:xfrm>
              <a:off x="3564624" y="5446833"/>
              <a:ext cx="605440" cy="464249"/>
            </a:xfrm>
            <a:custGeom>
              <a:avLst/>
              <a:gdLst>
                <a:gd name="T0" fmla="*/ 16 w 104"/>
                <a:gd name="T1" fmla="*/ 2 h 79"/>
                <a:gd name="T2" fmla="*/ 27 w 104"/>
                <a:gd name="T3" fmla="*/ 4 h 79"/>
                <a:gd name="T4" fmla="*/ 19 w 104"/>
                <a:gd name="T5" fmla="*/ 48 h 79"/>
                <a:gd name="T6" fmla="*/ 4 w 104"/>
                <a:gd name="T7" fmla="*/ 45 h 79"/>
                <a:gd name="T8" fmla="*/ 16 w 104"/>
                <a:gd name="T9" fmla="*/ 2 h 79"/>
                <a:gd name="T10" fmla="*/ 18 w 104"/>
                <a:gd name="T11" fmla="*/ 65 h 79"/>
                <a:gd name="T12" fmla="*/ 16 w 104"/>
                <a:gd name="T13" fmla="*/ 72 h 79"/>
                <a:gd name="T14" fmla="*/ 101 w 104"/>
                <a:gd name="T15" fmla="*/ 72 h 79"/>
                <a:gd name="T16" fmla="*/ 104 w 104"/>
                <a:gd name="T17" fmla="*/ 72 h 79"/>
                <a:gd name="T18" fmla="*/ 104 w 104"/>
                <a:gd name="T19" fmla="*/ 68 h 79"/>
                <a:gd name="T20" fmla="*/ 104 w 104"/>
                <a:gd name="T21" fmla="*/ 26 h 79"/>
                <a:gd name="T22" fmla="*/ 104 w 104"/>
                <a:gd name="T23" fmla="*/ 24 h 79"/>
                <a:gd name="T24" fmla="*/ 103 w 104"/>
                <a:gd name="T25" fmla="*/ 23 h 79"/>
                <a:gd name="T26" fmla="*/ 90 w 104"/>
                <a:gd name="T27" fmla="*/ 10 h 79"/>
                <a:gd name="T28" fmla="*/ 89 w 104"/>
                <a:gd name="T29" fmla="*/ 9 h 79"/>
                <a:gd name="T30" fmla="*/ 87 w 104"/>
                <a:gd name="T31" fmla="*/ 9 h 79"/>
                <a:gd name="T32" fmla="*/ 31 w 104"/>
                <a:gd name="T33" fmla="*/ 9 h 79"/>
                <a:gd name="T34" fmla="*/ 31 w 104"/>
                <a:gd name="T35" fmla="*/ 17 h 79"/>
                <a:gd name="T36" fmla="*/ 84 w 104"/>
                <a:gd name="T37" fmla="*/ 17 h 79"/>
                <a:gd name="T38" fmla="*/ 83 w 104"/>
                <a:gd name="T39" fmla="*/ 28 h 79"/>
                <a:gd name="T40" fmla="*/ 83 w 104"/>
                <a:gd name="T41" fmla="*/ 30 h 79"/>
                <a:gd name="T42" fmla="*/ 85 w 104"/>
                <a:gd name="T43" fmla="*/ 30 h 79"/>
                <a:gd name="T44" fmla="*/ 97 w 104"/>
                <a:gd name="T45" fmla="*/ 29 h 79"/>
                <a:gd name="T46" fmla="*/ 97 w 104"/>
                <a:gd name="T47" fmla="*/ 65 h 79"/>
                <a:gd name="T48" fmla="*/ 18 w 104"/>
                <a:gd name="T49" fmla="*/ 65 h 79"/>
                <a:gd name="T50" fmla="*/ 95 w 104"/>
                <a:gd name="T51" fmla="*/ 26 h 79"/>
                <a:gd name="T52" fmla="*/ 86 w 104"/>
                <a:gd name="T53" fmla="*/ 26 h 79"/>
                <a:gd name="T54" fmla="*/ 87 w 104"/>
                <a:gd name="T55" fmla="*/ 18 h 79"/>
                <a:gd name="T56" fmla="*/ 95 w 104"/>
                <a:gd name="T57" fmla="*/ 26 h 79"/>
                <a:gd name="T58" fmla="*/ 32 w 104"/>
                <a:gd name="T59" fmla="*/ 43 h 79"/>
                <a:gd name="T60" fmla="*/ 74 w 104"/>
                <a:gd name="T61" fmla="*/ 43 h 79"/>
                <a:gd name="T62" fmla="*/ 74 w 104"/>
                <a:gd name="T63" fmla="*/ 45 h 79"/>
                <a:gd name="T64" fmla="*/ 32 w 104"/>
                <a:gd name="T65" fmla="*/ 45 h 79"/>
                <a:gd name="T66" fmla="*/ 32 w 104"/>
                <a:gd name="T67" fmla="*/ 43 h 79"/>
                <a:gd name="T68" fmla="*/ 32 w 104"/>
                <a:gd name="T69" fmla="*/ 32 h 79"/>
                <a:gd name="T70" fmla="*/ 71 w 104"/>
                <a:gd name="T71" fmla="*/ 32 h 79"/>
                <a:gd name="T72" fmla="*/ 71 w 104"/>
                <a:gd name="T73" fmla="*/ 35 h 79"/>
                <a:gd name="T74" fmla="*/ 32 w 104"/>
                <a:gd name="T75" fmla="*/ 35 h 79"/>
                <a:gd name="T76" fmla="*/ 32 w 104"/>
                <a:gd name="T77" fmla="*/ 32 h 79"/>
                <a:gd name="T78" fmla="*/ 32 w 104"/>
                <a:gd name="T79" fmla="*/ 22 h 79"/>
                <a:gd name="T80" fmla="*/ 71 w 104"/>
                <a:gd name="T81" fmla="*/ 22 h 79"/>
                <a:gd name="T82" fmla="*/ 71 w 104"/>
                <a:gd name="T83" fmla="*/ 25 h 79"/>
                <a:gd name="T84" fmla="*/ 32 w 104"/>
                <a:gd name="T85" fmla="*/ 25 h 79"/>
                <a:gd name="T86" fmla="*/ 32 w 104"/>
                <a:gd name="T87" fmla="*/ 22 h 79"/>
                <a:gd name="T88" fmla="*/ 3 w 104"/>
                <a:gd name="T89" fmla="*/ 66 h 79"/>
                <a:gd name="T90" fmla="*/ 9 w 104"/>
                <a:gd name="T91" fmla="*/ 68 h 79"/>
                <a:gd name="T92" fmla="*/ 9 w 104"/>
                <a:gd name="T93" fmla="*/ 74 h 79"/>
                <a:gd name="T94" fmla="*/ 5 w 104"/>
                <a:gd name="T95" fmla="*/ 79 h 79"/>
                <a:gd name="T96" fmla="*/ 2 w 104"/>
                <a:gd name="T97" fmla="*/ 78 h 79"/>
                <a:gd name="T98" fmla="*/ 0 w 104"/>
                <a:gd name="T99" fmla="*/ 72 h 79"/>
                <a:gd name="T100" fmla="*/ 3 w 104"/>
                <a:gd name="T101" fmla="*/ 66 h 79"/>
                <a:gd name="T102" fmla="*/ 4 w 104"/>
                <a:gd name="T103" fmla="*/ 48 h 79"/>
                <a:gd name="T104" fmla="*/ 2 w 104"/>
                <a:gd name="T105" fmla="*/ 65 h 79"/>
                <a:gd name="T106" fmla="*/ 12 w 104"/>
                <a:gd name="T107" fmla="*/ 67 h 79"/>
                <a:gd name="T108" fmla="*/ 17 w 104"/>
                <a:gd name="T109" fmla="*/ 51 h 79"/>
                <a:gd name="T110" fmla="*/ 4 w 104"/>
                <a:gd name="T111" fmla="*/ 48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04" h="79">
                  <a:moveTo>
                    <a:pt x="16" y="2"/>
                  </a:moveTo>
                  <a:cubicBezTo>
                    <a:pt x="21" y="0"/>
                    <a:pt x="24" y="1"/>
                    <a:pt x="27" y="4"/>
                  </a:cubicBezTo>
                  <a:cubicBezTo>
                    <a:pt x="26" y="20"/>
                    <a:pt x="23" y="35"/>
                    <a:pt x="19" y="48"/>
                  </a:cubicBezTo>
                  <a:cubicBezTo>
                    <a:pt x="14" y="47"/>
                    <a:pt x="9" y="46"/>
                    <a:pt x="4" y="45"/>
                  </a:cubicBezTo>
                  <a:cubicBezTo>
                    <a:pt x="6" y="29"/>
                    <a:pt x="10" y="15"/>
                    <a:pt x="16" y="2"/>
                  </a:cubicBezTo>
                  <a:close/>
                  <a:moveTo>
                    <a:pt x="18" y="65"/>
                  </a:moveTo>
                  <a:cubicBezTo>
                    <a:pt x="16" y="72"/>
                    <a:pt x="16" y="72"/>
                    <a:pt x="16" y="72"/>
                  </a:cubicBezTo>
                  <a:cubicBezTo>
                    <a:pt x="69" y="72"/>
                    <a:pt x="74" y="72"/>
                    <a:pt x="101" y="72"/>
                  </a:cubicBezTo>
                  <a:cubicBezTo>
                    <a:pt x="104" y="72"/>
                    <a:pt x="104" y="72"/>
                    <a:pt x="104" y="72"/>
                  </a:cubicBezTo>
                  <a:cubicBezTo>
                    <a:pt x="104" y="68"/>
                    <a:pt x="104" y="68"/>
                    <a:pt x="104" y="68"/>
                  </a:cubicBezTo>
                  <a:cubicBezTo>
                    <a:pt x="104" y="26"/>
                    <a:pt x="104" y="26"/>
                    <a:pt x="104" y="26"/>
                  </a:cubicBezTo>
                  <a:cubicBezTo>
                    <a:pt x="104" y="24"/>
                    <a:pt x="104" y="24"/>
                    <a:pt x="104" y="24"/>
                  </a:cubicBezTo>
                  <a:cubicBezTo>
                    <a:pt x="103" y="23"/>
                    <a:pt x="103" y="23"/>
                    <a:pt x="103" y="23"/>
                  </a:cubicBezTo>
                  <a:cubicBezTo>
                    <a:pt x="90" y="10"/>
                    <a:pt x="90" y="10"/>
                    <a:pt x="90" y="10"/>
                  </a:cubicBezTo>
                  <a:cubicBezTo>
                    <a:pt x="89" y="9"/>
                    <a:pt x="89" y="9"/>
                    <a:pt x="89" y="9"/>
                  </a:cubicBezTo>
                  <a:cubicBezTo>
                    <a:pt x="87" y="9"/>
                    <a:pt x="87" y="9"/>
                    <a:pt x="87" y="9"/>
                  </a:cubicBezTo>
                  <a:cubicBezTo>
                    <a:pt x="31" y="9"/>
                    <a:pt x="31" y="9"/>
                    <a:pt x="31" y="9"/>
                  </a:cubicBezTo>
                  <a:cubicBezTo>
                    <a:pt x="31" y="12"/>
                    <a:pt x="31" y="14"/>
                    <a:pt x="31" y="17"/>
                  </a:cubicBezTo>
                  <a:cubicBezTo>
                    <a:pt x="84" y="17"/>
                    <a:pt x="84" y="17"/>
                    <a:pt x="84" y="17"/>
                  </a:cubicBezTo>
                  <a:cubicBezTo>
                    <a:pt x="83" y="28"/>
                    <a:pt x="83" y="28"/>
                    <a:pt x="83" y="28"/>
                  </a:cubicBezTo>
                  <a:cubicBezTo>
                    <a:pt x="83" y="30"/>
                    <a:pt x="83" y="30"/>
                    <a:pt x="83" y="30"/>
                  </a:cubicBezTo>
                  <a:cubicBezTo>
                    <a:pt x="85" y="30"/>
                    <a:pt x="85" y="30"/>
                    <a:pt x="85" y="30"/>
                  </a:cubicBezTo>
                  <a:cubicBezTo>
                    <a:pt x="97" y="29"/>
                    <a:pt x="97" y="29"/>
                    <a:pt x="97" y="29"/>
                  </a:cubicBezTo>
                  <a:cubicBezTo>
                    <a:pt x="97" y="65"/>
                    <a:pt x="97" y="65"/>
                    <a:pt x="97" y="65"/>
                  </a:cubicBezTo>
                  <a:cubicBezTo>
                    <a:pt x="79" y="65"/>
                    <a:pt x="57" y="65"/>
                    <a:pt x="18" y="65"/>
                  </a:cubicBezTo>
                  <a:close/>
                  <a:moveTo>
                    <a:pt x="95" y="26"/>
                  </a:moveTo>
                  <a:cubicBezTo>
                    <a:pt x="86" y="26"/>
                    <a:pt x="86" y="26"/>
                    <a:pt x="86" y="26"/>
                  </a:cubicBezTo>
                  <a:cubicBezTo>
                    <a:pt x="87" y="18"/>
                    <a:pt x="87" y="18"/>
                    <a:pt x="87" y="18"/>
                  </a:cubicBezTo>
                  <a:cubicBezTo>
                    <a:pt x="95" y="26"/>
                    <a:pt x="95" y="26"/>
                    <a:pt x="95" y="26"/>
                  </a:cubicBezTo>
                  <a:close/>
                  <a:moveTo>
                    <a:pt x="32" y="43"/>
                  </a:moveTo>
                  <a:cubicBezTo>
                    <a:pt x="74" y="43"/>
                    <a:pt x="74" y="43"/>
                    <a:pt x="74" y="43"/>
                  </a:cubicBezTo>
                  <a:cubicBezTo>
                    <a:pt x="74" y="45"/>
                    <a:pt x="74" y="45"/>
                    <a:pt x="74" y="45"/>
                  </a:cubicBezTo>
                  <a:cubicBezTo>
                    <a:pt x="32" y="45"/>
                    <a:pt x="32" y="45"/>
                    <a:pt x="32" y="45"/>
                  </a:cubicBezTo>
                  <a:cubicBezTo>
                    <a:pt x="32" y="43"/>
                    <a:pt x="32" y="43"/>
                    <a:pt x="32" y="43"/>
                  </a:cubicBezTo>
                  <a:close/>
                  <a:moveTo>
                    <a:pt x="32" y="32"/>
                  </a:moveTo>
                  <a:cubicBezTo>
                    <a:pt x="71" y="32"/>
                    <a:pt x="71" y="32"/>
                    <a:pt x="71" y="32"/>
                  </a:cubicBezTo>
                  <a:cubicBezTo>
                    <a:pt x="71" y="35"/>
                    <a:pt x="71" y="35"/>
                    <a:pt x="71" y="35"/>
                  </a:cubicBezTo>
                  <a:cubicBezTo>
                    <a:pt x="32" y="35"/>
                    <a:pt x="32" y="35"/>
                    <a:pt x="32" y="35"/>
                  </a:cubicBezTo>
                  <a:cubicBezTo>
                    <a:pt x="32" y="32"/>
                    <a:pt x="32" y="32"/>
                    <a:pt x="32" y="32"/>
                  </a:cubicBezTo>
                  <a:close/>
                  <a:moveTo>
                    <a:pt x="32" y="22"/>
                  </a:moveTo>
                  <a:cubicBezTo>
                    <a:pt x="71" y="22"/>
                    <a:pt x="71" y="22"/>
                    <a:pt x="71" y="22"/>
                  </a:cubicBezTo>
                  <a:cubicBezTo>
                    <a:pt x="71" y="25"/>
                    <a:pt x="71" y="25"/>
                    <a:pt x="71" y="25"/>
                  </a:cubicBezTo>
                  <a:cubicBezTo>
                    <a:pt x="32" y="25"/>
                    <a:pt x="32" y="25"/>
                    <a:pt x="32" y="25"/>
                  </a:cubicBezTo>
                  <a:cubicBezTo>
                    <a:pt x="32" y="22"/>
                    <a:pt x="32" y="22"/>
                    <a:pt x="32" y="22"/>
                  </a:cubicBezTo>
                  <a:close/>
                  <a:moveTo>
                    <a:pt x="3" y="66"/>
                  </a:moveTo>
                  <a:cubicBezTo>
                    <a:pt x="9" y="68"/>
                    <a:pt x="9" y="68"/>
                    <a:pt x="9" y="68"/>
                  </a:cubicBezTo>
                  <a:cubicBezTo>
                    <a:pt x="9" y="74"/>
                    <a:pt x="9" y="74"/>
                    <a:pt x="9" y="74"/>
                  </a:cubicBezTo>
                  <a:cubicBezTo>
                    <a:pt x="5" y="79"/>
                    <a:pt x="5" y="79"/>
                    <a:pt x="5" y="79"/>
                  </a:cubicBezTo>
                  <a:cubicBezTo>
                    <a:pt x="4" y="79"/>
                    <a:pt x="3" y="79"/>
                    <a:pt x="2" y="78"/>
                  </a:cubicBezTo>
                  <a:cubicBezTo>
                    <a:pt x="0" y="72"/>
                    <a:pt x="0" y="72"/>
                    <a:pt x="0" y="72"/>
                  </a:cubicBezTo>
                  <a:cubicBezTo>
                    <a:pt x="3" y="66"/>
                    <a:pt x="3" y="66"/>
                    <a:pt x="3" y="66"/>
                  </a:cubicBezTo>
                  <a:close/>
                  <a:moveTo>
                    <a:pt x="4" y="48"/>
                  </a:moveTo>
                  <a:cubicBezTo>
                    <a:pt x="3" y="53"/>
                    <a:pt x="3" y="59"/>
                    <a:pt x="2" y="65"/>
                  </a:cubicBezTo>
                  <a:cubicBezTo>
                    <a:pt x="5" y="65"/>
                    <a:pt x="9" y="66"/>
                    <a:pt x="12" y="67"/>
                  </a:cubicBezTo>
                  <a:cubicBezTo>
                    <a:pt x="14" y="61"/>
                    <a:pt x="15" y="56"/>
                    <a:pt x="17" y="51"/>
                  </a:cubicBezTo>
                  <a:cubicBezTo>
                    <a:pt x="13" y="50"/>
                    <a:pt x="9" y="49"/>
                    <a:pt x="4" y="48"/>
                  </a:cubicBezTo>
                  <a:close/>
                </a:path>
              </a:pathLst>
            </a:custGeom>
            <a:solidFill>
              <a:schemeClr val="bg1"/>
            </a:solidFill>
            <a:ln>
              <a:noFill/>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pic>
        <p:nvPicPr>
          <p:cNvPr id="3" name="图片 2" descr="logo红"/>
          <p:cNvPicPr>
            <a:picLocks noChangeAspect="1"/>
          </p:cNvPicPr>
          <p:nvPr/>
        </p:nvPicPr>
        <p:blipFill>
          <a:blip r:embed="rId3"/>
          <a:stretch>
            <a:fillRect/>
          </a:stretch>
        </p:blipFill>
        <p:spPr>
          <a:xfrm>
            <a:off x="8033385" y="297815"/>
            <a:ext cx="3755390" cy="4946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梯形 36"/>
          <p:cNvSpPr/>
          <p:nvPr/>
        </p:nvSpPr>
        <p:spPr>
          <a:xfrm rot="5400000">
            <a:off x="1331640" y="636804"/>
            <a:ext cx="2344067" cy="5007345"/>
          </a:xfrm>
          <a:prstGeom prst="trapezoid">
            <a:avLst>
              <a:gd name="adj" fmla="val 17865"/>
            </a:avLst>
          </a:prstGeom>
          <a:solidFill>
            <a:schemeClr val="bg1">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35" name="梯形 34"/>
          <p:cNvSpPr/>
          <p:nvPr/>
        </p:nvSpPr>
        <p:spPr>
          <a:xfrm rot="16200000">
            <a:off x="7446198" y="-451317"/>
            <a:ext cx="2291737" cy="7199871"/>
          </a:xfrm>
          <a:prstGeom prst="trapezoid">
            <a:avLst>
              <a:gd name="adj" fmla="val 16935"/>
            </a:avLst>
          </a:prstGeom>
          <a:solidFill>
            <a:srgbClr val="99010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7" name="文本框 2"/>
          <p:cNvSpPr txBox="1"/>
          <p:nvPr/>
        </p:nvSpPr>
        <p:spPr>
          <a:xfrm>
            <a:off x="3729079" y="2556165"/>
            <a:ext cx="1164101" cy="1200329"/>
          </a:xfrm>
          <a:prstGeom prst="rect">
            <a:avLst/>
          </a:prstGeom>
          <a:noFill/>
        </p:spPr>
        <p:txBody>
          <a:bodyPr wrap="none" lIns="91440" tIns="45720" rIns="91440" bIns="4572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Part</a:t>
            </a:r>
            <a:r>
              <a:rPr kumimoji="0" lang="en-US" altLang="zh-CN"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1</a:t>
            </a:r>
            <a:endParaRPr kumimoji="0" lang="zh-CN" altLang="en-US"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29" name="矩形 28"/>
          <p:cNvSpPr/>
          <p:nvPr/>
        </p:nvSpPr>
        <p:spPr>
          <a:xfrm>
            <a:off x="5638798" y="2692405"/>
            <a:ext cx="4450080" cy="829945"/>
          </a:xfrm>
          <a:prstGeom prst="rect">
            <a:avLst/>
          </a:prstGeom>
        </p:spPr>
        <p:txBody>
          <a:bodyPr wrap="none" lIns="91440" tIns="45720" rIns="91440" bIns="45720">
            <a:spAutoFit/>
          </a:bodyPr>
          <a:lstStyle/>
          <a:p>
            <a:pPr marL="0" marR="0" lvl="0" algn="l" defTabSz="457200" rtl="0" eaLnBrk="1" fontAlgn="auto" latinLnBrk="0" hangingPunct="1">
              <a:lnSpc>
                <a:spcPct val="100000"/>
              </a:lnSpc>
              <a:spcBef>
                <a:spcPts val="0"/>
              </a:spcBef>
              <a:spcAft>
                <a:spcPts val="0"/>
              </a:spcAft>
              <a:buClrTx/>
              <a:buSzTx/>
              <a:buFontTx/>
              <a:buNone/>
              <a:defRPr/>
            </a:pPr>
            <a:r>
              <a:rPr lang="zh-CN" altLang="en-US" sz="4800" b="1" noProof="0" dirty="0">
                <a:ln>
                  <a:noFill/>
                </a:ln>
                <a:solidFill>
                  <a:prstClr val="white"/>
                </a:solidFill>
                <a:effectLst/>
                <a:uLnTx/>
                <a:uFillTx/>
                <a:latin typeface="Arial" panose="020B0604020202020204"/>
                <a:ea typeface="微软雅黑" panose="020B0503020204020204" pitchFamily="34" charset="-122"/>
                <a:sym typeface="微软雅黑" panose="020B0503020204020204" pitchFamily="34" charset="-122"/>
              </a:rPr>
              <a:t>选题背景与意义</a:t>
            </a:r>
            <a:endParaRPr kumimoji="0" lang="zh-CN" altLang="en-US" sz="48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pic>
        <p:nvPicPr>
          <p:cNvPr id="16" name="图片 1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22989" y="1235242"/>
            <a:ext cx="3251090" cy="326475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 name="组合 99"/>
          <p:cNvGrpSpPr/>
          <p:nvPr/>
        </p:nvGrpSpPr>
        <p:grpSpPr>
          <a:xfrm>
            <a:off x="6370955" y="3311525"/>
            <a:ext cx="4184650" cy="1228090"/>
            <a:chOff x="789157" y="3505487"/>
            <a:chExt cx="2584403" cy="867047"/>
          </a:xfrm>
        </p:grpSpPr>
        <p:sp>
          <p:nvSpPr>
            <p:cNvPr id="101" name="TextBox 100"/>
            <p:cNvSpPr txBox="1"/>
            <p:nvPr/>
          </p:nvSpPr>
          <p:spPr>
            <a:xfrm>
              <a:off x="789157" y="3505487"/>
              <a:ext cx="1769591" cy="49897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2000" b="1" noProof="0" dirty="0">
                  <a:ln>
                    <a:noFill/>
                  </a:ln>
                  <a:solidFill>
                    <a:srgbClr val="990100"/>
                  </a:solidFill>
                  <a:effectLst/>
                  <a:uLnTx/>
                  <a:uFillTx/>
                  <a:latin typeface="微软雅黑" panose="020B0503020204020204" pitchFamily="34" charset="-122"/>
                  <a:ea typeface="微软雅黑" panose="020B0503020204020204" pitchFamily="34" charset="-122"/>
                  <a:sym typeface="+mn-ea"/>
                </a:rPr>
                <a:t>痛点二</a:t>
              </a:r>
              <a:r>
                <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：缺乏个性化</a:t>
              </a:r>
              <a:endParaRPr kumimoji="0" lang="zh-CN" altLang="en-US" sz="20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102" name="矩形 101"/>
            <p:cNvSpPr/>
            <p:nvPr/>
          </p:nvSpPr>
          <p:spPr>
            <a:xfrm>
              <a:off x="812687" y="3800480"/>
              <a:ext cx="2560873" cy="572054"/>
            </a:xfrm>
            <a:prstGeom prst="rect">
              <a:avLst/>
            </a:prstGeom>
          </p:spPr>
          <p:txBody>
            <a:bodyPr wrap="square">
              <a:spAutoFit/>
            </a:bodyPr>
            <a:lstStyle/>
            <a:p>
              <a:pPr marL="285750" marR="0" lvl="0" indent="-285750" algn="l" defTabSz="457200" rtl="0" eaLnBrk="1" fontAlgn="auto" latinLnBrk="0" hangingPunct="1">
                <a:lnSpc>
                  <a:spcPts val="2805"/>
                </a:lnSpc>
                <a:spcBef>
                  <a:spcPts val="0"/>
                </a:spcBef>
                <a:spcAft>
                  <a:spcPts val="0"/>
                </a:spcAft>
                <a:buClrTx/>
                <a:buSzTx/>
                <a:buFont typeface="Wingdings" panose="05000000000000000000" charset="0"/>
                <a:buChar char="l"/>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传统方法忽略了学生的个性化行为差异</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457200" rtl="0" eaLnBrk="1" fontAlgn="auto" latinLnBrk="0" hangingPunct="1">
                <a:lnSpc>
                  <a:spcPts val="2805"/>
                </a:lnSpc>
                <a:spcBef>
                  <a:spcPts val="0"/>
                </a:spcBef>
                <a:spcAft>
                  <a:spcPts val="0"/>
                </a:spcAft>
                <a:buClrTx/>
                <a:buSzTx/>
                <a:buFont typeface="Wingdings" panose="05000000000000000000" charset="0"/>
                <a:buChar char="l"/>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无法区分能力缺陷与粗心失误</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grpSp>
      <p:grpSp>
        <p:nvGrpSpPr>
          <p:cNvPr id="103" name="组合 102"/>
          <p:cNvGrpSpPr/>
          <p:nvPr/>
        </p:nvGrpSpPr>
        <p:grpSpPr>
          <a:xfrm>
            <a:off x="1835509" y="3326201"/>
            <a:ext cx="3958591" cy="1574801"/>
            <a:chOff x="891718" y="3514973"/>
            <a:chExt cx="2837354" cy="1111580"/>
          </a:xfrm>
        </p:grpSpPr>
        <p:sp>
          <p:nvSpPr>
            <p:cNvPr id="104" name="TextBox 103"/>
            <p:cNvSpPr txBox="1"/>
            <p:nvPr/>
          </p:nvSpPr>
          <p:spPr>
            <a:xfrm>
              <a:off x="891718" y="3514973"/>
              <a:ext cx="2497818" cy="281481"/>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990100"/>
                  </a:solidFill>
                  <a:effectLst/>
                  <a:uLnTx/>
                  <a:uFillTx/>
                  <a:latin typeface="微软雅黑" panose="020B0503020204020204" pitchFamily="34" charset="-122"/>
                  <a:ea typeface="微软雅黑" panose="020B0503020204020204" pitchFamily="34" charset="-122"/>
                  <a:cs typeface="+mn-cs"/>
                </a:rPr>
                <a:t>痛点一</a:t>
              </a:r>
              <a:r>
                <a:rPr kumimoji="0" lang="zh-CN" altLang="en-US" sz="20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：反馈滞后且没有解释</a:t>
              </a:r>
              <a:endParaRPr kumimoji="0" lang="zh-CN" altLang="en-US" sz="20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105" name="矩形 104"/>
            <p:cNvSpPr/>
            <p:nvPr/>
          </p:nvSpPr>
          <p:spPr>
            <a:xfrm>
              <a:off x="891718" y="3800488"/>
              <a:ext cx="2837354" cy="826065"/>
            </a:xfrm>
            <a:prstGeom prst="rect">
              <a:avLst/>
            </a:prstGeom>
          </p:spPr>
          <p:txBody>
            <a:bodyPr wrap="square">
              <a:spAutoFit/>
            </a:bodyPr>
            <a:lstStyle/>
            <a:p>
              <a:pPr marL="285750" marR="0" lvl="0" indent="-285750" algn="l" defTabSz="457200" rtl="0" eaLnBrk="1" fontAlgn="auto" latinLnBrk="0" hangingPunct="1">
                <a:lnSpc>
                  <a:spcPts val="2805"/>
                </a:lnSpc>
                <a:spcBef>
                  <a:spcPts val="0"/>
                </a:spcBef>
                <a:spcAft>
                  <a:spcPts val="0"/>
                </a:spcAft>
                <a:buClrTx/>
                <a:buSzTx/>
                <a:buFont typeface="Wingdings" panose="05000000000000000000" charset="0"/>
                <a:buChar char="l"/>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现有</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OJ</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系统仅依赖编译器</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测试用例</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457200" rtl="0" eaLnBrk="1" fontAlgn="auto" latinLnBrk="0" hangingPunct="1">
                <a:lnSpc>
                  <a:spcPts val="2805"/>
                </a:lnSpc>
                <a:spcBef>
                  <a:spcPts val="0"/>
                </a:spcBef>
                <a:spcAft>
                  <a:spcPts val="0"/>
                </a:spcAft>
                <a:buClrTx/>
                <a:buSzTx/>
                <a:buFont typeface="Wingdings" panose="05000000000000000000" charset="0"/>
                <a:buChar char="l"/>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只告知“对错</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 (WA/TLE)”，缺乏对错误逻辑成因的深层解释</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grpSp>
      <p:sp>
        <p:nvSpPr>
          <p:cNvPr id="33" name="矩形 46"/>
          <p:cNvSpPr>
            <a:spLocks noChangeArrowheads="1"/>
          </p:cNvSpPr>
          <p:nvPr/>
        </p:nvSpPr>
        <p:spPr bwMode="auto">
          <a:xfrm>
            <a:off x="634918" y="237124"/>
            <a:ext cx="390017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effectLst/>
                <a:uLnTx/>
                <a:uFillTx/>
                <a:ea typeface="微软雅黑" panose="020B0503020204020204" pitchFamily="34" charset="-122"/>
                <a:cs typeface="+mn-cs"/>
                <a:sym typeface="Calibri" panose="020F0502020204030204" pitchFamily="34" charset="0"/>
              </a:rPr>
              <a:t>研究背景与现实</a:t>
            </a:r>
            <a:r>
              <a:rPr kumimoji="0" lang="zh-CN" altLang="en-US" sz="3200" b="1" i="0" u="none" strike="noStrike" kern="1200" cap="none" spc="0" normalizeH="0" baseline="0" noProof="0" dirty="0">
                <a:ln>
                  <a:noFill/>
                </a:ln>
                <a:effectLst/>
                <a:uLnTx/>
                <a:uFillTx/>
                <a:ea typeface="微软雅黑" panose="020B0503020204020204" pitchFamily="34" charset="-122"/>
                <a:cs typeface="+mn-cs"/>
                <a:sym typeface="Calibri" panose="020F0502020204030204" pitchFamily="34" charset="0"/>
              </a:rPr>
              <a:t>痛点</a:t>
            </a:r>
            <a:endParaRPr kumimoji="0" lang="zh-CN" altLang="en-US" sz="3200" b="1" i="0" u="none" strike="noStrike" kern="1200" cap="none" spc="0" normalizeH="0" baseline="0" noProof="0" dirty="0">
              <a:ln>
                <a:noFill/>
              </a:ln>
              <a:effectLst/>
              <a:uLnTx/>
              <a:uFillTx/>
              <a:ea typeface="微软雅黑" panose="020B0503020204020204" pitchFamily="34" charset="-122"/>
              <a:cs typeface="+mn-cs"/>
              <a:sym typeface="Calibri" panose="020F0502020204030204" pitchFamily="34" charset="0"/>
            </a:endParaRPr>
          </a:p>
        </p:txBody>
      </p:sp>
      <p:sp>
        <p:nvSpPr>
          <p:cNvPr id="34" name="等腰三角形 47"/>
          <p:cNvSpPr>
            <a:spLocks noChangeArrowheads="1"/>
          </p:cNvSpPr>
          <p:nvPr/>
        </p:nvSpPr>
        <p:spPr bwMode="auto">
          <a:xfrm rot="5400000">
            <a:off x="-53049" y="209721"/>
            <a:ext cx="774879" cy="668780"/>
          </a:xfrm>
          <a:prstGeom prst="triangle">
            <a:avLst>
              <a:gd name="adj" fmla="val 50000"/>
            </a:avLst>
          </a:prstGeom>
          <a:solidFill>
            <a:srgbClr val="990100"/>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pic>
        <p:nvPicPr>
          <p:cNvPr id="2" name="图片 1"/>
          <p:cNvPicPr>
            <a:picLocks noChangeAspect="1"/>
          </p:cNvPicPr>
          <p:nvPr/>
        </p:nvPicPr>
        <p:blipFill>
          <a:blip r:embed="rId1" cstate="print">
            <a:biLevel thresh="75000"/>
            <a:extLst>
              <a:ext uri="{BEBA8EAE-BF5A-486C-A8C5-ECC9F3942E4B}">
                <a14:imgProps xmlns:a14="http://schemas.microsoft.com/office/drawing/2010/main">
                  <a14:imgLayer r:embed="rId2">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12465" y="6301220"/>
            <a:ext cx="1523493" cy="400109"/>
          </a:xfrm>
          <a:prstGeom prst="rect">
            <a:avLst/>
          </a:prstGeom>
        </p:spPr>
      </p:pic>
      <p:pic>
        <p:nvPicPr>
          <p:cNvPr id="3" name="图片 2" descr="logo红"/>
          <p:cNvPicPr>
            <a:picLocks noChangeAspect="1"/>
          </p:cNvPicPr>
          <p:nvPr/>
        </p:nvPicPr>
        <p:blipFill>
          <a:blip r:embed="rId3"/>
          <a:stretch>
            <a:fillRect/>
          </a:stretch>
        </p:blipFill>
        <p:spPr>
          <a:xfrm>
            <a:off x="8033385" y="297815"/>
            <a:ext cx="3755390" cy="494665"/>
          </a:xfrm>
          <a:prstGeom prst="rect">
            <a:avLst/>
          </a:prstGeom>
        </p:spPr>
      </p:pic>
      <p:sp>
        <p:nvSpPr>
          <p:cNvPr id="20" name="文本1"/>
          <p:cNvSpPr>
            <a:spLocks noChangeArrowheads="1"/>
          </p:cNvSpPr>
          <p:nvPr>
            <p:custDataLst>
              <p:tags r:id="rId4"/>
            </p:custDataLst>
          </p:nvPr>
        </p:nvSpPr>
        <p:spPr bwMode="gray">
          <a:xfrm>
            <a:off x="629285" y="1134110"/>
            <a:ext cx="2065655" cy="1099820"/>
          </a:xfrm>
          <a:prstGeom prst="roundRect">
            <a:avLst>
              <a:gd name="adj" fmla="val 11505"/>
            </a:avLst>
          </a:prstGeom>
          <a:noFill/>
          <a:ln w="15875" cap="flat" cmpd="sng" algn="ctr">
            <a:solidFill>
              <a:srgbClr val="990100"/>
            </a:solid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200" rtl="0" eaLnBrk="1" fontAlgn="base" latinLnBrk="0" hangingPunct="1">
              <a:lnSpc>
                <a:spcPct val="120000"/>
              </a:lnSpc>
              <a:spcBef>
                <a:spcPct val="0"/>
              </a:spcBef>
              <a:spcAft>
                <a:spcPct val="0"/>
              </a:spcAft>
              <a:buClrTx/>
              <a:buSzTx/>
              <a:buFontTx/>
              <a:buNone/>
              <a:defRPr/>
            </a:pPr>
            <a:r>
              <a:rPr lang="zh-CN" altLang="en-US" sz="16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编写代码</a:t>
            </a:r>
            <a:endParaRPr lang="zh-CN" altLang="en-US" sz="16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a:p>
            <a:pPr marL="0" marR="0" lvl="0" indent="0" algn="ctr" defTabSz="1219200" rtl="0" eaLnBrk="1" fontAlgn="base" latinLnBrk="0" hangingPunct="1">
              <a:lnSpc>
                <a:spcPct val="120000"/>
              </a:lnSpc>
              <a:spcBef>
                <a:spcPct val="0"/>
              </a:spcBef>
              <a:spcAft>
                <a:spcPct val="0"/>
              </a:spcAft>
              <a:buClrTx/>
              <a:buSzTx/>
              <a:buFontTx/>
              <a:buNone/>
              <a:defRPr/>
            </a:pPr>
            <a:r>
              <a:rPr lang="en-US" altLang="zh-CN" sz="16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(Write Code)</a:t>
            </a:r>
            <a:endParaRPr lang="en-US" altLang="zh-CN" sz="16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p:txBody>
      </p:sp>
      <p:sp>
        <p:nvSpPr>
          <p:cNvPr id="31" name="任意多边形 30"/>
          <p:cNvSpPr/>
          <p:nvPr/>
        </p:nvSpPr>
        <p:spPr>
          <a:xfrm rot="16200000">
            <a:off x="2954020" y="1262380"/>
            <a:ext cx="334010" cy="843915"/>
          </a:xfrm>
          <a:custGeom>
            <a:avLst/>
            <a:gdLst>
              <a:gd name="connsiteX0" fmla="*/ 0 w 792480"/>
              <a:gd name="connsiteY0" fmla="*/ 435864 h 792480"/>
              <a:gd name="connsiteX1" fmla="*/ 178308 w 792480"/>
              <a:gd name="connsiteY1" fmla="*/ 435864 h 792480"/>
              <a:gd name="connsiteX2" fmla="*/ 178308 w 792480"/>
              <a:gd name="connsiteY2" fmla="*/ 0 h 792480"/>
              <a:gd name="connsiteX3" fmla="*/ 614172 w 792480"/>
              <a:gd name="connsiteY3" fmla="*/ 0 h 792480"/>
              <a:gd name="connsiteX4" fmla="*/ 614172 w 792480"/>
              <a:gd name="connsiteY4" fmla="*/ 435864 h 792480"/>
              <a:gd name="connsiteX5" fmla="*/ 792480 w 792480"/>
              <a:gd name="connsiteY5" fmla="*/ 435864 h 792480"/>
              <a:gd name="connsiteX6" fmla="*/ 396240 w 792480"/>
              <a:gd name="connsiteY6" fmla="*/ 792480 h 792480"/>
              <a:gd name="connsiteX7" fmla="*/ 0 w 792480"/>
              <a:gd name="connsiteY7" fmla="*/ 435864 h 792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2480" h="792480">
                <a:moveTo>
                  <a:pt x="0" y="435864"/>
                </a:moveTo>
                <a:lnTo>
                  <a:pt x="178308" y="435864"/>
                </a:lnTo>
                <a:lnTo>
                  <a:pt x="178308" y="0"/>
                </a:lnTo>
                <a:lnTo>
                  <a:pt x="614172" y="0"/>
                </a:lnTo>
                <a:lnTo>
                  <a:pt x="614172" y="435864"/>
                </a:lnTo>
                <a:lnTo>
                  <a:pt x="792480" y="435864"/>
                </a:lnTo>
                <a:lnTo>
                  <a:pt x="396240" y="792480"/>
                </a:lnTo>
                <a:lnTo>
                  <a:pt x="0" y="435864"/>
                </a:lnTo>
                <a:close/>
              </a:path>
            </a:pathLst>
          </a:custGeom>
          <a:solidFill>
            <a:srgbClr val="990100"/>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24028" tIns="45720" rIns="224028" bIns="241859" numCol="1" spcCol="953" anchor="ctr" anchorCtr="0">
            <a:noAutofit/>
          </a:bodyPr>
          <a:lstStyle/>
          <a:p>
            <a:pPr marL="0" marR="0" lvl="0" indent="0" algn="ctr" defTabSz="1600200" rtl="0" eaLnBrk="1" fontAlgn="auto" latinLnBrk="0" hangingPunct="1">
              <a:lnSpc>
                <a:spcPct val="90000"/>
              </a:lnSpc>
              <a:spcBef>
                <a:spcPct val="0"/>
              </a:spcBef>
              <a:spcAft>
                <a:spcPct val="35000"/>
              </a:spcAft>
              <a:buClrTx/>
              <a:buSzTx/>
              <a:buFontTx/>
              <a:buNone/>
              <a:defRPr/>
            </a:pPr>
            <a:endParaRPr kumimoji="0" lang="zh-CN" altLang="en-US" sz="3600" b="0" i="0" u="none" strike="noStrike" kern="1200" cap="none" spc="0" normalizeH="0" baseline="0" noProof="0">
              <a:ln>
                <a:noFill/>
              </a:ln>
              <a:solidFill>
                <a:prstClr val="black">
                  <a:hueOff val="0"/>
                  <a:satOff val="0"/>
                  <a:lumOff val="0"/>
                  <a:alphaOff val="0"/>
                </a:prstClr>
              </a:solidFill>
              <a:effectLst/>
              <a:uLnTx/>
              <a:uFillTx/>
              <a:latin typeface="Arial" panose="020B0604020202020204"/>
              <a:ea typeface="微软雅黑" panose="020B0503020204020204" pitchFamily="34" charset="-122"/>
              <a:cs typeface="+mn-cs"/>
            </a:endParaRPr>
          </a:p>
        </p:txBody>
      </p:sp>
      <p:sp>
        <p:nvSpPr>
          <p:cNvPr id="6" name="文本1"/>
          <p:cNvSpPr>
            <a:spLocks noChangeArrowheads="1"/>
          </p:cNvSpPr>
          <p:nvPr>
            <p:custDataLst>
              <p:tags r:id="rId5"/>
            </p:custDataLst>
          </p:nvPr>
        </p:nvSpPr>
        <p:spPr bwMode="gray">
          <a:xfrm>
            <a:off x="3542665" y="1134110"/>
            <a:ext cx="2065655" cy="1099820"/>
          </a:xfrm>
          <a:prstGeom prst="roundRect">
            <a:avLst>
              <a:gd name="adj" fmla="val 11505"/>
            </a:avLst>
          </a:prstGeom>
          <a:noFill/>
          <a:ln w="15875" cap="flat" cmpd="sng" algn="ctr">
            <a:solidFill>
              <a:srgbClr val="990100"/>
            </a:solid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algn="ctr" defTabSz="1219200" rtl="0" eaLnBrk="1" fontAlgn="base" latinLnBrk="0" hangingPunct="1">
              <a:lnSpc>
                <a:spcPct val="120000"/>
              </a:lnSpc>
              <a:buClrTx/>
              <a:buSzTx/>
              <a:buFontTx/>
              <a:buNone/>
              <a:defRPr/>
            </a:pPr>
            <a:r>
              <a:rPr lang="zh-CN" altLang="en-US" sz="16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提交运行</a:t>
            </a:r>
            <a:endParaRPr lang="zh-CN" altLang="en-US" sz="16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a:p>
            <a:pPr marL="0" marR="0" lvl="0" algn="ctr" defTabSz="1219200" rtl="0" eaLnBrk="1" fontAlgn="base" latinLnBrk="0" hangingPunct="1">
              <a:lnSpc>
                <a:spcPct val="120000"/>
              </a:lnSpc>
              <a:buClrTx/>
              <a:buSzTx/>
              <a:buFontTx/>
              <a:buNone/>
              <a:defRPr/>
            </a:pPr>
            <a:r>
              <a:rPr lang="en-US" altLang="zh-CN" sz="16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(Submit &amp; Run)</a:t>
            </a:r>
            <a:endParaRPr lang="en-US" altLang="zh-CN" sz="16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p:txBody>
      </p:sp>
      <p:sp>
        <p:nvSpPr>
          <p:cNvPr id="7" name="文本1"/>
          <p:cNvSpPr>
            <a:spLocks noChangeArrowheads="1"/>
          </p:cNvSpPr>
          <p:nvPr>
            <p:custDataLst>
              <p:tags r:id="rId6"/>
            </p:custDataLst>
          </p:nvPr>
        </p:nvSpPr>
        <p:spPr bwMode="gray">
          <a:xfrm>
            <a:off x="6456045" y="1134110"/>
            <a:ext cx="2065655" cy="1099820"/>
          </a:xfrm>
          <a:prstGeom prst="roundRect">
            <a:avLst>
              <a:gd name="adj" fmla="val 11505"/>
            </a:avLst>
          </a:prstGeom>
          <a:noFill/>
          <a:ln w="15875" cap="flat" cmpd="sng" algn="ctr">
            <a:solidFill>
              <a:srgbClr val="990100"/>
            </a:solid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200" rtl="0" eaLnBrk="1" fontAlgn="base" latinLnBrk="0" hangingPunct="1">
              <a:lnSpc>
                <a:spcPct val="120000"/>
              </a:lnSpc>
              <a:spcBef>
                <a:spcPct val="0"/>
              </a:spcBef>
              <a:spcAft>
                <a:spcPct val="0"/>
              </a:spcAft>
              <a:buClrTx/>
              <a:buSzTx/>
              <a:buFontTx/>
              <a:buNone/>
              <a:defRPr/>
            </a:pPr>
            <a:r>
              <a:rPr lang="zh-CN" altLang="en-US" sz="16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接收模糊报错</a:t>
            </a:r>
            <a:endParaRPr lang="zh-CN" altLang="en-US" sz="16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a:p>
            <a:pPr marL="0" marR="0" lvl="0" indent="0" algn="ctr" defTabSz="1219200" rtl="0" eaLnBrk="1" fontAlgn="base" latinLnBrk="0" hangingPunct="1">
              <a:lnSpc>
                <a:spcPct val="120000"/>
              </a:lnSpc>
              <a:spcBef>
                <a:spcPct val="0"/>
              </a:spcBef>
              <a:spcAft>
                <a:spcPct val="0"/>
              </a:spcAft>
              <a:buClrTx/>
              <a:buSzTx/>
              <a:buFontTx/>
              <a:buNone/>
              <a:defRPr/>
            </a:pPr>
            <a:r>
              <a:rPr lang="en-US" altLang="zh-CN" sz="16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(Receive Vague Error: WA/TLE)</a:t>
            </a:r>
            <a:endParaRPr lang="en-US" altLang="zh-CN" sz="16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p:txBody>
      </p:sp>
      <p:sp>
        <p:nvSpPr>
          <p:cNvPr id="8" name="文本1"/>
          <p:cNvSpPr>
            <a:spLocks noChangeArrowheads="1"/>
          </p:cNvSpPr>
          <p:nvPr>
            <p:custDataLst>
              <p:tags r:id="rId7"/>
            </p:custDataLst>
          </p:nvPr>
        </p:nvSpPr>
        <p:spPr bwMode="gray">
          <a:xfrm>
            <a:off x="9369425" y="1134110"/>
            <a:ext cx="2065655" cy="1099820"/>
          </a:xfrm>
          <a:prstGeom prst="roundRect">
            <a:avLst>
              <a:gd name="adj" fmla="val 11505"/>
            </a:avLst>
          </a:prstGeom>
          <a:noFill/>
          <a:ln w="15875" cap="flat" cmpd="sng" algn="ctr">
            <a:solidFill>
              <a:srgbClr val="990100"/>
            </a:solid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200" rtl="0" eaLnBrk="1" fontAlgn="base" latinLnBrk="0" hangingPunct="1">
              <a:lnSpc>
                <a:spcPct val="120000"/>
              </a:lnSpc>
              <a:spcBef>
                <a:spcPct val="0"/>
              </a:spcBef>
              <a:spcAft>
                <a:spcPct val="0"/>
              </a:spcAft>
              <a:buClrTx/>
              <a:buSzTx/>
              <a:buFontTx/>
              <a:buNone/>
              <a:defRPr/>
            </a:pPr>
            <a:r>
              <a:rPr lang="zh-CN" altLang="en-US" sz="16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盲目修改</a:t>
            </a:r>
            <a:endParaRPr lang="zh-CN" altLang="en-US" sz="16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a:p>
            <a:pPr marL="0" marR="0" lvl="0" indent="0" algn="ctr" defTabSz="1219200" rtl="0" eaLnBrk="1" fontAlgn="base" latinLnBrk="0" hangingPunct="1">
              <a:lnSpc>
                <a:spcPct val="120000"/>
              </a:lnSpc>
              <a:spcBef>
                <a:spcPct val="0"/>
              </a:spcBef>
              <a:spcAft>
                <a:spcPct val="0"/>
              </a:spcAft>
              <a:buClrTx/>
              <a:buSzTx/>
              <a:buFontTx/>
              <a:buNone/>
              <a:defRPr/>
            </a:pPr>
            <a:r>
              <a:rPr lang="en-US" altLang="zh-CN" sz="16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(Blind Debugging)</a:t>
            </a:r>
            <a:endParaRPr lang="en-US" altLang="zh-CN" sz="16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p:txBody>
      </p:sp>
      <p:sp>
        <p:nvSpPr>
          <p:cNvPr id="11" name="任意多边形 10"/>
          <p:cNvSpPr/>
          <p:nvPr/>
        </p:nvSpPr>
        <p:spPr>
          <a:xfrm rot="16200000">
            <a:off x="5864860" y="1262380"/>
            <a:ext cx="334010" cy="843915"/>
          </a:xfrm>
          <a:custGeom>
            <a:avLst/>
            <a:gdLst>
              <a:gd name="connsiteX0" fmla="*/ 0 w 792480"/>
              <a:gd name="connsiteY0" fmla="*/ 435864 h 792480"/>
              <a:gd name="connsiteX1" fmla="*/ 178308 w 792480"/>
              <a:gd name="connsiteY1" fmla="*/ 435864 h 792480"/>
              <a:gd name="connsiteX2" fmla="*/ 178308 w 792480"/>
              <a:gd name="connsiteY2" fmla="*/ 0 h 792480"/>
              <a:gd name="connsiteX3" fmla="*/ 614172 w 792480"/>
              <a:gd name="connsiteY3" fmla="*/ 0 h 792480"/>
              <a:gd name="connsiteX4" fmla="*/ 614172 w 792480"/>
              <a:gd name="connsiteY4" fmla="*/ 435864 h 792480"/>
              <a:gd name="connsiteX5" fmla="*/ 792480 w 792480"/>
              <a:gd name="connsiteY5" fmla="*/ 435864 h 792480"/>
              <a:gd name="connsiteX6" fmla="*/ 396240 w 792480"/>
              <a:gd name="connsiteY6" fmla="*/ 792480 h 792480"/>
              <a:gd name="connsiteX7" fmla="*/ 0 w 792480"/>
              <a:gd name="connsiteY7" fmla="*/ 435864 h 792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2480" h="792480">
                <a:moveTo>
                  <a:pt x="0" y="435864"/>
                </a:moveTo>
                <a:lnTo>
                  <a:pt x="178308" y="435864"/>
                </a:lnTo>
                <a:lnTo>
                  <a:pt x="178308" y="0"/>
                </a:lnTo>
                <a:lnTo>
                  <a:pt x="614172" y="0"/>
                </a:lnTo>
                <a:lnTo>
                  <a:pt x="614172" y="435864"/>
                </a:lnTo>
                <a:lnTo>
                  <a:pt x="792480" y="435864"/>
                </a:lnTo>
                <a:lnTo>
                  <a:pt x="396240" y="792480"/>
                </a:lnTo>
                <a:lnTo>
                  <a:pt x="0" y="435864"/>
                </a:lnTo>
                <a:close/>
              </a:path>
            </a:pathLst>
          </a:custGeom>
          <a:solidFill>
            <a:srgbClr val="990100"/>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24028" tIns="45720" rIns="224028" bIns="241859" numCol="1" spcCol="953" anchor="ctr" anchorCtr="0">
            <a:noAutofit/>
          </a:bodyPr>
          <a:lstStyle/>
          <a:p>
            <a:pPr marL="0" marR="0" lvl="0" indent="0" algn="ctr" defTabSz="1600200" rtl="0" eaLnBrk="1" fontAlgn="auto" latinLnBrk="0" hangingPunct="1">
              <a:lnSpc>
                <a:spcPct val="90000"/>
              </a:lnSpc>
              <a:spcBef>
                <a:spcPct val="0"/>
              </a:spcBef>
              <a:spcAft>
                <a:spcPct val="35000"/>
              </a:spcAft>
              <a:buClrTx/>
              <a:buSzTx/>
              <a:buFontTx/>
              <a:buNone/>
              <a:defRPr/>
            </a:pPr>
            <a:endParaRPr kumimoji="0" lang="zh-CN" altLang="en-US" sz="3600" b="0" i="0" u="none" strike="noStrike" kern="1200" cap="none" spc="0" normalizeH="0" baseline="0" noProof="0">
              <a:ln>
                <a:noFill/>
              </a:ln>
              <a:solidFill>
                <a:prstClr val="black">
                  <a:hueOff val="0"/>
                  <a:satOff val="0"/>
                  <a:lumOff val="0"/>
                  <a:alphaOff val="0"/>
                </a:prstClr>
              </a:solidFill>
              <a:effectLst/>
              <a:uLnTx/>
              <a:uFillTx/>
              <a:latin typeface="Arial" panose="020B0604020202020204"/>
              <a:ea typeface="微软雅黑" panose="020B0503020204020204" pitchFamily="34" charset="-122"/>
              <a:cs typeface="+mn-cs"/>
            </a:endParaRPr>
          </a:p>
        </p:txBody>
      </p:sp>
      <p:sp>
        <p:nvSpPr>
          <p:cNvPr id="12" name="任意多边形 11"/>
          <p:cNvSpPr/>
          <p:nvPr/>
        </p:nvSpPr>
        <p:spPr>
          <a:xfrm rot="16200000">
            <a:off x="8778240" y="1262380"/>
            <a:ext cx="334010" cy="843915"/>
          </a:xfrm>
          <a:custGeom>
            <a:avLst/>
            <a:gdLst>
              <a:gd name="connsiteX0" fmla="*/ 0 w 792480"/>
              <a:gd name="connsiteY0" fmla="*/ 435864 h 792480"/>
              <a:gd name="connsiteX1" fmla="*/ 178308 w 792480"/>
              <a:gd name="connsiteY1" fmla="*/ 435864 h 792480"/>
              <a:gd name="connsiteX2" fmla="*/ 178308 w 792480"/>
              <a:gd name="connsiteY2" fmla="*/ 0 h 792480"/>
              <a:gd name="connsiteX3" fmla="*/ 614172 w 792480"/>
              <a:gd name="connsiteY3" fmla="*/ 0 h 792480"/>
              <a:gd name="connsiteX4" fmla="*/ 614172 w 792480"/>
              <a:gd name="connsiteY4" fmla="*/ 435864 h 792480"/>
              <a:gd name="connsiteX5" fmla="*/ 792480 w 792480"/>
              <a:gd name="connsiteY5" fmla="*/ 435864 h 792480"/>
              <a:gd name="connsiteX6" fmla="*/ 396240 w 792480"/>
              <a:gd name="connsiteY6" fmla="*/ 792480 h 792480"/>
              <a:gd name="connsiteX7" fmla="*/ 0 w 792480"/>
              <a:gd name="connsiteY7" fmla="*/ 435864 h 792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2480" h="792480">
                <a:moveTo>
                  <a:pt x="0" y="435864"/>
                </a:moveTo>
                <a:lnTo>
                  <a:pt x="178308" y="435864"/>
                </a:lnTo>
                <a:lnTo>
                  <a:pt x="178308" y="0"/>
                </a:lnTo>
                <a:lnTo>
                  <a:pt x="614172" y="0"/>
                </a:lnTo>
                <a:lnTo>
                  <a:pt x="614172" y="435864"/>
                </a:lnTo>
                <a:lnTo>
                  <a:pt x="792480" y="435864"/>
                </a:lnTo>
                <a:lnTo>
                  <a:pt x="396240" y="792480"/>
                </a:lnTo>
                <a:lnTo>
                  <a:pt x="0" y="435864"/>
                </a:lnTo>
                <a:close/>
              </a:path>
            </a:pathLst>
          </a:custGeom>
          <a:solidFill>
            <a:srgbClr val="990100"/>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24028" tIns="45720" rIns="224028" bIns="241859" numCol="1" spcCol="953" anchor="ctr" anchorCtr="0">
            <a:noAutofit/>
          </a:bodyPr>
          <a:lstStyle/>
          <a:p>
            <a:pPr marL="0" marR="0" lvl="0" indent="0" algn="ctr" defTabSz="1600200" rtl="0" eaLnBrk="1" fontAlgn="auto" latinLnBrk="0" hangingPunct="1">
              <a:lnSpc>
                <a:spcPct val="90000"/>
              </a:lnSpc>
              <a:spcBef>
                <a:spcPct val="0"/>
              </a:spcBef>
              <a:spcAft>
                <a:spcPct val="35000"/>
              </a:spcAft>
              <a:buClrTx/>
              <a:buSzTx/>
              <a:buFontTx/>
              <a:buNone/>
              <a:defRPr/>
            </a:pPr>
            <a:endParaRPr kumimoji="0" lang="zh-CN" altLang="en-US" sz="3600" b="0" i="0" u="none" strike="noStrike" kern="1200" cap="none" spc="0" normalizeH="0" baseline="0" noProof="0">
              <a:ln>
                <a:noFill/>
              </a:ln>
              <a:solidFill>
                <a:prstClr val="black">
                  <a:hueOff val="0"/>
                  <a:satOff val="0"/>
                  <a:lumOff val="0"/>
                  <a:alphaOff val="0"/>
                </a:prstClr>
              </a:solidFill>
              <a:effectLst/>
              <a:uLnTx/>
              <a:uFillTx/>
              <a:latin typeface="Arial" panose="020B0604020202020204"/>
              <a:ea typeface="微软雅黑" panose="020B0503020204020204" pitchFamily="34" charset="-122"/>
              <a:cs typeface="+mn-cs"/>
            </a:endParaRPr>
          </a:p>
        </p:txBody>
      </p:sp>
      <p:sp>
        <p:nvSpPr>
          <p:cNvPr id="15" name="手杖形箭头 14"/>
          <p:cNvSpPr/>
          <p:nvPr/>
        </p:nvSpPr>
        <p:spPr>
          <a:xfrm rot="10800000">
            <a:off x="1474470" y="2224405"/>
            <a:ext cx="9081135" cy="714375"/>
          </a:xfrm>
          <a:prstGeom prst="uturnArrow">
            <a:avLst>
              <a:gd name="adj1" fmla="val 25000"/>
              <a:gd name="adj2" fmla="val 25000"/>
              <a:gd name="adj3" fmla="val 25000"/>
              <a:gd name="adj4" fmla="val 43750"/>
              <a:gd name="adj5" fmla="val 100000"/>
            </a:avLst>
          </a:prstGeom>
          <a:solidFill>
            <a:srgbClr val="990100"/>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Overflow="overflow" horzOverflow="overflow" vert="horz" wrap="square" lIns="224028" tIns="45720" rIns="224028" bIns="241859" numCol="1" spcCol="953" rtlCol="0" fromWordArt="0" anchor="ctr" anchorCtr="0" forceAA="0" compatLnSpc="1">
            <a:noAutofit/>
          </a:bodyPr>
          <a:lstStyle/>
          <a:p>
            <a:pPr lvl="0" algn="ctr" defTabSz="1600200">
              <a:lnSpc>
                <a:spcPct val="90000"/>
              </a:lnSpc>
              <a:spcAft>
                <a:spcPct val="35000"/>
              </a:spcAft>
              <a:buClrTx/>
              <a:buSzTx/>
              <a:buFontTx/>
              <a:defRPr/>
            </a:pPr>
            <a:endParaRPr lang="zh-CN" altLang="en-US" sz="3600" noProof="0">
              <a:ln>
                <a:noFill/>
              </a:ln>
              <a:solidFill>
                <a:prstClr val="black">
                  <a:hueOff val="0"/>
                  <a:satOff val="0"/>
                  <a:lumOff val="0"/>
                  <a:alphaOff val="0"/>
                </a:prstClr>
              </a:solidFill>
              <a:effectLst/>
              <a:uLnTx/>
              <a:uFillTx/>
              <a:latin typeface="Arial" panose="020B0604020202020204"/>
              <a:ea typeface="微软雅黑" panose="020B0503020204020204" pitchFamily="34" charset="-122"/>
              <a:sym typeface="+mn-ea"/>
            </a:endParaRPr>
          </a:p>
        </p:txBody>
      </p:sp>
      <p:sp>
        <p:nvSpPr>
          <p:cNvPr id="16" name="文本框 15"/>
          <p:cNvSpPr txBox="1"/>
          <p:nvPr/>
        </p:nvSpPr>
        <p:spPr>
          <a:xfrm>
            <a:off x="4121785" y="2351405"/>
            <a:ext cx="4064000" cy="460375"/>
          </a:xfrm>
          <a:prstGeom prst="rect">
            <a:avLst/>
          </a:prstGeom>
          <a:noFill/>
        </p:spPr>
        <p:txBody>
          <a:bodyPr wrap="square" rtlCol="0">
            <a:spAutoFit/>
          </a:bodyPr>
          <a:p>
            <a:pPr algn="ctr" defTabSz="1219200" fontAlgn="base">
              <a:lnSpc>
                <a:spcPct val="120000"/>
              </a:lnSpc>
              <a:buClrTx/>
              <a:buSzTx/>
              <a:buNone/>
              <a:defRPr/>
            </a:pPr>
            <a:r>
              <a:rPr lang="zh-CN" altLang="en-US" sz="2000" b="1" noProof="0" dirty="0">
                <a:ln>
                  <a:noFill/>
                </a:ln>
                <a:effectLst/>
                <a:uLnTx/>
                <a:uFillTx/>
                <a:latin typeface="微软雅黑" panose="020B0503020204020204" pitchFamily="34" charset="-122"/>
                <a:ea typeface="微软雅黑" panose="020B0503020204020204" pitchFamily="34" charset="-122"/>
              </a:rPr>
              <a:t>反复试错</a:t>
            </a:r>
            <a:r>
              <a:rPr lang="zh-CN" altLang="en-US" sz="2000" b="1" noProof="0" dirty="0">
                <a:ln>
                  <a:noFill/>
                </a:ln>
                <a:effectLst/>
                <a:uLnTx/>
                <a:uFillTx/>
                <a:latin typeface="微软雅黑" panose="020B0503020204020204" pitchFamily="34" charset="-122"/>
                <a:ea typeface="微软雅黑" panose="020B0503020204020204" pitchFamily="34" charset="-122"/>
              </a:rPr>
              <a:t>死循环</a:t>
            </a:r>
            <a:endParaRPr lang="zh-CN" altLang="en-US" sz="2000" b="1" noProof="0" dirty="0">
              <a:ln>
                <a:noFill/>
              </a:ln>
              <a:effectLst/>
              <a:uLnTx/>
              <a:uFillTx/>
              <a:latin typeface="微软雅黑" panose="020B0503020204020204" pitchFamily="34" charset="-122"/>
              <a:ea typeface="微软雅黑" panose="020B0503020204020204" pitchFamily="34" charset="-122"/>
            </a:endParaRPr>
          </a:p>
        </p:txBody>
      </p:sp>
      <p:sp>
        <p:nvSpPr>
          <p:cNvPr id="21" name="文本1"/>
          <p:cNvSpPr>
            <a:spLocks noChangeArrowheads="1"/>
          </p:cNvSpPr>
          <p:nvPr>
            <p:custDataLst>
              <p:tags r:id="rId8"/>
            </p:custDataLst>
          </p:nvPr>
        </p:nvSpPr>
        <p:spPr bwMode="gray">
          <a:xfrm>
            <a:off x="629920" y="5475605"/>
            <a:ext cx="10805160" cy="749935"/>
          </a:xfrm>
          <a:prstGeom prst="roundRect">
            <a:avLst>
              <a:gd name="adj" fmla="val 11505"/>
            </a:avLst>
          </a:prstGeom>
          <a:noFill/>
          <a:ln w="15875" cap="flat" cmpd="sng" algn="ctr">
            <a:solidFill>
              <a:srgbClr val="990100"/>
            </a:solid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200" rtl="0" eaLnBrk="1" fontAlgn="base" latinLnBrk="0" hangingPunct="1">
              <a:lnSpc>
                <a:spcPct val="120000"/>
              </a:lnSpc>
              <a:spcBef>
                <a:spcPct val="0"/>
              </a:spcBef>
              <a:spcAft>
                <a:spcPct val="0"/>
              </a:spcAft>
              <a:buClrTx/>
              <a:buSzTx/>
              <a:buFontTx/>
              <a:buNone/>
              <a:defRPr/>
            </a:pPr>
            <a:r>
              <a:rPr kumimoji="0" lang="zh-CN" altLang="en-US"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核心结论：当前编程教育迫切缺乏</a:t>
            </a:r>
            <a:r>
              <a:rPr kumimoji="0" lang="en-US" altLang="zh-CN"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a:t>
            </a:r>
            <a:r>
              <a:rPr kumimoji="0" lang="zh-CN" altLang="en-US"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针对性指导</a:t>
            </a:r>
            <a:r>
              <a:rPr kumimoji="0" lang="en-US" altLang="zh-CN"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a:t>
            </a:r>
            <a:r>
              <a:rPr kumimoji="0" lang="zh-CN" altLang="en-US"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与</a:t>
            </a:r>
            <a:r>
              <a:rPr kumimoji="0" lang="en-US" altLang="zh-CN"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a:t>
            </a:r>
            <a:r>
              <a:rPr kumimoji="0" lang="zh-CN" altLang="en-US"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深层语义解释</a:t>
            </a:r>
            <a:r>
              <a:rPr kumimoji="0" lang="en-US" altLang="zh-CN"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a:t>
            </a:r>
            <a:r>
              <a:rPr kumimoji="0" lang="zh-CN" altLang="en-US"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，导致学习效率低下。</a:t>
            </a:r>
            <a:endParaRPr kumimoji="0" lang="zh-CN" altLang="en-US"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2223135" y="2406015"/>
            <a:ext cx="3163570" cy="1370965"/>
          </a:xfrm>
          <a:prstGeom prst="rect">
            <a:avLst/>
          </a:prstGeom>
        </p:spPr>
        <p:txBody>
          <a:bodyPr wrap="square" lIns="91440" tIns="45720" rIns="91440" bIns="4572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algn="l" defTabSz="1219200" rtl="0" eaLnBrk="1" fontAlgn="auto" latinLnBrk="0" hangingPunct="1">
              <a:lnSpc>
                <a:spcPct val="13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75000"/>
                    <a:lumOff val="25000"/>
                  </a:prstClr>
                </a:solidFill>
                <a:effectLst/>
                <a:uLnTx/>
                <a:uFillTx/>
                <a:latin typeface="+mj-ea"/>
                <a:ea typeface="+mj-ea"/>
                <a:cs typeface="+mj-ea"/>
                <a:sym typeface="Arial" panose="020B0604020202020204" pitchFamily="34" charset="0"/>
              </a:rPr>
              <a:t>[OJ反馈示例]</a:t>
            </a:r>
            <a:endParaRPr kumimoji="0" lang="zh-CN" altLang="en-US" sz="1600" b="1" i="0" u="none" strike="noStrike" kern="1200" cap="none" spc="0" normalizeH="0" baseline="0" noProof="0" dirty="0">
              <a:ln>
                <a:noFill/>
              </a:ln>
              <a:solidFill>
                <a:prstClr val="black">
                  <a:lumMod val="75000"/>
                  <a:lumOff val="25000"/>
                </a:prstClr>
              </a:solidFill>
              <a:effectLst/>
              <a:uLnTx/>
              <a:uFillTx/>
              <a:latin typeface="+mj-ea"/>
              <a:ea typeface="+mj-ea"/>
              <a:cs typeface="+mj-ea"/>
              <a:sym typeface="Arial" panose="020B0604020202020204" pitchFamily="34" charset="0"/>
            </a:endParaRPr>
          </a:p>
          <a:p>
            <a:pPr marL="0" marR="0" lvl="0" algn="l" defTabSz="12192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mj-ea"/>
                <a:ea typeface="+mj-ea"/>
                <a:cs typeface="+mj-ea"/>
                <a:sym typeface="Arial" panose="020B0604020202020204" pitchFamily="34" charset="0"/>
              </a:rPr>
              <a:t>运行结果：Wrong Answer(WA)</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mj-ea"/>
              <a:ea typeface="+mj-ea"/>
              <a:cs typeface="+mj-ea"/>
              <a:sym typeface="Arial" panose="020B0604020202020204" pitchFamily="34" charset="0"/>
            </a:endParaRPr>
          </a:p>
          <a:p>
            <a:pPr marL="0" marR="0" lvl="0" algn="l" defTabSz="12192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mj-ea"/>
                <a:ea typeface="+mj-ea"/>
                <a:cs typeface="+mj-ea"/>
                <a:sym typeface="Arial" panose="020B0604020202020204" pitchFamily="34" charset="0"/>
              </a:rPr>
              <a:t>时间:1.2s</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mj-ea"/>
              <a:ea typeface="+mj-ea"/>
              <a:cs typeface="+mj-ea"/>
              <a:sym typeface="Arial" panose="020B0604020202020204" pitchFamily="34" charset="0"/>
            </a:endParaRPr>
          </a:p>
          <a:p>
            <a:pPr marL="0" marR="0" lvl="0" algn="l" defTabSz="12192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mj-ea"/>
                <a:ea typeface="+mj-ea"/>
                <a:cs typeface="+mj-ea"/>
                <a:sym typeface="Arial" panose="020B0604020202020204" pitchFamily="34" charset="0"/>
              </a:rPr>
              <a:t>内存：256MB</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mj-ea"/>
              <a:ea typeface="+mj-ea"/>
              <a:cs typeface="+mj-ea"/>
              <a:sym typeface="Arial" panose="020B0604020202020204" pitchFamily="34" charset="0"/>
            </a:endParaRPr>
          </a:p>
        </p:txBody>
      </p:sp>
      <p:sp>
        <p:nvSpPr>
          <p:cNvPr id="30" name="矩形 29"/>
          <p:cNvSpPr/>
          <p:nvPr/>
        </p:nvSpPr>
        <p:spPr>
          <a:xfrm>
            <a:off x="1064895" y="5769610"/>
            <a:ext cx="4525645" cy="410845"/>
          </a:xfrm>
          <a:prstGeom prst="rect">
            <a:avLst/>
          </a:prstGeom>
        </p:spPr>
        <p:txBody>
          <a:bodyPr wrap="square" lIns="91440" tIns="45720" rIns="91440" bIns="4572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实现从</a:t>
            </a:r>
            <a:r>
              <a:rPr kumimoji="0" lang="en-US" altLang="zh-CN"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知其然</a:t>
            </a:r>
            <a:r>
              <a:rPr kumimoji="0" lang="en-US" altLang="zh-CN"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到</a:t>
            </a:r>
            <a:r>
              <a:rPr kumimoji="0" lang="en-US" altLang="zh-CN"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知其所以然</a:t>
            </a:r>
            <a:r>
              <a:rPr kumimoji="0" lang="en-US" altLang="zh-CN"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的认知建模跃迁。</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31" name="矩形 30"/>
          <p:cNvSpPr/>
          <p:nvPr/>
        </p:nvSpPr>
        <p:spPr>
          <a:xfrm>
            <a:off x="8033385" y="2406650"/>
            <a:ext cx="3488055" cy="1395730"/>
          </a:xfrm>
          <a:prstGeom prst="rect">
            <a:avLst/>
          </a:prstGeom>
        </p:spPr>
        <p:txBody>
          <a:bodyPr wrap="square" lIns="91440" tIns="45720" rIns="91440" bIns="4572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algn="l" defTabSz="1219200" rtl="0" eaLnBrk="1" fontAlgn="auto" latinLnBrk="0" hangingPunct="1">
              <a:lnSpc>
                <a:spcPct val="13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75000"/>
                    <a:lumOff val="25000"/>
                  </a:prstClr>
                </a:solidFill>
                <a:effectLst/>
                <a:uLnTx/>
                <a:uFillTx/>
                <a:latin typeface="+mj-ea"/>
                <a:ea typeface="+mj-ea"/>
                <a:cs typeface="+mj-ea"/>
              </a:rPr>
              <a:t>[智能诊断报告]</a:t>
            </a:r>
            <a:endParaRPr kumimoji="0" lang="zh-CN" altLang="en-US" sz="1600" b="1" i="0" u="none" strike="noStrike" kern="1200" cap="none" spc="0" normalizeH="0" baseline="0" noProof="0" dirty="0">
              <a:ln>
                <a:noFill/>
              </a:ln>
              <a:solidFill>
                <a:prstClr val="black">
                  <a:lumMod val="75000"/>
                  <a:lumOff val="25000"/>
                </a:prstClr>
              </a:solidFill>
              <a:effectLst/>
              <a:uLnTx/>
              <a:uFillTx/>
              <a:latin typeface="+mj-ea"/>
              <a:ea typeface="+mj-ea"/>
              <a:cs typeface="+mj-ea"/>
            </a:endParaRPr>
          </a:p>
          <a:p>
            <a:pPr marL="0" marR="0" lvl="0" indent="0" algn="l" defTabSz="1219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错误类型：</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逻辑错误（边界溢出）</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1219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深层成因：</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循环终止条件</a:t>
            </a:r>
            <a:r>
              <a:rPr kumimoji="0" lang="en-US" altLang="zh-CN"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i&lt;=n’</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导致数组越界访问。</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1219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建议：</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检查数组定义范围与循环变量。</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32" name="直接连接符 15"/>
          <p:cNvCxnSpPr/>
          <p:nvPr/>
        </p:nvCxnSpPr>
        <p:spPr>
          <a:xfrm flipH="1">
            <a:off x="6062197" y="2319967"/>
            <a:ext cx="8967" cy="3933259"/>
          </a:xfrm>
          <a:prstGeom prst="line">
            <a:avLst/>
          </a:prstGeom>
          <a:ln w="25400">
            <a:solidFill>
              <a:srgbClr val="990100"/>
            </a:solidFill>
            <a:prstDash val="dash"/>
          </a:ln>
        </p:spPr>
        <p:style>
          <a:lnRef idx="1">
            <a:schemeClr val="accent1"/>
          </a:lnRef>
          <a:fillRef idx="0">
            <a:schemeClr val="accent1"/>
          </a:fillRef>
          <a:effectRef idx="0">
            <a:schemeClr val="accent1"/>
          </a:effectRef>
          <a:fontRef idx="minor">
            <a:schemeClr val="tx1"/>
          </a:fontRef>
        </p:style>
      </p:cxnSp>
      <p:grpSp>
        <p:nvGrpSpPr>
          <p:cNvPr id="33" name="组合 4"/>
          <p:cNvGrpSpPr/>
          <p:nvPr/>
        </p:nvGrpSpPr>
        <p:grpSpPr>
          <a:xfrm>
            <a:off x="1065021" y="1617328"/>
            <a:ext cx="10012283" cy="667522"/>
            <a:chOff x="-470146" y="1583071"/>
            <a:chExt cx="10012283" cy="667521"/>
          </a:xfrm>
        </p:grpSpPr>
        <p:sp>
          <p:nvSpPr>
            <p:cNvPr id="46" name="矩形 45"/>
            <p:cNvSpPr/>
            <p:nvPr/>
          </p:nvSpPr>
          <p:spPr>
            <a:xfrm>
              <a:off x="-470146" y="1583071"/>
              <a:ext cx="4178049" cy="646331"/>
            </a:xfrm>
            <a:prstGeom prst="rect">
              <a:avLst/>
            </a:prstGeom>
            <a:solidFill>
              <a:srgbClr val="990100"/>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传统方式：被动</a:t>
              </a: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纠错</a:t>
              </a:r>
              <a:endPar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7" name="矩形 46"/>
            <p:cNvSpPr/>
            <p:nvPr/>
          </p:nvSpPr>
          <p:spPr>
            <a:xfrm>
              <a:off x="5364088" y="1583071"/>
              <a:ext cx="4178049" cy="667521"/>
            </a:xfrm>
            <a:prstGeom prst="rect">
              <a:avLst/>
            </a:prstGeom>
            <a:solidFill>
              <a:srgbClr val="990100"/>
            </a:solidFill>
            <a:ln>
              <a:noFill/>
            </a:ln>
          </p:spPr>
          <p:style>
            <a:lnRef idx="0">
              <a:schemeClr val="accent2"/>
            </a:lnRef>
            <a:fillRef idx="3">
              <a:schemeClr val="accent2"/>
            </a:fillRef>
            <a:effectRef idx="3">
              <a:schemeClr val="accent2"/>
            </a:effectRef>
            <a:fontRef idx="minor">
              <a:schemeClr val="lt1"/>
            </a:fontRef>
          </p:style>
          <p:txBody>
            <a:bodyPr wrap="square"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本研究方式：主动</a:t>
              </a: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诊断</a:t>
              </a:r>
              <a:endPar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42" name="矩形 41"/>
          <p:cNvSpPr/>
          <p:nvPr/>
        </p:nvSpPr>
        <p:spPr>
          <a:xfrm>
            <a:off x="2350312" y="5337663"/>
            <a:ext cx="1607820" cy="378460"/>
          </a:xfrm>
          <a:prstGeom prst="rect">
            <a:avLst/>
          </a:prstGeom>
        </p:spPr>
        <p:txBody>
          <a:bodyPr wrap="none" lIns="91440" tIns="45720" rIns="91440" bIns="4572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algn="l" defTabSz="1219200" rtl="0" eaLnBrk="1" fontAlgn="auto" latinLnBrk="0" hangingPunct="1">
              <a:lnSpc>
                <a:spcPct val="100000"/>
              </a:lnSpc>
              <a:spcBef>
                <a:spcPts val="0"/>
              </a:spcBef>
              <a:spcAft>
                <a:spcPts val="0"/>
              </a:spcAft>
              <a:buClrTx/>
              <a:buSzTx/>
              <a:buFontTx/>
              <a:buNone/>
              <a:defRPr/>
            </a:pPr>
            <a:r>
              <a:rPr lang="zh-CN" altLang="en-US" sz="1865" b="1"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理论价值总结</a:t>
            </a:r>
            <a:endParaRPr kumimoji="0" lang="zh-CN" altLang="en-US" sz="1865"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5" name="矩形 34"/>
          <p:cNvSpPr>
            <a:spLocks noChangeArrowheads="1"/>
          </p:cNvSpPr>
          <p:nvPr/>
        </p:nvSpPr>
        <p:spPr bwMode="auto">
          <a:xfrm>
            <a:off x="634918" y="237124"/>
            <a:ext cx="186817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chemeClr val="tx1">
                    <a:lumMod val="95000"/>
                    <a:lumOff val="5000"/>
                  </a:schemeClr>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研究</a:t>
            </a:r>
            <a:r>
              <a:rPr kumimoji="0" lang="zh-CN" altLang="en-US" sz="3200" b="1" i="0" u="none" strike="noStrike" kern="1200" cap="none" spc="0" normalizeH="0" baseline="0" noProof="0" dirty="0">
                <a:ln>
                  <a:noFill/>
                </a:ln>
                <a:solidFill>
                  <a:schemeClr val="tx1">
                    <a:lumMod val="95000"/>
                    <a:lumOff val="5000"/>
                  </a:schemeClr>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意义</a:t>
            </a:r>
            <a:endParaRPr kumimoji="0" lang="zh-CN" altLang="en-US" sz="3200" b="1" i="0" u="none" strike="noStrike" kern="1200" cap="none" spc="0" normalizeH="0" baseline="0" noProof="0" dirty="0">
              <a:ln>
                <a:noFill/>
              </a:ln>
              <a:solidFill>
                <a:schemeClr val="tx1">
                  <a:lumMod val="95000"/>
                  <a:lumOff val="5000"/>
                </a:schemeClr>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36" name="等腰三角形 35"/>
          <p:cNvSpPr>
            <a:spLocks noChangeArrowheads="1"/>
          </p:cNvSpPr>
          <p:nvPr/>
        </p:nvSpPr>
        <p:spPr bwMode="auto">
          <a:xfrm rot="5400000">
            <a:off x="-53049" y="209721"/>
            <a:ext cx="774879" cy="668780"/>
          </a:xfrm>
          <a:prstGeom prst="triangle">
            <a:avLst>
              <a:gd name="adj" fmla="val 50000"/>
            </a:avLst>
          </a:prstGeom>
          <a:solidFill>
            <a:srgbClr val="990100"/>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pic>
        <p:nvPicPr>
          <p:cNvPr id="66" name="图片 65"/>
          <p:cNvPicPr>
            <a:picLocks noChangeAspect="1"/>
          </p:cNvPicPr>
          <p:nvPr/>
        </p:nvPicPr>
        <p:blipFill>
          <a:blip r:embed="rId1" cstate="print">
            <a:biLevel thresh="75000"/>
            <a:extLst>
              <a:ext uri="{BEBA8EAE-BF5A-486C-A8C5-ECC9F3942E4B}">
                <a14:imgProps xmlns:a14="http://schemas.microsoft.com/office/drawing/2010/main">
                  <a14:imgLayer r:embed="rId2">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12465" y="6301220"/>
            <a:ext cx="1523493" cy="400109"/>
          </a:xfrm>
          <a:prstGeom prst="rect">
            <a:avLst/>
          </a:prstGeom>
        </p:spPr>
      </p:pic>
      <p:pic>
        <p:nvPicPr>
          <p:cNvPr id="3" name="图片 2" descr="logo红"/>
          <p:cNvPicPr>
            <a:picLocks noChangeAspect="1"/>
          </p:cNvPicPr>
          <p:nvPr/>
        </p:nvPicPr>
        <p:blipFill>
          <a:blip r:embed="rId3"/>
          <a:stretch>
            <a:fillRect/>
          </a:stretch>
        </p:blipFill>
        <p:spPr>
          <a:xfrm>
            <a:off x="8033385" y="297815"/>
            <a:ext cx="3755390" cy="494665"/>
          </a:xfrm>
          <a:prstGeom prst="rect">
            <a:avLst/>
          </a:prstGeom>
        </p:spPr>
      </p:pic>
      <p:pic>
        <p:nvPicPr>
          <p:cNvPr id="2" name="图片 1"/>
          <p:cNvPicPr/>
          <p:nvPr/>
        </p:nvPicPr>
        <p:blipFill>
          <a:blip r:embed="rId4"/>
          <a:stretch>
            <a:fillRect/>
          </a:stretch>
        </p:blipFill>
        <p:spPr>
          <a:xfrm>
            <a:off x="1184275" y="2632075"/>
            <a:ext cx="945515" cy="945515"/>
          </a:xfrm>
          <a:prstGeom prst="rect">
            <a:avLst/>
          </a:prstGeom>
        </p:spPr>
      </p:pic>
      <p:sp>
        <p:nvSpPr>
          <p:cNvPr id="4" name="矩形 3"/>
          <p:cNvSpPr/>
          <p:nvPr/>
        </p:nvSpPr>
        <p:spPr>
          <a:xfrm>
            <a:off x="1184275" y="3881755"/>
            <a:ext cx="4295140" cy="645160"/>
          </a:xfrm>
          <a:prstGeom prst="rect">
            <a:avLst/>
          </a:prstGeom>
        </p:spPr>
        <p:txBody>
          <a:bodyPr wrap="square" lIns="91440" tIns="45720" rIns="91440" bIns="4572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algn="l" defTabSz="12192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rPr>
              <a:t>理论局限：</a:t>
            </a:r>
            <a:r>
              <a:rPr kumimoji="0" lang="zh-CN" altLang="en-US"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rPr>
              <a:t>二元状态预测</a:t>
            </a:r>
            <a:endParaRPr kumimoji="0" lang="zh-CN" altLang="en-US"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endParaRPr>
          </a:p>
          <a:p>
            <a:pPr marL="914400" marR="0" lvl="2" indent="457200" algn="l" defTabSz="1219200" rtl="0" eaLnBrk="1" fontAlgn="auto" latinLnBrk="0" hangingPunct="1">
              <a:lnSpc>
                <a:spcPct val="100000"/>
              </a:lnSpc>
              <a:spcBef>
                <a:spcPts val="0"/>
              </a:spcBef>
              <a:spcAft>
                <a:spcPts val="0"/>
              </a:spcAft>
              <a:buClrTx/>
              <a:buSzTx/>
              <a:buFontTx/>
              <a:buNone/>
              <a:defRPr/>
            </a:pPr>
            <a:r>
              <a:rPr kumimoji="0" lang="en-US" altLang="zh-CN"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rPr>
              <a:t>——</a:t>
            </a:r>
            <a:r>
              <a:rPr kumimoji="0" lang="zh-CN" altLang="en-US"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rPr>
              <a:t>仅知对错，不知原因</a:t>
            </a:r>
            <a:endParaRPr kumimoji="0" lang="zh-CN" altLang="en-US"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endParaRPr>
          </a:p>
        </p:txBody>
      </p:sp>
      <p:sp>
        <p:nvSpPr>
          <p:cNvPr id="9" name="矩形 8"/>
          <p:cNvSpPr/>
          <p:nvPr/>
        </p:nvSpPr>
        <p:spPr>
          <a:xfrm>
            <a:off x="1184012" y="4590799"/>
            <a:ext cx="3777245" cy="368300"/>
          </a:xfrm>
          <a:prstGeom prst="rect">
            <a:avLst/>
          </a:prstGeom>
        </p:spPr>
        <p:txBody>
          <a:bodyPr wrap="square" lIns="91440" tIns="45720" rIns="91440" bIns="4572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rPr>
              <a:t>实践痛点：</a:t>
            </a:r>
            <a:r>
              <a:rPr kumimoji="0" lang="zh-CN" altLang="en-US" sz="180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rPr>
              <a:t>滞后反馈，无效调试</a:t>
            </a:r>
            <a:endParaRPr kumimoji="0" lang="zh-CN" altLang="en-US" sz="180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endParaRPr>
          </a:p>
        </p:txBody>
      </p:sp>
      <p:sp>
        <p:nvSpPr>
          <p:cNvPr id="10" name="任意多边形 9"/>
          <p:cNvSpPr/>
          <p:nvPr/>
        </p:nvSpPr>
        <p:spPr>
          <a:xfrm rot="16200000">
            <a:off x="5928995" y="1518285"/>
            <a:ext cx="334010" cy="843915"/>
          </a:xfrm>
          <a:custGeom>
            <a:avLst/>
            <a:gdLst>
              <a:gd name="connsiteX0" fmla="*/ 0 w 792480"/>
              <a:gd name="connsiteY0" fmla="*/ 435864 h 792480"/>
              <a:gd name="connsiteX1" fmla="*/ 178308 w 792480"/>
              <a:gd name="connsiteY1" fmla="*/ 435864 h 792480"/>
              <a:gd name="connsiteX2" fmla="*/ 178308 w 792480"/>
              <a:gd name="connsiteY2" fmla="*/ 0 h 792480"/>
              <a:gd name="connsiteX3" fmla="*/ 614172 w 792480"/>
              <a:gd name="connsiteY3" fmla="*/ 0 h 792480"/>
              <a:gd name="connsiteX4" fmla="*/ 614172 w 792480"/>
              <a:gd name="connsiteY4" fmla="*/ 435864 h 792480"/>
              <a:gd name="connsiteX5" fmla="*/ 792480 w 792480"/>
              <a:gd name="connsiteY5" fmla="*/ 435864 h 792480"/>
              <a:gd name="connsiteX6" fmla="*/ 396240 w 792480"/>
              <a:gd name="connsiteY6" fmla="*/ 792480 h 792480"/>
              <a:gd name="connsiteX7" fmla="*/ 0 w 792480"/>
              <a:gd name="connsiteY7" fmla="*/ 435864 h 792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2480" h="792480">
                <a:moveTo>
                  <a:pt x="0" y="435864"/>
                </a:moveTo>
                <a:lnTo>
                  <a:pt x="178308" y="435864"/>
                </a:lnTo>
                <a:lnTo>
                  <a:pt x="178308" y="0"/>
                </a:lnTo>
                <a:lnTo>
                  <a:pt x="614172" y="0"/>
                </a:lnTo>
                <a:lnTo>
                  <a:pt x="614172" y="435864"/>
                </a:lnTo>
                <a:lnTo>
                  <a:pt x="792480" y="435864"/>
                </a:lnTo>
                <a:lnTo>
                  <a:pt x="396240" y="792480"/>
                </a:lnTo>
                <a:lnTo>
                  <a:pt x="0" y="435864"/>
                </a:lnTo>
                <a:close/>
              </a:path>
            </a:pathLst>
          </a:custGeom>
          <a:solidFill>
            <a:srgbClr val="990100"/>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24028" tIns="45720" rIns="224028" bIns="241859" numCol="1" spcCol="953" anchor="ctr" anchorCtr="0">
            <a:noAutofit/>
          </a:bodyPr>
          <a:lstStyle/>
          <a:p>
            <a:pPr marL="0" marR="0" lvl="0" indent="0" algn="ctr" defTabSz="1600200" rtl="0" eaLnBrk="1" fontAlgn="auto" latinLnBrk="0" hangingPunct="1">
              <a:lnSpc>
                <a:spcPct val="90000"/>
              </a:lnSpc>
              <a:spcBef>
                <a:spcPct val="0"/>
              </a:spcBef>
              <a:spcAft>
                <a:spcPct val="35000"/>
              </a:spcAft>
              <a:buClrTx/>
              <a:buSzTx/>
              <a:buFontTx/>
              <a:buNone/>
              <a:defRPr/>
            </a:pPr>
            <a:endParaRPr kumimoji="0" lang="zh-CN" altLang="en-US" sz="3600" b="0" i="0" u="none" strike="noStrike" kern="1200" cap="none" spc="0" normalizeH="0" baseline="0" noProof="0">
              <a:ln>
                <a:noFill/>
              </a:ln>
              <a:solidFill>
                <a:prstClr val="black">
                  <a:hueOff val="0"/>
                  <a:satOff val="0"/>
                  <a:lumOff val="0"/>
                  <a:alphaOff val="0"/>
                </a:prstClr>
              </a:solidFill>
              <a:effectLst/>
              <a:uLnTx/>
              <a:uFillTx/>
              <a:latin typeface="Arial" panose="020B0604020202020204"/>
              <a:ea typeface="微软雅黑" panose="020B0503020204020204" pitchFamily="34" charset="-122"/>
              <a:cs typeface="+mn-cs"/>
            </a:endParaRPr>
          </a:p>
        </p:txBody>
      </p:sp>
      <p:pic>
        <p:nvPicPr>
          <p:cNvPr id="12" name="图片 11"/>
          <p:cNvPicPr/>
          <p:nvPr/>
        </p:nvPicPr>
        <p:blipFill>
          <a:blip r:embed="rId5"/>
          <a:stretch>
            <a:fillRect/>
          </a:stretch>
        </p:blipFill>
        <p:spPr>
          <a:xfrm>
            <a:off x="6899275" y="2546350"/>
            <a:ext cx="1031240" cy="1031240"/>
          </a:xfrm>
          <a:prstGeom prst="rect">
            <a:avLst/>
          </a:prstGeom>
        </p:spPr>
      </p:pic>
      <p:sp>
        <p:nvSpPr>
          <p:cNvPr id="13" name="矩形 12"/>
          <p:cNvSpPr/>
          <p:nvPr/>
        </p:nvSpPr>
        <p:spPr>
          <a:xfrm>
            <a:off x="6899275" y="3905885"/>
            <a:ext cx="4657090" cy="692150"/>
          </a:xfrm>
          <a:prstGeom prst="rect">
            <a:avLst/>
          </a:prstGeom>
        </p:spPr>
        <p:txBody>
          <a:bodyPr wrap="square" lIns="91440" tIns="45720" rIns="91440" bIns="4572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algn="l" defTabSz="12192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rPr>
              <a:t>理论</a:t>
            </a:r>
            <a:r>
              <a:rPr kumimoji="0" lang="zh-CN" altLang="en-US"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rPr>
              <a:t>创新：</a:t>
            </a:r>
            <a:r>
              <a:rPr kumimoji="0" lang="zh-CN" altLang="en-US"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rPr>
              <a:t>生成式语义诊断</a:t>
            </a:r>
            <a:endParaRPr kumimoji="0" lang="zh-CN" altLang="en-US"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endParaRPr>
          </a:p>
          <a:p>
            <a:pPr marL="914400" marR="0" lvl="2" indent="457200" algn="l" defTabSz="1219200" rtl="0" eaLnBrk="1" fontAlgn="auto" latinLnBrk="0" hangingPunct="1">
              <a:lnSpc>
                <a:spcPct val="100000"/>
              </a:lnSpc>
              <a:spcBef>
                <a:spcPts val="0"/>
              </a:spcBef>
              <a:spcAft>
                <a:spcPts val="0"/>
              </a:spcAft>
              <a:buClrTx/>
              <a:buSzTx/>
              <a:buFontTx/>
              <a:buNone/>
              <a:defRPr/>
            </a:pPr>
            <a:r>
              <a:rPr kumimoji="0" lang="en-US" altLang="zh-CN"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rPr>
              <a:t>——</a:t>
            </a:r>
            <a:r>
              <a:rPr kumimoji="0" lang="zh-CN" altLang="en-US"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rPr>
              <a:t>思维链推理，归因分析</a:t>
            </a:r>
            <a:endParaRPr kumimoji="0" lang="zh-CN" altLang="en-US"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endParaRPr>
          </a:p>
          <a:p>
            <a:pPr marL="0" marR="0" lvl="0" algn="l" defTabSz="1219200" rtl="0" eaLnBrk="1" fontAlgn="auto" latinLnBrk="0" hangingPunct="1">
              <a:lnSpc>
                <a:spcPct val="100000"/>
              </a:lnSpc>
              <a:spcBef>
                <a:spcPts val="0"/>
              </a:spcBef>
              <a:spcAft>
                <a:spcPts val="0"/>
              </a:spcAft>
              <a:buClrTx/>
              <a:buSzTx/>
              <a:buFontTx/>
              <a:buNone/>
              <a:defRPr/>
            </a:pPr>
            <a:endParaRPr kumimoji="0" lang="zh-CN" altLang="en-US"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endParaRPr>
          </a:p>
        </p:txBody>
      </p:sp>
      <p:sp>
        <p:nvSpPr>
          <p:cNvPr id="14" name="矩形 13"/>
          <p:cNvSpPr/>
          <p:nvPr/>
        </p:nvSpPr>
        <p:spPr>
          <a:xfrm>
            <a:off x="6899012" y="4601594"/>
            <a:ext cx="3777245" cy="368300"/>
          </a:xfrm>
          <a:prstGeom prst="rect">
            <a:avLst/>
          </a:prstGeom>
        </p:spPr>
        <p:txBody>
          <a:bodyPr wrap="square" lIns="91440" tIns="45720" rIns="91440" bIns="4572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algn="l" defTabSz="1219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rPr>
              <a:t>实践痛点：</a:t>
            </a:r>
            <a:r>
              <a:rPr lang="zh-CN" altLang="en-US"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sym typeface="+mn-ea"/>
              </a:rPr>
              <a:t>主动预警，</a:t>
            </a:r>
            <a:r>
              <a:rPr lang="zh-CN" altLang="en-US"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sym typeface="+mn-ea"/>
              </a:rPr>
              <a:t>智能指导</a:t>
            </a:r>
            <a:endParaRPr kumimoji="0" lang="zh-CN" altLang="en-US" sz="180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endParaRPr>
          </a:p>
        </p:txBody>
      </p:sp>
      <p:sp>
        <p:nvSpPr>
          <p:cNvPr id="17" name="矩形 16"/>
          <p:cNvSpPr/>
          <p:nvPr/>
        </p:nvSpPr>
        <p:spPr>
          <a:xfrm>
            <a:off x="6543040" y="5769610"/>
            <a:ext cx="5340985" cy="410845"/>
          </a:xfrm>
          <a:prstGeom prst="rect">
            <a:avLst/>
          </a:prstGeom>
        </p:spPr>
        <p:txBody>
          <a:bodyPr wrap="square" lIns="91440" tIns="45720" rIns="91440" bIns="4572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显著降低学生无效试错时间，提升教学系统的智能化水平</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8" name="矩形 17"/>
          <p:cNvSpPr/>
          <p:nvPr/>
        </p:nvSpPr>
        <p:spPr>
          <a:xfrm>
            <a:off x="8389162" y="5337663"/>
            <a:ext cx="1607820" cy="378460"/>
          </a:xfrm>
          <a:prstGeom prst="rect">
            <a:avLst/>
          </a:prstGeom>
        </p:spPr>
        <p:txBody>
          <a:bodyPr wrap="none" lIns="91440" tIns="45720" rIns="91440" bIns="4572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algn="l" defTabSz="1219200" rtl="0" eaLnBrk="1" fontAlgn="auto" latinLnBrk="0" hangingPunct="1">
              <a:lnSpc>
                <a:spcPct val="100000"/>
              </a:lnSpc>
              <a:spcBef>
                <a:spcPts val="0"/>
              </a:spcBef>
              <a:spcAft>
                <a:spcPts val="0"/>
              </a:spcAft>
              <a:buClrTx/>
              <a:buSzTx/>
              <a:buFontTx/>
              <a:buNone/>
              <a:defRPr/>
            </a:pPr>
            <a:r>
              <a:rPr kumimoji="0" lang="zh-CN" altLang="en-US" sz="1865"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实践价值总结</a:t>
            </a:r>
            <a:endParaRPr kumimoji="0" lang="zh-CN" altLang="en-US" sz="1865"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梯形 34"/>
          <p:cNvSpPr/>
          <p:nvPr/>
        </p:nvSpPr>
        <p:spPr>
          <a:xfrm rot="16200000">
            <a:off x="7446198" y="-451317"/>
            <a:ext cx="2291737" cy="7199871"/>
          </a:xfrm>
          <a:prstGeom prst="trapezoid">
            <a:avLst>
              <a:gd name="adj" fmla="val 16935"/>
            </a:avLst>
          </a:prstGeom>
          <a:solidFill>
            <a:srgbClr val="99010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37" name="梯形 36"/>
          <p:cNvSpPr/>
          <p:nvPr/>
        </p:nvSpPr>
        <p:spPr>
          <a:xfrm rot="5400000">
            <a:off x="1331640" y="636804"/>
            <a:ext cx="2344067" cy="5007345"/>
          </a:xfrm>
          <a:prstGeom prst="trapezoid">
            <a:avLst>
              <a:gd name="adj" fmla="val 17865"/>
            </a:avLst>
          </a:prstGeom>
          <a:solidFill>
            <a:schemeClr val="bg1">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7" name="文本框 2"/>
          <p:cNvSpPr txBox="1"/>
          <p:nvPr/>
        </p:nvSpPr>
        <p:spPr>
          <a:xfrm>
            <a:off x="3729079" y="2556165"/>
            <a:ext cx="1164101" cy="1200329"/>
          </a:xfrm>
          <a:prstGeom prst="rect">
            <a:avLst/>
          </a:prstGeom>
          <a:noFill/>
        </p:spPr>
        <p:txBody>
          <a:bodyPr wrap="none" lIns="91440" tIns="45720" rIns="91440" bIns="4572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Part</a:t>
            </a:r>
            <a:r>
              <a:rPr kumimoji="0" lang="en-US" altLang="zh-CN"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2</a:t>
            </a:r>
            <a:endParaRPr kumimoji="0" lang="zh-CN" altLang="en-US"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29" name="矩形 28"/>
          <p:cNvSpPr/>
          <p:nvPr/>
        </p:nvSpPr>
        <p:spPr>
          <a:xfrm>
            <a:off x="5638798" y="2692405"/>
            <a:ext cx="2621280" cy="829945"/>
          </a:xfrm>
          <a:prstGeom prst="rect">
            <a:avLst/>
          </a:prstGeom>
        </p:spPr>
        <p:txBody>
          <a:bodyPr wrap="non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研究现状</a:t>
            </a:r>
            <a:endParaRPr kumimoji="0" lang="zh-CN" altLang="en-US" sz="48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22989" y="1235242"/>
            <a:ext cx="3251090" cy="326475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custDataLst>
              <p:tags r:id="rId1"/>
            </p:custDataLst>
          </p:nvPr>
        </p:nvGrpSpPr>
        <p:grpSpPr>
          <a:xfrm>
            <a:off x="455930" y="2588895"/>
            <a:ext cx="3392805" cy="2193925"/>
            <a:chOff x="1053" y="2278"/>
            <a:chExt cx="5663" cy="3455"/>
          </a:xfrm>
        </p:grpSpPr>
        <p:sp>
          <p:nvSpPr>
            <p:cNvPr id="6" name="文本框 27"/>
            <p:cNvSpPr txBox="1"/>
            <p:nvPr>
              <p:custDataLst>
                <p:tags r:id="rId2"/>
              </p:custDataLst>
            </p:nvPr>
          </p:nvSpPr>
          <p:spPr>
            <a:xfrm>
              <a:off x="1053" y="2979"/>
              <a:ext cx="5663" cy="2754"/>
            </a:xfrm>
            <a:prstGeom prst="rect">
              <a:avLst/>
            </a:prstGeom>
            <a:solidFill>
              <a:schemeClr val="bg1">
                <a:lumMod val="95000"/>
              </a:schemeClr>
            </a:solidFill>
            <a:ln w="12700">
              <a:solidFill>
                <a:srgbClr val="990100"/>
              </a:solidFill>
            </a:ln>
          </p:spPr>
          <p:txBody>
            <a:bodyPr wrap="square" lIns="91440" tIns="45720" rIns="91440" bIns="45720" rtlCol="0">
              <a:noAutofit/>
            </a:bodyPr>
            <a:lstStyle/>
            <a:p>
              <a:pPr marR="0" lvl="0" indent="0" algn="l" defTabSz="457200" rtl="0" fontAlgn="auto">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基于</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DKT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，预测具体语法错误。</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R="0" lvl="0" indent="0" algn="l" defTabSz="457200" rtl="0" fontAlgn="auto">
                <a:lnSpc>
                  <a:spcPct val="13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方法：</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通过题目</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ID</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和正确性标签进行序列建模。</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R="0" lvl="0" indent="0" algn="l" defTabSz="457200" rtl="0" fontAlgn="auto">
                <a:lnSpc>
                  <a:spcPct val="13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局限性：</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缺乏代码语义理解；无法处理复杂逻辑错误；无错误解释。</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矩形 6"/>
            <p:cNvSpPr/>
            <p:nvPr>
              <p:custDataLst>
                <p:tags r:id="rId3"/>
              </p:custDataLst>
            </p:nvPr>
          </p:nvSpPr>
          <p:spPr bwMode="auto">
            <a:xfrm>
              <a:off x="1053" y="2278"/>
              <a:ext cx="5663" cy="702"/>
            </a:xfrm>
            <a:prstGeom prst="rect">
              <a:avLst/>
            </a:prstGeom>
            <a:solidFill>
              <a:srgbClr val="990100"/>
            </a:solidFill>
            <a:ln>
              <a:solidFill>
                <a:srgbClr val="990100"/>
              </a:solidFill>
            </a:ln>
          </p:spPr>
          <p:txBody>
            <a:bodyPr vert="horz" wrap="square" lIns="91440" tIns="45720" rIns="91440" bIns="45720" numCol="1" rtlCol="0" anchor="t" anchorCtr="0" compatLnSpc="1"/>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b="1" noProof="0" dirty="0">
                  <a:ln>
                    <a:noFill/>
                  </a:ln>
                  <a:solidFill>
                    <a:prstClr val="white"/>
                  </a:solidFill>
                  <a:effectLst/>
                  <a:uLnTx/>
                  <a:uFillTx/>
                  <a:latin typeface="微软雅黑" panose="020B0503020204020204" pitchFamily="34" charset="-122"/>
                  <a:ea typeface="微软雅黑" panose="020B0503020204020204" pitchFamily="34" charset="-122"/>
                  <a:sym typeface="+mn-ea"/>
                </a:rPr>
                <a:t>代表性工作：Error-DKT</a:t>
              </a:r>
              <a:endParaRPr kumimoji="0" lang="zh-CN" altLang="en-US"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14" name="矩形 13"/>
          <p:cNvSpPr>
            <a:spLocks noChangeArrowheads="1"/>
          </p:cNvSpPr>
          <p:nvPr/>
        </p:nvSpPr>
        <p:spPr bwMode="auto">
          <a:xfrm>
            <a:off x="634918" y="237124"/>
            <a:ext cx="186817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cs"/>
                <a:sym typeface="Calibri" panose="020F0502020204030204" pitchFamily="34" charset="0"/>
              </a:rPr>
              <a:t>研究</a:t>
            </a:r>
            <a:r>
              <a:rPr kumimoji="0" lang="zh-CN" altLang="en-US" sz="32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cs"/>
                <a:sym typeface="Calibri" panose="020F0502020204030204" pitchFamily="34" charset="0"/>
              </a:rPr>
              <a:t>现状</a:t>
            </a:r>
            <a:endParaRPr kumimoji="0" lang="zh-CN" altLang="en-US" sz="32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15" name="等腰三角形 14"/>
          <p:cNvSpPr>
            <a:spLocks noChangeArrowheads="1"/>
          </p:cNvSpPr>
          <p:nvPr/>
        </p:nvSpPr>
        <p:spPr bwMode="auto">
          <a:xfrm rot="5400000">
            <a:off x="-53049" y="209721"/>
            <a:ext cx="774879" cy="668780"/>
          </a:xfrm>
          <a:prstGeom prst="triangle">
            <a:avLst>
              <a:gd name="adj" fmla="val 50000"/>
            </a:avLst>
          </a:prstGeom>
          <a:solidFill>
            <a:srgbClr val="990100"/>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pic>
        <p:nvPicPr>
          <p:cNvPr id="24" name="图片 23"/>
          <p:cNvPicPr>
            <a:picLocks noChangeAspect="1"/>
          </p:cNvPicPr>
          <p:nvPr/>
        </p:nvPicPr>
        <p:blipFill>
          <a:blip r:embed="rId4" cstate="print">
            <a:biLevel thresh="75000"/>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12465" y="6301220"/>
            <a:ext cx="1523493" cy="400109"/>
          </a:xfrm>
          <a:prstGeom prst="rect">
            <a:avLst/>
          </a:prstGeom>
        </p:spPr>
      </p:pic>
      <p:pic>
        <p:nvPicPr>
          <p:cNvPr id="3" name="图片 2" descr="logo红"/>
          <p:cNvPicPr>
            <a:picLocks noChangeAspect="1"/>
          </p:cNvPicPr>
          <p:nvPr/>
        </p:nvPicPr>
        <p:blipFill>
          <a:blip r:embed="rId6"/>
          <a:stretch>
            <a:fillRect/>
          </a:stretch>
        </p:blipFill>
        <p:spPr>
          <a:xfrm>
            <a:off x="8033385" y="297815"/>
            <a:ext cx="3755390" cy="494665"/>
          </a:xfrm>
          <a:prstGeom prst="rect">
            <a:avLst/>
          </a:prstGeom>
        </p:spPr>
      </p:pic>
      <p:sp>
        <p:nvSpPr>
          <p:cNvPr id="8" name="文本框 7"/>
          <p:cNvSpPr txBox="1"/>
          <p:nvPr>
            <p:custDataLst>
              <p:tags r:id="rId7"/>
            </p:custDataLst>
          </p:nvPr>
        </p:nvSpPr>
        <p:spPr>
          <a:xfrm>
            <a:off x="455930" y="1007745"/>
            <a:ext cx="3393440" cy="810260"/>
          </a:xfrm>
          <a:prstGeom prst="rect">
            <a:avLst/>
          </a:prstGeom>
          <a:noFill/>
        </p:spPr>
        <p:txBody>
          <a:bodyPr wrap="square" rtlCol="0" anchor="t">
            <a:spAutoFit/>
          </a:bodyPr>
          <a:p>
            <a:pPr>
              <a:lnSpc>
                <a:spcPct val="130000"/>
              </a:lnSpc>
            </a:pPr>
            <a:r>
              <a:rPr lang="zh-CN" altLang="en-US" sz="1800" b="1" noProof="0" dirty="0">
                <a:ln>
                  <a:noFill/>
                </a:ln>
                <a:solidFill>
                  <a:schemeClr val="tx1"/>
                </a:solidFill>
                <a:effectLst/>
                <a:uLnTx/>
                <a:uFillTx/>
                <a:latin typeface="微软雅黑" panose="020B0503020204020204" pitchFamily="34" charset="-122"/>
                <a:ea typeface="微软雅黑" panose="020B0503020204020204" pitchFamily="34" charset="-122"/>
              </a:rPr>
              <a:t>阶段一：传统深度学习（关注二值预测)</a:t>
            </a:r>
            <a:endParaRPr lang="zh-CN" altLang="en-US" sz="1800" b="1"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9" name="文本框 8"/>
          <p:cNvSpPr txBox="1"/>
          <p:nvPr>
            <p:custDataLst>
              <p:tags r:id="rId8"/>
            </p:custDataLst>
          </p:nvPr>
        </p:nvSpPr>
        <p:spPr>
          <a:xfrm>
            <a:off x="4300855" y="938530"/>
            <a:ext cx="3392170" cy="810260"/>
          </a:xfrm>
          <a:prstGeom prst="rect">
            <a:avLst/>
          </a:prstGeom>
          <a:noFill/>
        </p:spPr>
        <p:txBody>
          <a:bodyPr wrap="square" rtlCol="0" anchor="t">
            <a:spAutoFit/>
          </a:bodyPr>
          <a:p>
            <a:pPr>
              <a:lnSpc>
                <a:spcPct val="130000"/>
              </a:lnSpc>
            </a:pPr>
            <a:r>
              <a:rPr lang="zh-CN" altLang="en-US" sz="1800" b="1" noProof="0" dirty="0">
                <a:ln>
                  <a:noFill/>
                </a:ln>
                <a:solidFill>
                  <a:schemeClr val="tx1"/>
                </a:solidFill>
                <a:effectLst/>
                <a:uLnTx/>
                <a:uFillTx/>
                <a:latin typeface="微软雅黑" panose="020B0503020204020204" pitchFamily="34" charset="-122"/>
                <a:ea typeface="微软雅黑" panose="020B0503020204020204" pitchFamily="34" charset="-122"/>
              </a:rPr>
              <a:t>阶段二：大模型增强的语义与逻辑追踪</a:t>
            </a:r>
            <a:endParaRPr lang="zh-CN" altLang="en-US" sz="1800" b="1"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10" name="文本框 9"/>
          <p:cNvSpPr txBox="1"/>
          <p:nvPr/>
        </p:nvSpPr>
        <p:spPr>
          <a:xfrm>
            <a:off x="8396605" y="938530"/>
            <a:ext cx="3501390" cy="450850"/>
          </a:xfrm>
          <a:prstGeom prst="rect">
            <a:avLst/>
          </a:prstGeom>
          <a:noFill/>
        </p:spPr>
        <p:txBody>
          <a:bodyPr wrap="square" rtlCol="0" anchor="t">
            <a:spAutoFit/>
          </a:bodyPr>
          <a:p>
            <a:pPr algn="l">
              <a:lnSpc>
                <a:spcPct val="130000"/>
              </a:lnSpc>
              <a:buClrTx/>
              <a:buSzTx/>
              <a:buFontTx/>
            </a:pPr>
            <a:r>
              <a:rPr lang="zh-CN" altLang="en-US" sz="1800" b="1" noProof="0" dirty="0">
                <a:ln>
                  <a:noFill/>
                </a:ln>
                <a:effectLst/>
                <a:uLnTx/>
                <a:uFillTx/>
                <a:latin typeface="微软雅黑" panose="020B0503020204020204" pitchFamily="34" charset="-122"/>
                <a:ea typeface="微软雅黑" panose="020B0503020204020204" pitchFamily="34" charset="-122"/>
              </a:rPr>
              <a:t>阶段三：多模态融合与认知代理</a:t>
            </a:r>
            <a:endParaRPr lang="zh-CN" altLang="en-US" sz="1800" b="1" noProof="0" dirty="0">
              <a:ln>
                <a:noFill/>
              </a:ln>
              <a:effectLst/>
              <a:uLnTx/>
              <a:uFillTx/>
              <a:latin typeface="微软雅黑" panose="020B0503020204020204" pitchFamily="34" charset="-122"/>
              <a:ea typeface="微软雅黑" panose="020B0503020204020204" pitchFamily="34" charset="-122"/>
            </a:endParaRPr>
          </a:p>
        </p:txBody>
      </p:sp>
      <p:grpSp>
        <p:nvGrpSpPr>
          <p:cNvPr id="11" name="组合 10"/>
          <p:cNvGrpSpPr/>
          <p:nvPr>
            <p:custDataLst>
              <p:tags r:id="rId9"/>
            </p:custDataLst>
          </p:nvPr>
        </p:nvGrpSpPr>
        <p:grpSpPr>
          <a:xfrm>
            <a:off x="4377690" y="2067560"/>
            <a:ext cx="3392805" cy="2038985"/>
            <a:chOff x="1053" y="2278"/>
            <a:chExt cx="5663" cy="3211"/>
          </a:xfrm>
        </p:grpSpPr>
        <p:sp>
          <p:nvSpPr>
            <p:cNvPr id="13" name="文本框 27"/>
            <p:cNvSpPr txBox="1"/>
            <p:nvPr>
              <p:custDataLst>
                <p:tags r:id="rId10"/>
              </p:custDataLst>
            </p:nvPr>
          </p:nvSpPr>
          <p:spPr>
            <a:xfrm>
              <a:off x="1053" y="2979"/>
              <a:ext cx="5663" cy="2510"/>
            </a:xfrm>
            <a:prstGeom prst="rect">
              <a:avLst/>
            </a:prstGeom>
            <a:solidFill>
              <a:schemeClr val="bg1">
                <a:lumMod val="95000"/>
              </a:schemeClr>
            </a:solidFill>
            <a:ln w="12700">
              <a:solidFill>
                <a:srgbClr val="990100"/>
              </a:solidFill>
            </a:ln>
          </p:spPr>
          <p:txBody>
            <a:bodyPr wrap="square" lIns="91440" tIns="45720" rIns="91440" bIns="45720" rtlCol="0">
              <a:noAutofit/>
            </a:bodyPr>
            <a:lstStyle/>
            <a:p>
              <a:pPr marR="0" lvl="0" indent="0" algn="l" defTabSz="457200" rtl="0" fontAlgn="auto">
                <a:lnSpc>
                  <a:spcPct val="13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OKT: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预测代码生成（</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GPT-2+ASTNN)</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R="0" lvl="0" indent="0" algn="l" defTabSz="457200" rtl="0" fontAlgn="auto">
                <a:lnSpc>
                  <a:spcPct val="13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ECKT</a:t>
              </a:r>
              <a:r>
                <a:rPr kumimoji="0" lang="zh-CN" altLang="en-US" sz="14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利用</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C</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oT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和少样本学习，从</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R="0" lvl="0" indent="0" algn="l" defTabSz="457200" rtl="0" fontAlgn="auto">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代码中提取概念。</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R="0" lvl="0" indent="0" algn="l" defTabSz="457200" rtl="0" fontAlgn="auto">
                <a:lnSpc>
                  <a:spcPct val="13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成果：</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显著提升准确性（</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ECKT AUC</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R="0" lvl="0" indent="0" algn="l" defTabSz="457200" rtl="0" fontAlgn="auto">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80.01%</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16" name="矩形 15"/>
            <p:cNvSpPr/>
            <p:nvPr>
              <p:custDataLst>
                <p:tags r:id="rId11"/>
              </p:custDataLst>
            </p:nvPr>
          </p:nvSpPr>
          <p:spPr bwMode="auto">
            <a:xfrm>
              <a:off x="1053" y="2278"/>
              <a:ext cx="5663" cy="702"/>
            </a:xfrm>
            <a:prstGeom prst="rect">
              <a:avLst/>
            </a:prstGeom>
            <a:solidFill>
              <a:srgbClr val="990100"/>
            </a:solidFill>
            <a:ln>
              <a:solidFill>
                <a:srgbClr val="990100"/>
              </a:solidFill>
            </a:ln>
          </p:spPr>
          <p:txBody>
            <a:bodyPr vert="horz" wrap="square" lIns="91440" tIns="45720" rIns="91440" bIns="45720" numCol="1" rtlCol="0" anchor="t" anchorCtr="0" compatLnSpc="1"/>
            <a:lstStyle/>
            <a:p>
              <a:pPr marL="0" marR="0" lvl="0" algn="ctr" defTabSz="457200" rtl="0" eaLnBrk="1" fontAlgn="auto" latinLnBrk="0" hangingPunct="1">
                <a:lnSpc>
                  <a:spcPct val="100000"/>
                </a:lnSpc>
                <a:spcBef>
                  <a:spcPts val="0"/>
                </a:spcBef>
                <a:spcAft>
                  <a:spcPts val="0"/>
                </a:spcAft>
                <a:buClrTx/>
                <a:buSzTx/>
                <a:buFontTx/>
                <a:buNone/>
                <a:defRPr/>
              </a:pPr>
              <a:r>
                <a:rPr lang="zh-CN" altLang="en-US" b="1" noProof="0" dirty="0">
                  <a:ln>
                    <a:noFill/>
                  </a:ln>
                  <a:solidFill>
                    <a:prstClr val="white"/>
                  </a:solidFill>
                  <a:effectLst/>
                  <a:uLnTx/>
                  <a:uFillTx/>
                  <a:latin typeface="微软雅黑" panose="020B0503020204020204" pitchFamily="34" charset="-122"/>
                  <a:ea typeface="微软雅黑" panose="020B0503020204020204" pitchFamily="34" charset="-122"/>
                  <a:sym typeface="+mn-ea"/>
                </a:rPr>
                <a:t>语义理解增强（OKT&amp;ECKT)</a:t>
              </a:r>
              <a:endParaRPr kumimoji="0" lang="zh-CN" altLang="en-US"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algn="ctr" defTabSz="457200" rtl="0" eaLnBrk="1" fontAlgn="auto" latinLnBrk="0" hangingPunct="1">
                <a:lnSpc>
                  <a:spcPct val="100000"/>
                </a:lnSpc>
                <a:spcBef>
                  <a:spcPts val="0"/>
                </a:spcBef>
                <a:spcAft>
                  <a:spcPts val="0"/>
                </a:spcAft>
                <a:buClrTx/>
                <a:buSzTx/>
                <a:buFontTx/>
                <a:buNone/>
                <a:defRPr/>
              </a:pPr>
              <a:endParaRPr kumimoji="0" lang="zh-CN" altLang="en-US"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20" name="组合 19"/>
          <p:cNvGrpSpPr/>
          <p:nvPr>
            <p:custDataLst>
              <p:tags r:id="rId12"/>
            </p:custDataLst>
          </p:nvPr>
        </p:nvGrpSpPr>
        <p:grpSpPr>
          <a:xfrm>
            <a:off x="4377690" y="4106545"/>
            <a:ext cx="3392805" cy="1487805"/>
            <a:chOff x="1053" y="1759"/>
            <a:chExt cx="5663" cy="2343"/>
          </a:xfrm>
        </p:grpSpPr>
        <p:sp>
          <p:nvSpPr>
            <p:cNvPr id="21" name="文本框 27"/>
            <p:cNvSpPr txBox="1"/>
            <p:nvPr>
              <p:custDataLst>
                <p:tags r:id="rId13"/>
              </p:custDataLst>
            </p:nvPr>
          </p:nvSpPr>
          <p:spPr>
            <a:xfrm>
              <a:off x="1053" y="2461"/>
              <a:ext cx="5663" cy="1641"/>
            </a:xfrm>
            <a:prstGeom prst="rect">
              <a:avLst/>
            </a:prstGeom>
            <a:solidFill>
              <a:schemeClr val="bg1">
                <a:lumMod val="95000"/>
              </a:schemeClr>
            </a:solidFill>
            <a:ln w="12700">
              <a:solidFill>
                <a:srgbClr val="990100"/>
              </a:solidFill>
            </a:ln>
          </p:spPr>
          <p:txBody>
            <a:bodyPr wrap="square" lIns="91440" tIns="45720" rIns="91440" bIns="45720" rtlCol="0">
              <a:noAutofit/>
            </a:bodyPr>
            <a:lstStyle/>
            <a:p>
              <a:pPr marR="0" lvl="0" indent="0" algn="l" defTabSz="457200" rtl="0" fontAlgn="auto">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测试用例级粒度。</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R="0" lvl="0" indent="0" algn="l" defTabSz="457200" rtl="0" fontAlgn="auto">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多任务学习（判别与生成）。</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R="0" lvl="0" indent="0" algn="l" defTabSz="457200" rtl="0" fontAlgn="auto">
                <a:lnSpc>
                  <a:spcPct val="13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成果：</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性能优于</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Code-DKT-TC</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22" name="矩形 21"/>
            <p:cNvSpPr/>
            <p:nvPr>
              <p:custDataLst>
                <p:tags r:id="rId14"/>
              </p:custDataLst>
            </p:nvPr>
          </p:nvSpPr>
          <p:spPr bwMode="auto">
            <a:xfrm>
              <a:off x="1053" y="1759"/>
              <a:ext cx="5663" cy="702"/>
            </a:xfrm>
            <a:prstGeom prst="rect">
              <a:avLst/>
            </a:prstGeom>
            <a:solidFill>
              <a:srgbClr val="990100"/>
            </a:solidFill>
            <a:ln>
              <a:solidFill>
                <a:srgbClr val="990100"/>
              </a:solidFill>
            </a:ln>
          </p:spPr>
          <p:txBody>
            <a:bodyPr vert="horz" wrap="square" lIns="91440" tIns="45720" rIns="91440" bIns="45720" numCol="1" rtlCol="0" anchor="t" anchorCtr="0" compatLnSpc="1"/>
            <a:lstStyle/>
            <a:p>
              <a:pPr marL="0" marR="0" lvl="0" algn="ctr" defTabSz="457200" rtl="0" eaLnBrk="1" fontAlgn="auto" latinLnBrk="0" hangingPunct="1">
                <a:lnSpc>
                  <a:spcPct val="100000"/>
                </a:lnSpc>
                <a:spcBef>
                  <a:spcPts val="0"/>
                </a:spcBef>
                <a:spcAft>
                  <a:spcPts val="0"/>
                </a:spcAft>
                <a:buClrTx/>
                <a:buSzTx/>
                <a:buFontTx/>
                <a:buNone/>
                <a:defRPr/>
              </a:pPr>
              <a:r>
                <a:rPr lang="zh-CN" altLang="en-US" b="1" noProof="0" dirty="0">
                  <a:ln>
                    <a:noFill/>
                  </a:ln>
                  <a:solidFill>
                    <a:prstClr val="white"/>
                  </a:solidFill>
                  <a:effectLst/>
                  <a:uLnTx/>
                  <a:uFillTx/>
                  <a:latin typeface="微软雅黑" panose="020B0503020204020204" pitchFamily="34" charset="-122"/>
                  <a:ea typeface="微软雅黑" panose="020B0503020204020204" pitchFamily="34" charset="-122"/>
                  <a:sym typeface="+mn-ea"/>
                </a:rPr>
                <a:t>精细化追踪（TIKTOC）</a:t>
              </a:r>
              <a:endParaRPr kumimoji="0" lang="zh-CN" altLang="en-US"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algn="ctr" defTabSz="457200" rtl="0" eaLnBrk="1" fontAlgn="auto" latinLnBrk="0" hangingPunct="1">
                <a:lnSpc>
                  <a:spcPct val="100000"/>
                </a:lnSpc>
                <a:spcBef>
                  <a:spcPts val="0"/>
                </a:spcBef>
                <a:spcAft>
                  <a:spcPts val="0"/>
                </a:spcAft>
                <a:buClrTx/>
                <a:buSzTx/>
                <a:buFontTx/>
                <a:buNone/>
                <a:defRPr/>
              </a:pPr>
              <a:endParaRPr kumimoji="0" lang="zh-CN" altLang="en-US"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23" name="组合 22"/>
          <p:cNvGrpSpPr/>
          <p:nvPr>
            <p:custDataLst>
              <p:tags r:id="rId15"/>
            </p:custDataLst>
          </p:nvPr>
        </p:nvGrpSpPr>
        <p:grpSpPr>
          <a:xfrm>
            <a:off x="8395970" y="1680845"/>
            <a:ext cx="3392805" cy="1448435"/>
            <a:chOff x="1053" y="2278"/>
            <a:chExt cx="5663" cy="2281"/>
          </a:xfrm>
        </p:grpSpPr>
        <p:sp>
          <p:nvSpPr>
            <p:cNvPr id="25" name="文本框 27"/>
            <p:cNvSpPr txBox="1"/>
            <p:nvPr>
              <p:custDataLst>
                <p:tags r:id="rId16"/>
              </p:custDataLst>
            </p:nvPr>
          </p:nvSpPr>
          <p:spPr>
            <a:xfrm>
              <a:off x="1053" y="2979"/>
              <a:ext cx="5663" cy="1580"/>
            </a:xfrm>
            <a:prstGeom prst="rect">
              <a:avLst/>
            </a:prstGeom>
            <a:solidFill>
              <a:schemeClr val="bg1">
                <a:lumMod val="95000"/>
              </a:schemeClr>
            </a:solidFill>
            <a:ln w="12700">
              <a:solidFill>
                <a:srgbClr val="990100"/>
              </a:solidFill>
            </a:ln>
          </p:spPr>
          <p:txBody>
            <a:bodyPr wrap="square" lIns="91440" tIns="45720" rIns="91440" bIns="45720" rtlCol="0">
              <a:noAutofit/>
            </a:bodyPr>
            <a:lstStyle/>
            <a:p>
              <a:pPr marR="0" lvl="0" indent="0" algn="l" defTabSz="457200" rtl="0" fontAlgn="auto">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纵向轨迹（</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Puri</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等，</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CodeNet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元数据）</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R="0" lvl="0" indent="0" algn="l" defTabSz="457200" rtl="0" fontAlgn="auto">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代码变动与时间间隔揭示认知状态（试错与深思）。</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26" name="矩形 25"/>
            <p:cNvSpPr/>
            <p:nvPr>
              <p:custDataLst>
                <p:tags r:id="rId17"/>
              </p:custDataLst>
            </p:nvPr>
          </p:nvSpPr>
          <p:spPr bwMode="auto">
            <a:xfrm>
              <a:off x="1053" y="2278"/>
              <a:ext cx="5663" cy="702"/>
            </a:xfrm>
            <a:prstGeom prst="rect">
              <a:avLst/>
            </a:prstGeom>
            <a:solidFill>
              <a:srgbClr val="990100"/>
            </a:solidFill>
            <a:ln>
              <a:solidFill>
                <a:srgbClr val="990100"/>
              </a:solidFill>
            </a:ln>
          </p:spPr>
          <p:txBody>
            <a:bodyPr vert="horz" wrap="square" lIns="91440" tIns="45720" rIns="91440" bIns="45720" numCol="1" rtlCol="0" anchor="t" anchorCtr="0" compatLnSpc="1"/>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编程提交行为与过程分析</a:t>
              </a:r>
              <a:endParaRPr kumimoji="0" lang="zh-CN" altLang="en-US"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27" name="组合 26"/>
          <p:cNvGrpSpPr/>
          <p:nvPr>
            <p:custDataLst>
              <p:tags r:id="rId18"/>
            </p:custDataLst>
          </p:nvPr>
        </p:nvGrpSpPr>
        <p:grpSpPr>
          <a:xfrm>
            <a:off x="8395970" y="3129280"/>
            <a:ext cx="3392805" cy="1680210"/>
            <a:chOff x="1053" y="2278"/>
            <a:chExt cx="5663" cy="2646"/>
          </a:xfrm>
        </p:grpSpPr>
        <p:sp>
          <p:nvSpPr>
            <p:cNvPr id="28" name="文本框 27"/>
            <p:cNvSpPr txBox="1"/>
            <p:nvPr>
              <p:custDataLst>
                <p:tags r:id="rId19"/>
              </p:custDataLst>
            </p:nvPr>
          </p:nvSpPr>
          <p:spPr>
            <a:xfrm>
              <a:off x="1053" y="2979"/>
              <a:ext cx="5663" cy="1945"/>
            </a:xfrm>
            <a:prstGeom prst="rect">
              <a:avLst/>
            </a:prstGeom>
            <a:solidFill>
              <a:schemeClr val="bg1">
                <a:lumMod val="95000"/>
              </a:schemeClr>
            </a:solidFill>
            <a:ln w="12700">
              <a:solidFill>
                <a:srgbClr val="990100"/>
              </a:solidFill>
            </a:ln>
          </p:spPr>
          <p:txBody>
            <a:bodyPr wrap="square" lIns="91440" tIns="45720" rIns="91440" bIns="45720" rtlCol="0">
              <a:noAutofit/>
            </a:bodyPr>
            <a:lstStyle/>
            <a:p>
              <a:pPr marR="0" lvl="0" indent="0" algn="l" defTabSz="457200" rtl="0" fontAlgn="auto">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对比学习</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(CodeContrast)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：对齐代码、测试用例、解决方案。</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R="0" lvl="0" indent="0" algn="l" defTabSz="457200" rtl="0" fontAlgn="auto">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软提示（</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M2PT)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：高效微调多横态输入的大模型（冻结参数）。</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29" name="矩形 28"/>
            <p:cNvSpPr/>
            <p:nvPr>
              <p:custDataLst>
                <p:tags r:id="rId20"/>
              </p:custDataLst>
            </p:nvPr>
          </p:nvSpPr>
          <p:spPr bwMode="auto">
            <a:xfrm>
              <a:off x="1053" y="2278"/>
              <a:ext cx="5663" cy="702"/>
            </a:xfrm>
            <a:prstGeom prst="rect">
              <a:avLst/>
            </a:prstGeom>
            <a:solidFill>
              <a:srgbClr val="990100"/>
            </a:solidFill>
            <a:ln>
              <a:solidFill>
                <a:srgbClr val="990100"/>
              </a:solidFill>
            </a:ln>
          </p:spPr>
          <p:txBody>
            <a:bodyPr vert="horz" wrap="square" lIns="91440" tIns="45720" rIns="91440" bIns="45720" numCol="1" rtlCol="0" anchor="t" anchorCtr="0" compatLnSpc="1"/>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多模态特征对齐</a:t>
              </a:r>
              <a:endParaRPr kumimoji="0" lang="zh-CN" altLang="en-US"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30" name="组合 29"/>
          <p:cNvGrpSpPr/>
          <p:nvPr>
            <p:custDataLst>
              <p:tags r:id="rId21"/>
            </p:custDataLst>
          </p:nvPr>
        </p:nvGrpSpPr>
        <p:grpSpPr>
          <a:xfrm>
            <a:off x="8395970" y="4806950"/>
            <a:ext cx="3392805" cy="1479550"/>
            <a:chOff x="1053" y="2278"/>
            <a:chExt cx="5663" cy="2330"/>
          </a:xfrm>
        </p:grpSpPr>
        <p:sp>
          <p:nvSpPr>
            <p:cNvPr id="31" name="文本框 30"/>
            <p:cNvSpPr txBox="1"/>
            <p:nvPr>
              <p:custDataLst>
                <p:tags r:id="rId22"/>
              </p:custDataLst>
            </p:nvPr>
          </p:nvSpPr>
          <p:spPr>
            <a:xfrm>
              <a:off x="1053" y="2979"/>
              <a:ext cx="5663" cy="1629"/>
            </a:xfrm>
            <a:prstGeom prst="rect">
              <a:avLst/>
            </a:prstGeom>
            <a:solidFill>
              <a:schemeClr val="bg1">
                <a:lumMod val="95000"/>
              </a:schemeClr>
            </a:solidFill>
            <a:ln w="12700">
              <a:solidFill>
                <a:srgbClr val="990100"/>
              </a:solidFill>
            </a:ln>
          </p:spPr>
          <p:txBody>
            <a:bodyPr wrap="square" lIns="91440" tIns="45720" rIns="91440" bIns="45720" rtlCol="0">
              <a:noAutofit/>
            </a:bodyPr>
            <a:lstStyle/>
            <a:p>
              <a:pPr marR="0" lvl="0" indent="0" algn="l" defTabSz="457200" rtl="0" fontAlgn="auto">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CoderAgent(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基于</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ACT-R):</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模拟迭代修改。</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R="0" lvl="0" indent="0" algn="l" defTabSz="457200" rtl="0" fontAlgn="auto">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两阶段框架（</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Shaka</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等）：个性化代码生成</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错误预测</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(Mistral-7B+ORPO</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32" name="矩形 31"/>
            <p:cNvSpPr/>
            <p:nvPr>
              <p:custDataLst>
                <p:tags r:id="rId23"/>
              </p:custDataLst>
            </p:nvPr>
          </p:nvSpPr>
          <p:spPr bwMode="auto">
            <a:xfrm>
              <a:off x="1053" y="2278"/>
              <a:ext cx="5663" cy="702"/>
            </a:xfrm>
            <a:prstGeom prst="rect">
              <a:avLst/>
            </a:prstGeom>
            <a:solidFill>
              <a:srgbClr val="990100"/>
            </a:solidFill>
            <a:ln>
              <a:solidFill>
                <a:srgbClr val="990100"/>
              </a:solidFill>
            </a:ln>
          </p:spPr>
          <p:txBody>
            <a:bodyPr vert="horz" wrap="square" lIns="91440" tIns="45720" rIns="91440" bIns="45720" numCol="1" rtlCol="0" anchor="t" anchorCtr="0" compatLnSpc="1"/>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认知代理与多阶段预测</a:t>
              </a:r>
              <a:endParaRPr kumimoji="0" lang="zh-CN" altLang="en-US"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p:cNvSpPr/>
          <p:nvPr>
            <p:custDataLst>
              <p:tags r:id="rId1"/>
            </p:custDataLst>
          </p:nvPr>
        </p:nvSpPr>
        <p:spPr>
          <a:xfrm>
            <a:off x="2637794" y="1587735"/>
            <a:ext cx="1004399" cy="1004399"/>
          </a:xfrm>
          <a:prstGeom prst="ellipse">
            <a:avLst/>
          </a:prstGeom>
          <a:solidFill>
            <a:srgbClr val="99010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a:t>
            </a:r>
            <a:endParaRPr kumimoji="0" lang="zh-HK" altLang="en-US"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 name="椭圆 6"/>
          <p:cNvSpPr/>
          <p:nvPr>
            <p:custDataLst>
              <p:tags r:id="rId2"/>
            </p:custDataLst>
          </p:nvPr>
        </p:nvSpPr>
        <p:spPr>
          <a:xfrm>
            <a:off x="3642194" y="3356749"/>
            <a:ext cx="1004399" cy="1004399"/>
          </a:xfrm>
          <a:prstGeom prst="ellipse">
            <a:avLst/>
          </a:prstGeom>
          <a:solidFill>
            <a:srgbClr val="99010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B</a:t>
            </a:r>
            <a:endParaRPr kumimoji="0" lang="zh-HK" altLang="en-US"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椭圆 7"/>
          <p:cNvSpPr/>
          <p:nvPr>
            <p:custDataLst>
              <p:tags r:id="rId3"/>
            </p:custDataLst>
          </p:nvPr>
        </p:nvSpPr>
        <p:spPr>
          <a:xfrm>
            <a:off x="2637794" y="4977345"/>
            <a:ext cx="1004399" cy="1004399"/>
          </a:xfrm>
          <a:prstGeom prst="ellipse">
            <a:avLst/>
          </a:prstGeom>
          <a:solidFill>
            <a:srgbClr val="99010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C</a:t>
            </a:r>
            <a:endParaRPr kumimoji="0" lang="zh-HK" altLang="en-US"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cxnSp>
        <p:nvCxnSpPr>
          <p:cNvPr id="9" name="直接连接符 8"/>
          <p:cNvCxnSpPr/>
          <p:nvPr/>
        </p:nvCxnSpPr>
        <p:spPr>
          <a:xfrm flipV="1">
            <a:off x="1598053" y="2456194"/>
            <a:ext cx="888520" cy="527559"/>
          </a:xfrm>
          <a:prstGeom prst="line">
            <a:avLst/>
          </a:prstGeom>
          <a:ln w="28575">
            <a:solidFill>
              <a:srgbClr val="990100"/>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1818691" y="3858947"/>
            <a:ext cx="1596560" cy="0"/>
          </a:xfrm>
          <a:prstGeom prst="line">
            <a:avLst/>
          </a:prstGeom>
          <a:ln w="28575">
            <a:solidFill>
              <a:srgbClr val="9901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1562019" y="4723543"/>
            <a:ext cx="960589" cy="507148"/>
          </a:xfrm>
          <a:prstGeom prst="line">
            <a:avLst/>
          </a:prstGeom>
          <a:ln w="28575">
            <a:solidFill>
              <a:srgbClr val="990100"/>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custDataLst>
              <p:tags r:id="rId4"/>
            </p:custDataLst>
          </p:nvPr>
        </p:nvGrpSpPr>
        <p:grpSpPr>
          <a:xfrm>
            <a:off x="4012557" y="1442319"/>
            <a:ext cx="6417309" cy="1085516"/>
            <a:chOff x="4012556" y="1375083"/>
            <a:chExt cx="5814221" cy="1085517"/>
          </a:xfrm>
        </p:grpSpPr>
        <p:sp>
          <p:nvSpPr>
            <p:cNvPr id="12" name="矩形 11"/>
            <p:cNvSpPr/>
            <p:nvPr>
              <p:custDataLst>
                <p:tags r:id="rId5"/>
              </p:custDataLst>
            </p:nvPr>
          </p:nvSpPr>
          <p:spPr>
            <a:xfrm>
              <a:off x="4012556" y="1729714"/>
              <a:ext cx="5516462" cy="730886"/>
            </a:xfrm>
            <a:prstGeom prst="rect">
              <a:avLst/>
            </a:prstGeom>
          </p:spPr>
          <p:txBody>
            <a:bodyPr wrap="square">
              <a:spAutoFit/>
            </a:body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问题：</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仅关注静态快照，忽略调试过程中的连贯行为线索。</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后果：</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难以区分</a:t>
              </a:r>
              <a:r>
                <a:rPr kumimoji="0" lang="en-US" altLang="zh-CN"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盲目试错</a:t>
              </a:r>
              <a:r>
                <a:rPr kumimoji="0" lang="en-US" altLang="zh-CN"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与</a:t>
              </a:r>
              <a:r>
                <a:rPr kumimoji="0" lang="en-US" altLang="zh-CN"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初次尝试</a:t>
              </a:r>
              <a:r>
                <a:rPr kumimoji="0" lang="en-US" altLang="zh-CN"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，无法提供连贯</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指导</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3" name="文本框 42"/>
            <p:cNvSpPr txBox="1"/>
            <p:nvPr>
              <p:custDataLst>
                <p:tags r:id="rId6"/>
              </p:custDataLst>
            </p:nvPr>
          </p:nvSpPr>
          <p:spPr>
            <a:xfrm>
              <a:off x="4012556" y="1375083"/>
              <a:ext cx="5814221" cy="37846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 </a:t>
              </a:r>
              <a:r>
                <a:rPr kumimoji="0" lang="zh-CN" altLang="en-US" sz="1865"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局限一：缺乏</a:t>
              </a:r>
              <a:r>
                <a:rPr kumimoji="0" lang="en-US" altLang="zh-CN" sz="1865"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zh-CN" altLang="en-US" sz="1865"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纵向轨迹</a:t>
              </a:r>
              <a:r>
                <a:rPr kumimoji="0" lang="en-US" altLang="zh-CN" sz="1865"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zh-CN" altLang="en-US" sz="1865"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与实时认知</a:t>
              </a:r>
              <a:r>
                <a:rPr kumimoji="0" lang="en-US" altLang="zh-CN" sz="1865"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zh-CN" altLang="en-US" sz="1865"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的深度融合</a:t>
              </a:r>
              <a:endParaRPr kumimoji="0" lang="zh-CN" altLang="en-US" sz="1865"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grpSp>
        <p:nvGrpSpPr>
          <p:cNvPr id="5" name="组合 4"/>
          <p:cNvGrpSpPr/>
          <p:nvPr>
            <p:custDataLst>
              <p:tags r:id="rId7"/>
            </p:custDataLst>
          </p:nvPr>
        </p:nvGrpSpPr>
        <p:grpSpPr>
          <a:xfrm>
            <a:off x="4873534" y="3199999"/>
            <a:ext cx="6088665" cy="1405554"/>
            <a:chOff x="4873534" y="3109566"/>
            <a:chExt cx="5516462" cy="1405553"/>
          </a:xfrm>
        </p:grpSpPr>
        <p:sp>
          <p:nvSpPr>
            <p:cNvPr id="14" name="矩形 13"/>
            <p:cNvSpPr/>
            <p:nvPr>
              <p:custDataLst>
                <p:tags r:id="rId8"/>
              </p:custDataLst>
            </p:nvPr>
          </p:nvSpPr>
          <p:spPr>
            <a:xfrm>
              <a:off x="4873534" y="3464195"/>
              <a:ext cx="5516462" cy="1050924"/>
            </a:xfrm>
            <a:prstGeom prst="rect">
              <a:avLst/>
            </a:prstGeom>
          </p:spPr>
          <p:txBody>
            <a:bodyPr wrap="square">
              <a:spAutoFit/>
            </a:bodyPr>
            <a:lstStyle/>
            <a:p>
              <a:pPr marL="0" marR="0" lvl="0" algn="l" defTabSz="457200" rtl="0" eaLnBrk="1" fontAlgn="auto" latinLnBrk="0" hangingPunct="1">
                <a:lnSpc>
                  <a:spcPct val="13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问题：</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数值状态与文本代码难以对齐；Hard</a:t>
              </a:r>
              <a:r>
                <a:rPr kumimoji="0" lang="en-US" altLang="zh-CN"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 </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Prompting效率低，易致幻觉。</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a:p>
              <a:pPr marL="0" marR="0" lvl="0" algn="l" defTabSz="457200" rtl="0" eaLnBrk="1" fontAlgn="auto" latinLnBrk="0" hangingPunct="1">
                <a:lnSpc>
                  <a:spcPct val="13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空白：</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个性化程序</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设计教育领域多模态适配器研究仍属空白。</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5" name="文本框 44"/>
            <p:cNvSpPr txBox="1"/>
            <p:nvPr>
              <p:custDataLst>
                <p:tags r:id="rId9"/>
              </p:custDataLst>
            </p:nvPr>
          </p:nvSpPr>
          <p:spPr>
            <a:xfrm>
              <a:off x="4873534" y="3109566"/>
              <a:ext cx="4586481" cy="37846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B </a:t>
              </a:r>
              <a:r>
                <a:rPr kumimoji="0" lang="zh-CN" altLang="en-US" sz="1865"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局限二：异构特征的</a:t>
              </a:r>
              <a:r>
                <a:rPr kumimoji="0" lang="en-US" altLang="zh-CN" sz="1865"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zh-CN" altLang="en-US" sz="1865"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语义鸿沟</a:t>
              </a:r>
              <a:r>
                <a:rPr kumimoji="0" lang="en-US" altLang="zh-CN" sz="1865"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zh-CN" altLang="en-US" sz="1865"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与低效提示</a:t>
              </a:r>
              <a:endParaRPr kumimoji="0" lang="zh-CN" altLang="en-US" sz="1865"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grpSp>
        <p:nvGrpSpPr>
          <p:cNvPr id="19" name="组合 18"/>
          <p:cNvGrpSpPr/>
          <p:nvPr>
            <p:custDataLst>
              <p:tags r:id="rId10"/>
            </p:custDataLst>
          </p:nvPr>
        </p:nvGrpSpPr>
        <p:grpSpPr>
          <a:xfrm>
            <a:off x="4012557" y="4841524"/>
            <a:ext cx="6157595" cy="1085516"/>
            <a:chOff x="4012556" y="5002204"/>
            <a:chExt cx="5578914" cy="1085517"/>
          </a:xfrm>
        </p:grpSpPr>
        <p:sp>
          <p:nvSpPr>
            <p:cNvPr id="16" name="矩形 15"/>
            <p:cNvSpPr/>
            <p:nvPr>
              <p:custDataLst>
                <p:tags r:id="rId11"/>
              </p:custDataLst>
            </p:nvPr>
          </p:nvSpPr>
          <p:spPr>
            <a:xfrm>
              <a:off x="4012556" y="5356835"/>
              <a:ext cx="5516462" cy="730886"/>
            </a:xfrm>
            <a:prstGeom prst="rect">
              <a:avLst/>
            </a:prstGeom>
          </p:spPr>
          <p:txBody>
            <a:bodyPr wrap="square">
              <a:spAutoFit/>
            </a:body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问题：</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侧重预测</a:t>
              </a:r>
              <a:r>
                <a:rPr kumimoji="0" lang="en-US" altLang="zh-CN"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是否通过</a:t>
              </a:r>
              <a:r>
                <a:rPr kumimoji="0" lang="en-US" altLang="zh-CN"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，缺乏对深层逻辑根源的因果性解释。</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不足：</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无法提供具教学意义的</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个性化诊断报告。</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7" name="文本框 46"/>
            <p:cNvSpPr txBox="1"/>
            <p:nvPr>
              <p:custDataLst>
                <p:tags r:id="rId12"/>
              </p:custDataLst>
            </p:nvPr>
          </p:nvSpPr>
          <p:spPr>
            <a:xfrm>
              <a:off x="4012556" y="5002204"/>
              <a:ext cx="5578914" cy="37846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C </a:t>
              </a:r>
              <a:r>
                <a:rPr kumimoji="0" lang="zh-CN" altLang="en-US" sz="1865"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局限三：诊断</a:t>
              </a:r>
              <a:r>
                <a:rPr kumimoji="0" lang="zh-CN" altLang="en-US" sz="1865"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方式停留在</a:t>
              </a:r>
              <a:r>
                <a:rPr kumimoji="0" lang="en-US" altLang="zh-CN" sz="1865"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zh-CN" altLang="en-US" sz="1865"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判别式预测</a:t>
              </a:r>
              <a:r>
                <a:rPr kumimoji="0" lang="en-US" altLang="zh-CN" sz="1865"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endParaRPr kumimoji="0" lang="en-US" altLang="zh-CN" sz="1865"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pic>
        <p:nvPicPr>
          <p:cNvPr id="18" name="图片 17"/>
          <p:cNvPicPr>
            <a:picLocks noChangeAspect="1"/>
          </p:cNvPicPr>
          <p:nvPr/>
        </p:nvPicPr>
        <p:blipFill rotWithShape="1">
          <a:blip r:embed="rId13" cstate="screen">
            <a:duotone>
              <a:schemeClr val="accent6">
                <a:shade val="45000"/>
                <a:satMod val="135000"/>
              </a:schemeClr>
              <a:prstClr val="white"/>
            </a:duotone>
          </a:blip>
          <a:srcRect l="48604"/>
          <a:stretch>
            <a:fillRect/>
          </a:stretch>
        </p:blipFill>
        <p:spPr>
          <a:xfrm>
            <a:off x="1" y="2158068"/>
            <a:ext cx="1623327" cy="3158577"/>
          </a:xfrm>
          <a:prstGeom prst="rect">
            <a:avLst/>
          </a:prstGeom>
        </p:spPr>
      </p:pic>
      <p:sp>
        <p:nvSpPr>
          <p:cNvPr id="22" name="矩形 21"/>
          <p:cNvSpPr>
            <a:spLocks noChangeArrowheads="1"/>
          </p:cNvSpPr>
          <p:nvPr/>
        </p:nvSpPr>
        <p:spPr bwMode="auto">
          <a:xfrm>
            <a:off x="634918" y="237124"/>
            <a:ext cx="390017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chemeClr val="tx1">
                    <a:lumMod val="95000"/>
                    <a:lumOff val="5000"/>
                  </a:schemeClr>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现有研究总结与不足</a:t>
            </a:r>
            <a:endParaRPr kumimoji="0" lang="zh-CN" altLang="en-US" sz="3200" b="1" i="0" u="none" strike="noStrike" kern="1200" cap="none" spc="0" normalizeH="0" baseline="0" noProof="0" dirty="0">
              <a:ln>
                <a:noFill/>
              </a:ln>
              <a:solidFill>
                <a:schemeClr val="tx1">
                  <a:lumMod val="95000"/>
                  <a:lumOff val="5000"/>
                </a:schemeClr>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23" name="等腰三角形 22"/>
          <p:cNvSpPr>
            <a:spLocks noChangeArrowheads="1"/>
          </p:cNvSpPr>
          <p:nvPr/>
        </p:nvSpPr>
        <p:spPr bwMode="auto">
          <a:xfrm rot="5400000">
            <a:off x="-53049" y="209721"/>
            <a:ext cx="774879" cy="668780"/>
          </a:xfrm>
          <a:prstGeom prst="triangle">
            <a:avLst>
              <a:gd name="adj" fmla="val 50000"/>
            </a:avLst>
          </a:prstGeom>
          <a:solidFill>
            <a:srgbClr val="990100"/>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pic>
        <p:nvPicPr>
          <p:cNvPr id="32" name="图片 31"/>
          <p:cNvPicPr>
            <a:picLocks noChangeAspect="1"/>
          </p:cNvPicPr>
          <p:nvPr/>
        </p:nvPicPr>
        <p:blipFill>
          <a:blip r:embed="rId14" cstate="print">
            <a:biLevel thresh="75000"/>
            <a:extLst>
              <a:ext uri="{BEBA8EAE-BF5A-486C-A8C5-ECC9F3942E4B}">
                <a14:imgProps xmlns:a14="http://schemas.microsoft.com/office/drawing/2010/main">
                  <a14:imgLayer r:embed="rId15">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12465" y="6301220"/>
            <a:ext cx="1523493" cy="400109"/>
          </a:xfrm>
          <a:prstGeom prst="rect">
            <a:avLst/>
          </a:prstGeom>
        </p:spPr>
      </p:pic>
      <p:pic>
        <p:nvPicPr>
          <p:cNvPr id="3" name="图片 2" descr="logo红"/>
          <p:cNvPicPr>
            <a:picLocks noChangeAspect="1"/>
          </p:cNvPicPr>
          <p:nvPr/>
        </p:nvPicPr>
        <p:blipFill>
          <a:blip r:embed="rId16"/>
          <a:stretch>
            <a:fillRect/>
          </a:stretch>
        </p:blipFill>
        <p:spPr>
          <a:xfrm>
            <a:off x="8033385" y="297815"/>
            <a:ext cx="3755390" cy="4946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梯形 34"/>
          <p:cNvSpPr/>
          <p:nvPr/>
        </p:nvSpPr>
        <p:spPr>
          <a:xfrm rot="16200000">
            <a:off x="7446198" y="-451317"/>
            <a:ext cx="2291737" cy="7199871"/>
          </a:xfrm>
          <a:prstGeom prst="trapezoid">
            <a:avLst>
              <a:gd name="adj" fmla="val 16935"/>
            </a:avLst>
          </a:prstGeom>
          <a:solidFill>
            <a:srgbClr val="99010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37" name="梯形 36"/>
          <p:cNvSpPr/>
          <p:nvPr/>
        </p:nvSpPr>
        <p:spPr>
          <a:xfrm rot="5400000">
            <a:off x="1331640" y="636804"/>
            <a:ext cx="2344067" cy="5007345"/>
          </a:xfrm>
          <a:prstGeom prst="trapezoid">
            <a:avLst>
              <a:gd name="adj" fmla="val 17865"/>
            </a:avLst>
          </a:prstGeom>
          <a:solidFill>
            <a:schemeClr val="bg1">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7" name="文本框 2"/>
          <p:cNvSpPr txBox="1"/>
          <p:nvPr/>
        </p:nvSpPr>
        <p:spPr>
          <a:xfrm>
            <a:off x="3729079" y="2556165"/>
            <a:ext cx="1164101" cy="1200329"/>
          </a:xfrm>
          <a:prstGeom prst="rect">
            <a:avLst/>
          </a:prstGeom>
          <a:noFill/>
        </p:spPr>
        <p:txBody>
          <a:bodyPr wrap="none" lIns="91440" tIns="45720" rIns="91440" bIns="4572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Part</a:t>
            </a:r>
            <a:r>
              <a:rPr kumimoji="0" lang="en-US" altLang="zh-CN"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3</a:t>
            </a:r>
            <a:endParaRPr kumimoji="0" lang="zh-CN" altLang="en-US"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29" name="矩形 28"/>
          <p:cNvSpPr/>
          <p:nvPr/>
        </p:nvSpPr>
        <p:spPr>
          <a:xfrm>
            <a:off x="5638797" y="2692405"/>
            <a:ext cx="4450080" cy="1568450"/>
          </a:xfrm>
          <a:prstGeom prst="rect">
            <a:avLst/>
          </a:prstGeom>
        </p:spPr>
        <p:txBody>
          <a:bodyPr wrap="none" lIns="91440" tIns="45720" rIns="91440" bIns="45720">
            <a:spAutoFit/>
          </a:bodyPr>
          <a:lstStyle/>
          <a:p>
            <a:pPr marL="0" marR="0" lvl="0" algn="l" defTabSz="457200" rtl="0" eaLnBrk="1" fontAlgn="auto" latinLnBrk="0" hangingPunct="1">
              <a:lnSpc>
                <a:spcPct val="100000"/>
              </a:lnSpc>
              <a:spcBef>
                <a:spcPts val="0"/>
              </a:spcBef>
              <a:spcAft>
                <a:spcPts val="0"/>
              </a:spcAft>
              <a:buClrTx/>
              <a:buSzTx/>
              <a:buFontTx/>
              <a:buNone/>
              <a:defRPr/>
            </a:pPr>
            <a:r>
              <a:rPr lang="zh-CN" altLang="en-US" sz="4800" b="1" noProof="0" dirty="0">
                <a:ln>
                  <a:noFill/>
                </a:ln>
                <a:solidFill>
                  <a:prstClr val="white"/>
                </a:solidFill>
                <a:effectLst/>
                <a:uLnTx/>
                <a:uFillTx/>
                <a:latin typeface="Arial" panose="020B0604020202020204"/>
                <a:ea typeface="微软雅黑" panose="020B0503020204020204" pitchFamily="34" charset="-122"/>
                <a:sym typeface="微软雅黑" panose="020B0503020204020204" pitchFamily="34" charset="-122"/>
              </a:rPr>
              <a:t>研究目标与内容</a:t>
            </a:r>
            <a:endParaRPr kumimoji="0" lang="zh-CN" altLang="en-US" sz="48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sym typeface="微软雅黑" panose="020B0503020204020204" pitchFamily="34" charset="-122"/>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48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22989" y="1235242"/>
            <a:ext cx="3251090" cy="326475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custDataLst>
              <p:tags r:id="rId1"/>
            </p:custDataLst>
          </p:nvPr>
        </p:nvGrpSpPr>
        <p:grpSpPr>
          <a:xfrm>
            <a:off x="446405" y="3246120"/>
            <a:ext cx="3392805" cy="2136140"/>
            <a:chOff x="1053" y="2278"/>
            <a:chExt cx="5663" cy="3364"/>
          </a:xfrm>
        </p:grpSpPr>
        <p:sp>
          <p:nvSpPr>
            <p:cNvPr id="6" name="文本框 27"/>
            <p:cNvSpPr txBox="1"/>
            <p:nvPr>
              <p:custDataLst>
                <p:tags r:id="rId2"/>
              </p:custDataLst>
            </p:nvPr>
          </p:nvSpPr>
          <p:spPr>
            <a:xfrm>
              <a:off x="1053" y="2979"/>
              <a:ext cx="5663" cy="2663"/>
            </a:xfrm>
            <a:prstGeom prst="rect">
              <a:avLst/>
            </a:prstGeom>
            <a:solidFill>
              <a:schemeClr val="bg1">
                <a:lumMod val="95000"/>
              </a:schemeClr>
            </a:solidFill>
            <a:ln w="12700">
              <a:solidFill>
                <a:srgbClr val="990100"/>
              </a:solidFill>
            </a:ln>
          </p:spPr>
          <p:txBody>
            <a:bodyPr wrap="square" lIns="91440" tIns="45720" rIns="91440" bIns="45720" rtlCol="0">
              <a:noAutofit/>
            </a:bodyPr>
            <a:lstStyle/>
            <a:p>
              <a:pPr marL="285750" marR="0" lvl="0" indent="-285750" algn="l" defTabSz="457200" rtl="0" fontAlgn="auto">
                <a:lnSpc>
                  <a:spcPct val="130000"/>
                </a:lnSpc>
                <a:spcBef>
                  <a:spcPts val="0"/>
                </a:spcBef>
                <a:spcAft>
                  <a:spcPts val="0"/>
                </a:spcAft>
                <a:buClrTx/>
                <a:buSzTx/>
                <a:buFont typeface="Wingdings" panose="05000000000000000000" charset="0"/>
                <a:buChar char="l"/>
                <a:defRPr/>
              </a:pPr>
              <a:r>
                <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提取时间间隔与代码演化</a:t>
              </a:r>
              <a:endPar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457200" rtl="0" fontAlgn="auto">
                <a:lnSpc>
                  <a:spcPct val="130000"/>
                </a:lnSpc>
                <a:spcBef>
                  <a:spcPts val="0"/>
                </a:spcBef>
                <a:spcAft>
                  <a:spcPts val="0"/>
                </a:spcAft>
                <a:buClrTx/>
                <a:buSzTx/>
                <a:buFont typeface="Wingdings" panose="05000000000000000000" charset="0"/>
                <a:buChar char="l"/>
                <a:defRPr/>
              </a:pPr>
              <a:r>
                <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捕捉调试过程中的动态认知线索</a:t>
              </a:r>
              <a:endPar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矩形 6"/>
            <p:cNvSpPr/>
            <p:nvPr>
              <p:custDataLst>
                <p:tags r:id="rId3"/>
              </p:custDataLst>
            </p:nvPr>
          </p:nvSpPr>
          <p:spPr bwMode="auto">
            <a:xfrm>
              <a:off x="1053" y="2278"/>
              <a:ext cx="5663" cy="702"/>
            </a:xfrm>
            <a:prstGeom prst="rect">
              <a:avLst/>
            </a:prstGeom>
            <a:solidFill>
              <a:srgbClr val="990100"/>
            </a:solidFill>
            <a:ln>
              <a:solidFill>
                <a:srgbClr val="990100"/>
              </a:solidFill>
            </a:ln>
          </p:spPr>
          <p:txBody>
            <a:bodyPr vert="horz" wrap="square" lIns="91440" tIns="45720" rIns="91440" bIns="45720" numCol="1" rtlCol="0" anchor="t" anchorCtr="0" compatLnSpc="1"/>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核心模块</a:t>
              </a:r>
              <a:r>
                <a:rPr kumimoji="0" lang="en-US" altLang="zh-CN"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 1</a:t>
              </a:r>
              <a:r>
                <a:rPr kumimoji="0" lang="zh-CN" altLang="en-US"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：纵向提交轨迹挖掘</a:t>
              </a:r>
              <a:endParaRPr kumimoji="0" lang="zh-CN" altLang="en-US"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14" name="矩形 13"/>
          <p:cNvSpPr>
            <a:spLocks noChangeArrowheads="1"/>
          </p:cNvSpPr>
          <p:nvPr/>
        </p:nvSpPr>
        <p:spPr bwMode="auto">
          <a:xfrm>
            <a:off x="634918" y="237124"/>
            <a:ext cx="186817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cs"/>
                <a:sym typeface="Calibri" panose="020F0502020204030204" pitchFamily="34" charset="0"/>
              </a:rPr>
              <a:t>研究</a:t>
            </a:r>
            <a:r>
              <a:rPr kumimoji="0" lang="zh-CN" altLang="en-US" sz="32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cs"/>
                <a:sym typeface="Calibri" panose="020F0502020204030204" pitchFamily="34" charset="0"/>
              </a:rPr>
              <a:t>目标</a:t>
            </a:r>
            <a:endParaRPr kumimoji="0" lang="zh-CN" altLang="en-US" sz="32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15" name="等腰三角形 14"/>
          <p:cNvSpPr>
            <a:spLocks noChangeArrowheads="1"/>
          </p:cNvSpPr>
          <p:nvPr/>
        </p:nvSpPr>
        <p:spPr bwMode="auto">
          <a:xfrm rot="5400000">
            <a:off x="-53049" y="209721"/>
            <a:ext cx="774879" cy="668780"/>
          </a:xfrm>
          <a:prstGeom prst="triangle">
            <a:avLst>
              <a:gd name="adj" fmla="val 50000"/>
            </a:avLst>
          </a:prstGeom>
          <a:solidFill>
            <a:srgbClr val="990100"/>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pic>
        <p:nvPicPr>
          <p:cNvPr id="24" name="图片 23"/>
          <p:cNvPicPr>
            <a:picLocks noChangeAspect="1"/>
          </p:cNvPicPr>
          <p:nvPr/>
        </p:nvPicPr>
        <p:blipFill>
          <a:blip r:embed="rId4" cstate="print">
            <a:biLevel thresh="75000"/>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12465" y="6301220"/>
            <a:ext cx="1523493" cy="400109"/>
          </a:xfrm>
          <a:prstGeom prst="rect">
            <a:avLst/>
          </a:prstGeom>
        </p:spPr>
      </p:pic>
      <p:pic>
        <p:nvPicPr>
          <p:cNvPr id="3" name="图片 2" descr="logo红"/>
          <p:cNvPicPr>
            <a:picLocks noChangeAspect="1"/>
          </p:cNvPicPr>
          <p:nvPr/>
        </p:nvPicPr>
        <p:blipFill>
          <a:blip r:embed="rId6"/>
          <a:stretch>
            <a:fillRect/>
          </a:stretch>
        </p:blipFill>
        <p:spPr>
          <a:xfrm>
            <a:off x="8033385" y="297815"/>
            <a:ext cx="3755390" cy="494665"/>
          </a:xfrm>
          <a:prstGeom prst="rect">
            <a:avLst/>
          </a:prstGeom>
        </p:spPr>
      </p:pic>
      <p:grpSp>
        <p:nvGrpSpPr>
          <p:cNvPr id="11" name="组合 10"/>
          <p:cNvGrpSpPr/>
          <p:nvPr>
            <p:custDataLst>
              <p:tags r:id="rId7"/>
            </p:custDataLst>
          </p:nvPr>
        </p:nvGrpSpPr>
        <p:grpSpPr>
          <a:xfrm>
            <a:off x="4389755" y="3246120"/>
            <a:ext cx="3392805" cy="2127885"/>
            <a:chOff x="1053" y="2278"/>
            <a:chExt cx="5663" cy="3351"/>
          </a:xfrm>
        </p:grpSpPr>
        <p:sp>
          <p:nvSpPr>
            <p:cNvPr id="13" name="文本框 27"/>
            <p:cNvSpPr txBox="1"/>
            <p:nvPr>
              <p:custDataLst>
                <p:tags r:id="rId8"/>
              </p:custDataLst>
            </p:nvPr>
          </p:nvSpPr>
          <p:spPr>
            <a:xfrm>
              <a:off x="1053" y="2979"/>
              <a:ext cx="5663" cy="2650"/>
            </a:xfrm>
            <a:prstGeom prst="rect">
              <a:avLst/>
            </a:prstGeom>
            <a:solidFill>
              <a:schemeClr val="bg1">
                <a:lumMod val="95000"/>
              </a:schemeClr>
            </a:solidFill>
            <a:ln w="12700">
              <a:solidFill>
                <a:srgbClr val="990100"/>
              </a:solidFill>
            </a:ln>
          </p:spPr>
          <p:txBody>
            <a:bodyPr wrap="square" lIns="91440" tIns="45720" rIns="91440" bIns="45720" rtlCol="0">
              <a:noAutofit/>
            </a:bodyPr>
            <a:lstStyle/>
            <a:p>
              <a:pPr marL="285750" marR="0" lvl="0" indent="-285750" algn="l" defTabSz="457200" rtl="0" fontAlgn="auto">
                <a:lnSpc>
                  <a:spcPct val="130000"/>
                </a:lnSpc>
                <a:spcBef>
                  <a:spcPts val="0"/>
                </a:spcBef>
                <a:spcAft>
                  <a:spcPts val="0"/>
                </a:spcAft>
                <a:buClrTx/>
                <a:buSzTx/>
                <a:buFont typeface="Wingdings" panose="05000000000000000000" charset="0"/>
                <a:buChar char="l"/>
                <a:defRPr/>
              </a:pPr>
              <a:r>
                <a:rPr kumimoji="0" lang="zh-CN" altLang="en-US" sz="18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基于双塔对比学习</a:t>
              </a:r>
              <a:endParaRPr kumimoji="0" lang="zh-CN" altLang="en-US" sz="18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457200" rtl="0" fontAlgn="auto">
                <a:lnSpc>
                  <a:spcPct val="130000"/>
                </a:lnSpc>
                <a:spcBef>
                  <a:spcPts val="0"/>
                </a:spcBef>
                <a:spcAft>
                  <a:spcPts val="0"/>
                </a:spcAft>
                <a:buClrTx/>
                <a:buSzTx/>
                <a:buFont typeface="Wingdings" panose="05000000000000000000" charset="0"/>
                <a:buChar char="l"/>
                <a:defRPr/>
              </a:pPr>
              <a:r>
                <a:rPr kumimoji="0" lang="zh-CN" altLang="en-US" sz="18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融合数值行为与文本语义特征</a:t>
              </a:r>
              <a:endParaRPr kumimoji="0" lang="zh-CN" altLang="en-US" sz="18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16" name="矩形 15"/>
            <p:cNvSpPr/>
            <p:nvPr>
              <p:custDataLst>
                <p:tags r:id="rId9"/>
              </p:custDataLst>
            </p:nvPr>
          </p:nvSpPr>
          <p:spPr bwMode="auto">
            <a:xfrm>
              <a:off x="1053" y="2278"/>
              <a:ext cx="5663" cy="702"/>
            </a:xfrm>
            <a:prstGeom prst="rect">
              <a:avLst/>
            </a:prstGeom>
            <a:solidFill>
              <a:srgbClr val="990100"/>
            </a:solidFill>
            <a:ln>
              <a:solidFill>
                <a:srgbClr val="990100"/>
              </a:solidFill>
            </a:ln>
          </p:spPr>
          <p:txBody>
            <a:bodyPr vert="horz" wrap="square" lIns="91440" tIns="45720" rIns="91440" bIns="45720" numCol="1" rtlCol="0" anchor="t" anchorCtr="0" compatLnSpc="1"/>
            <a:lstStyle/>
            <a:p>
              <a:pPr marL="0" marR="0" lvl="0" algn="ctr" defTabSz="4572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核心模块</a:t>
              </a:r>
              <a:r>
                <a:rPr kumimoji="0" lang="en-US" altLang="zh-CN"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 2</a:t>
              </a:r>
              <a:r>
                <a:rPr kumimoji="0" lang="zh-CN" altLang="en-US"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：异构特征空间对齐</a:t>
              </a:r>
              <a:endParaRPr kumimoji="0" lang="zh-CN" altLang="en-US"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algn="ctr" defTabSz="457200" rtl="0" eaLnBrk="1" fontAlgn="auto" latinLnBrk="0" hangingPunct="1">
                <a:lnSpc>
                  <a:spcPct val="100000"/>
                </a:lnSpc>
                <a:spcBef>
                  <a:spcPts val="0"/>
                </a:spcBef>
                <a:spcAft>
                  <a:spcPts val="0"/>
                </a:spcAft>
                <a:buClrTx/>
                <a:buSzTx/>
                <a:buFontTx/>
                <a:buNone/>
                <a:defRPr/>
              </a:pPr>
              <a:endParaRPr kumimoji="0" lang="zh-CN" altLang="en-US"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23" name="组合 22"/>
          <p:cNvGrpSpPr/>
          <p:nvPr>
            <p:custDataLst>
              <p:tags r:id="rId10"/>
            </p:custDataLst>
          </p:nvPr>
        </p:nvGrpSpPr>
        <p:grpSpPr>
          <a:xfrm>
            <a:off x="8386445" y="3227070"/>
            <a:ext cx="3392805" cy="2146300"/>
            <a:chOff x="1053" y="2278"/>
            <a:chExt cx="5663" cy="3380"/>
          </a:xfrm>
        </p:grpSpPr>
        <p:sp>
          <p:nvSpPr>
            <p:cNvPr id="25" name="文本框 27"/>
            <p:cNvSpPr txBox="1"/>
            <p:nvPr>
              <p:custDataLst>
                <p:tags r:id="rId11"/>
              </p:custDataLst>
            </p:nvPr>
          </p:nvSpPr>
          <p:spPr>
            <a:xfrm>
              <a:off x="1053" y="2979"/>
              <a:ext cx="5663" cy="2679"/>
            </a:xfrm>
            <a:prstGeom prst="rect">
              <a:avLst/>
            </a:prstGeom>
            <a:solidFill>
              <a:schemeClr val="bg1">
                <a:lumMod val="95000"/>
              </a:schemeClr>
            </a:solidFill>
            <a:ln w="12700">
              <a:solidFill>
                <a:srgbClr val="990100"/>
              </a:solidFill>
            </a:ln>
          </p:spPr>
          <p:txBody>
            <a:bodyPr wrap="square" lIns="91440" tIns="45720" rIns="91440" bIns="45720" rtlCol="0">
              <a:noAutofit/>
            </a:bodyPr>
            <a:lstStyle/>
            <a:p>
              <a:pPr marL="285750" marR="0" lvl="0" indent="-285750" algn="l" defTabSz="457200" rtl="0" fontAlgn="auto">
                <a:lnSpc>
                  <a:spcPct val="130000"/>
                </a:lnSpc>
                <a:spcBef>
                  <a:spcPts val="0"/>
                </a:spcBef>
                <a:spcAft>
                  <a:spcPts val="0"/>
                </a:spcAft>
                <a:buClrTx/>
                <a:buSzTx/>
                <a:buFont typeface="Wingdings" panose="05000000000000000000" charset="0"/>
                <a:buChar char="l"/>
                <a:defRPr/>
              </a:pPr>
              <a:r>
                <a:rPr kumimoji="0" lang="zh-CN" altLang="en-US" sz="18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利用大模型思维链（C</a:t>
              </a:r>
              <a:r>
                <a:rPr kumimoji="0" lang="en-US" altLang="zh-CN" sz="18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o</a:t>
              </a:r>
              <a:r>
                <a:rPr kumimoji="0" lang="zh-CN" altLang="en-US" sz="18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T）推理</a:t>
              </a:r>
              <a:endParaRPr kumimoji="0" lang="zh-CN" altLang="en-US" sz="18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457200" rtl="0" fontAlgn="auto">
                <a:lnSpc>
                  <a:spcPct val="130000"/>
                </a:lnSpc>
                <a:spcBef>
                  <a:spcPts val="0"/>
                </a:spcBef>
                <a:spcAft>
                  <a:spcPts val="0"/>
                </a:spcAft>
                <a:buClrTx/>
                <a:buSzTx/>
                <a:buFont typeface="Wingdings" panose="05000000000000000000" charset="0"/>
                <a:buChar char="l"/>
                <a:defRPr/>
              </a:pPr>
              <a:r>
                <a:rPr kumimoji="0" lang="zh-CN" altLang="en-US" sz="18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输出包含根源解释的</a:t>
              </a:r>
              <a:r>
                <a:rPr kumimoji="0" lang="zh-CN" altLang="en-US" sz="18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诊断报告</a:t>
              </a:r>
              <a:endParaRPr kumimoji="0" lang="zh-CN" altLang="en-US" sz="18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26" name="矩形 25"/>
            <p:cNvSpPr/>
            <p:nvPr>
              <p:custDataLst>
                <p:tags r:id="rId12"/>
              </p:custDataLst>
            </p:nvPr>
          </p:nvSpPr>
          <p:spPr bwMode="auto">
            <a:xfrm>
              <a:off x="1053" y="2278"/>
              <a:ext cx="5663" cy="702"/>
            </a:xfrm>
            <a:prstGeom prst="rect">
              <a:avLst/>
            </a:prstGeom>
            <a:solidFill>
              <a:srgbClr val="990100"/>
            </a:solidFill>
            <a:ln>
              <a:solidFill>
                <a:srgbClr val="990100"/>
              </a:solidFill>
            </a:ln>
          </p:spPr>
          <p:txBody>
            <a:bodyPr vert="horz" wrap="square" lIns="91440" tIns="45720" rIns="91440" bIns="45720" numCol="1" rtlCol="0" anchor="t" anchorCtr="0" compatLnSpc="1"/>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核心模块</a:t>
              </a:r>
              <a:r>
                <a:rPr kumimoji="0" lang="en-US" altLang="zh-CN"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 3</a:t>
              </a:r>
              <a:r>
                <a:rPr kumimoji="0" lang="zh-CN" altLang="en-US"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：生成式因果诊断</a:t>
              </a:r>
              <a:endParaRPr kumimoji="0" lang="zh-CN" altLang="en-US"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2" name="组合 1"/>
          <p:cNvGrpSpPr/>
          <p:nvPr/>
        </p:nvGrpSpPr>
        <p:grpSpPr>
          <a:xfrm>
            <a:off x="447040" y="1807845"/>
            <a:ext cx="11332845" cy="624118"/>
            <a:chOff x="1898189" y="2451347"/>
            <a:chExt cx="7463076" cy="1052209"/>
          </a:xfrm>
        </p:grpSpPr>
        <p:sp>
          <p:nvSpPr>
            <p:cNvPr id="4" name="圆角矩形 3"/>
            <p:cNvSpPr/>
            <p:nvPr/>
          </p:nvSpPr>
          <p:spPr>
            <a:xfrm>
              <a:off x="1898189" y="2451347"/>
              <a:ext cx="7463076" cy="1052209"/>
            </a:xfrm>
            <a:prstGeom prst="roundRect">
              <a:avLst>
                <a:gd name="adj" fmla="val 11892"/>
              </a:avLst>
            </a:prstGeom>
            <a:solidFill>
              <a:schemeClr val="bg1">
                <a:lumMod val="95000"/>
              </a:schemeClr>
            </a:solidFill>
            <a:ln w="50800">
              <a:solidFill>
                <a:srgbClr val="9901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lumMod val="75000"/>
                    <a:lumOff val="25000"/>
                  </a:prstClr>
                </a:solidFill>
                <a:effectLst/>
                <a:uLnTx/>
                <a:uFillTx/>
                <a:latin typeface="Arial" panose="020B0604020202020204"/>
                <a:ea typeface="微软雅黑" panose="020B0503020204020204" pitchFamily="34" charset="-122"/>
                <a:cs typeface="+mn-cs"/>
              </a:endParaRPr>
            </a:p>
          </p:txBody>
        </p:sp>
        <p:sp>
          <p:nvSpPr>
            <p:cNvPr id="5" name="文本框 31"/>
            <p:cNvSpPr txBox="1"/>
            <p:nvPr/>
          </p:nvSpPr>
          <p:spPr>
            <a:xfrm>
              <a:off x="2027822" y="2561614"/>
              <a:ext cx="7198375" cy="776153"/>
            </a:xfrm>
            <a:prstGeom prst="rect">
              <a:avLst/>
            </a:prstGeom>
            <a:noFill/>
          </p:spPr>
          <p:txBody>
            <a:bodyPr wrap="square" rtlCol="0">
              <a:spAutoFit/>
            </a:bodyPr>
            <a:lstStyle/>
            <a:p>
              <a:pPr marR="0" lvl="0" indent="0" algn="ctr" defTabSz="457200" rtl="0" fontAlgn="auto">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总体目标：</a:t>
              </a:r>
              <a:r>
                <a:rPr kumimoji="0" lang="zh-CN" altLang="en-US" sz="2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构建一个基于</a:t>
              </a:r>
              <a:r>
                <a:rPr kumimoji="0" lang="en-US" altLang="zh-CN" sz="2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2400" b="0" i="0" u="none" strike="noStrike" kern="1200" cap="none" spc="0" normalizeH="0" baseline="0" noProof="0" dirty="0">
                  <a:ln>
                    <a:noFill/>
                  </a:ln>
                  <a:solidFill>
                    <a:srgbClr val="CA0000"/>
                  </a:solidFill>
                  <a:effectLst/>
                  <a:uLnTx/>
                  <a:uFillTx/>
                  <a:latin typeface="微软雅黑" panose="020B0503020204020204" pitchFamily="34" charset="-122"/>
                  <a:ea typeface="微软雅黑" panose="020B0503020204020204" pitchFamily="34" charset="-122"/>
                  <a:cs typeface="+mn-cs"/>
                </a:rPr>
                <a:t>大模型</a:t>
              </a:r>
              <a:r>
                <a:rPr kumimoji="0" lang="en-US" altLang="zh-CN" sz="2400" b="0" i="0" u="none" strike="noStrike" kern="1200" cap="none" spc="0" normalizeH="0" baseline="0" noProof="0" dirty="0">
                  <a:ln>
                    <a:noFill/>
                  </a:ln>
                  <a:solidFill>
                    <a:srgbClr val="CA0000"/>
                  </a:solidFill>
                  <a:effectLst/>
                  <a:uLnTx/>
                  <a:uFillTx/>
                  <a:latin typeface="微软雅黑" panose="020B0503020204020204" pitchFamily="34" charset="-122"/>
                  <a:ea typeface="微软雅黑" panose="020B0503020204020204" pitchFamily="34" charset="-122"/>
                  <a:cs typeface="+mn-cs"/>
                </a:rPr>
                <a:t>+</a:t>
              </a:r>
              <a:r>
                <a:rPr kumimoji="0" lang="zh-CN" altLang="en-US" sz="2400" b="0" i="0" u="none" strike="noStrike" kern="1200" cap="none" spc="0" normalizeH="0" baseline="0" noProof="0" dirty="0">
                  <a:ln>
                    <a:noFill/>
                  </a:ln>
                  <a:solidFill>
                    <a:srgbClr val="CA0000"/>
                  </a:solidFill>
                  <a:effectLst/>
                  <a:uLnTx/>
                  <a:uFillTx/>
                  <a:latin typeface="微软雅黑" panose="020B0503020204020204" pitchFamily="34" charset="-122"/>
                  <a:ea typeface="微软雅黑" panose="020B0503020204020204" pitchFamily="34" charset="-122"/>
                  <a:cs typeface="+mn-cs"/>
                </a:rPr>
                <a:t>多模态特征融合</a:t>
              </a:r>
              <a:r>
                <a:rPr kumimoji="0" lang="en-US" altLang="zh-CN" sz="2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2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的个性化错误预测系统</a:t>
              </a:r>
              <a:endParaRPr kumimoji="0" lang="zh-CN" altLang="en-US" sz="2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grpSp>
      <p:sp>
        <p:nvSpPr>
          <p:cNvPr id="19" name="任意多边形 18"/>
          <p:cNvSpPr/>
          <p:nvPr>
            <p:custDataLst>
              <p:tags r:id="rId13"/>
            </p:custDataLst>
          </p:nvPr>
        </p:nvSpPr>
        <p:spPr>
          <a:xfrm>
            <a:off x="3953136" y="3290863"/>
            <a:ext cx="322958" cy="305753"/>
          </a:xfrm>
          <a:custGeom>
            <a:avLst/>
            <a:gdLst>
              <a:gd name="connsiteX0" fmla="*/ 0 w 248310"/>
              <a:gd name="connsiteY0" fmla="*/ 58095 h 290476"/>
              <a:gd name="connsiteX1" fmla="*/ 124155 w 248310"/>
              <a:gd name="connsiteY1" fmla="*/ 58095 h 290476"/>
              <a:gd name="connsiteX2" fmla="*/ 124155 w 248310"/>
              <a:gd name="connsiteY2" fmla="*/ 0 h 290476"/>
              <a:gd name="connsiteX3" fmla="*/ 248310 w 248310"/>
              <a:gd name="connsiteY3" fmla="*/ 145238 h 290476"/>
              <a:gd name="connsiteX4" fmla="*/ 124155 w 248310"/>
              <a:gd name="connsiteY4" fmla="*/ 290476 h 290476"/>
              <a:gd name="connsiteX5" fmla="*/ 124155 w 248310"/>
              <a:gd name="connsiteY5" fmla="*/ 232381 h 290476"/>
              <a:gd name="connsiteX6" fmla="*/ 0 w 248310"/>
              <a:gd name="connsiteY6" fmla="*/ 232381 h 290476"/>
              <a:gd name="connsiteX7" fmla="*/ 0 w 248310"/>
              <a:gd name="connsiteY7" fmla="*/ 58095 h 290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310" h="290476">
                <a:moveTo>
                  <a:pt x="0" y="58095"/>
                </a:moveTo>
                <a:lnTo>
                  <a:pt x="124155" y="58095"/>
                </a:lnTo>
                <a:lnTo>
                  <a:pt x="124155" y="0"/>
                </a:lnTo>
                <a:lnTo>
                  <a:pt x="248310" y="145238"/>
                </a:lnTo>
                <a:lnTo>
                  <a:pt x="124155" y="290476"/>
                </a:lnTo>
                <a:lnTo>
                  <a:pt x="124155" y="232381"/>
                </a:lnTo>
                <a:lnTo>
                  <a:pt x="0" y="232381"/>
                </a:lnTo>
                <a:lnTo>
                  <a:pt x="0" y="58095"/>
                </a:lnTo>
                <a:close/>
              </a:path>
            </a:pathLst>
          </a:custGeom>
          <a:solidFill>
            <a:schemeClr val="accent2"/>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77460" rIns="99324" bIns="77460" numCol="1" spcCol="1270" anchor="ctr" anchorCtr="0">
            <a:noAutofit/>
          </a:bodyPr>
          <a:lstStyle/>
          <a:p>
            <a:pPr marL="0" marR="0" lvl="0" indent="0" algn="ctr" defTabSz="533400" rtl="0" eaLnBrk="1" fontAlgn="auto" latinLnBrk="0" hangingPunct="1">
              <a:lnSpc>
                <a:spcPct val="100000"/>
              </a:lnSpc>
              <a:spcBef>
                <a:spcPct val="0"/>
              </a:spcBef>
              <a:spcAft>
                <a:spcPct val="35000"/>
              </a:spcAft>
              <a:buClrTx/>
              <a:buSzTx/>
              <a:buFontTx/>
              <a:buNone/>
              <a:defRPr/>
            </a:pPr>
            <a:endParaRPr kumimoji="0" lang="zh-CN" altLang="en-US" sz="1065"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33" name="任意多边形 32"/>
          <p:cNvSpPr/>
          <p:nvPr>
            <p:custDataLst>
              <p:tags r:id="rId14"/>
            </p:custDataLst>
          </p:nvPr>
        </p:nvSpPr>
        <p:spPr>
          <a:xfrm>
            <a:off x="7923156" y="3290863"/>
            <a:ext cx="322958" cy="305753"/>
          </a:xfrm>
          <a:custGeom>
            <a:avLst/>
            <a:gdLst>
              <a:gd name="connsiteX0" fmla="*/ 0 w 248310"/>
              <a:gd name="connsiteY0" fmla="*/ 58095 h 290476"/>
              <a:gd name="connsiteX1" fmla="*/ 124155 w 248310"/>
              <a:gd name="connsiteY1" fmla="*/ 58095 h 290476"/>
              <a:gd name="connsiteX2" fmla="*/ 124155 w 248310"/>
              <a:gd name="connsiteY2" fmla="*/ 0 h 290476"/>
              <a:gd name="connsiteX3" fmla="*/ 248310 w 248310"/>
              <a:gd name="connsiteY3" fmla="*/ 145238 h 290476"/>
              <a:gd name="connsiteX4" fmla="*/ 124155 w 248310"/>
              <a:gd name="connsiteY4" fmla="*/ 290476 h 290476"/>
              <a:gd name="connsiteX5" fmla="*/ 124155 w 248310"/>
              <a:gd name="connsiteY5" fmla="*/ 232381 h 290476"/>
              <a:gd name="connsiteX6" fmla="*/ 0 w 248310"/>
              <a:gd name="connsiteY6" fmla="*/ 232381 h 290476"/>
              <a:gd name="connsiteX7" fmla="*/ 0 w 248310"/>
              <a:gd name="connsiteY7" fmla="*/ 58095 h 290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310" h="290476">
                <a:moveTo>
                  <a:pt x="0" y="58095"/>
                </a:moveTo>
                <a:lnTo>
                  <a:pt x="124155" y="58095"/>
                </a:lnTo>
                <a:lnTo>
                  <a:pt x="124155" y="0"/>
                </a:lnTo>
                <a:lnTo>
                  <a:pt x="248310" y="145238"/>
                </a:lnTo>
                <a:lnTo>
                  <a:pt x="124155" y="290476"/>
                </a:lnTo>
                <a:lnTo>
                  <a:pt x="124155" y="232381"/>
                </a:lnTo>
                <a:lnTo>
                  <a:pt x="0" y="232381"/>
                </a:lnTo>
                <a:lnTo>
                  <a:pt x="0" y="58095"/>
                </a:lnTo>
                <a:close/>
              </a:path>
            </a:pathLst>
          </a:custGeom>
          <a:solidFill>
            <a:schemeClr val="accent2"/>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77460" rIns="99324" bIns="77460" numCol="1" spcCol="1270" anchor="ctr" anchorCtr="0">
            <a:noAutofit/>
          </a:bodyPr>
          <a:lstStyle/>
          <a:p>
            <a:pPr marL="0" marR="0" lvl="0" indent="0" algn="ctr" defTabSz="533400" rtl="0" eaLnBrk="1" fontAlgn="auto" latinLnBrk="0" hangingPunct="1">
              <a:lnSpc>
                <a:spcPct val="100000"/>
              </a:lnSpc>
              <a:spcBef>
                <a:spcPct val="0"/>
              </a:spcBef>
              <a:spcAft>
                <a:spcPct val="35000"/>
              </a:spcAft>
              <a:buClrTx/>
              <a:buSzTx/>
              <a:buFontTx/>
              <a:buNone/>
              <a:defRPr/>
            </a:pPr>
            <a:endParaRPr kumimoji="0" lang="zh-CN" altLang="en-US" sz="1065"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46"/>
          <p:cNvSpPr>
            <a:spLocks noChangeArrowheads="1"/>
          </p:cNvSpPr>
          <p:nvPr/>
        </p:nvSpPr>
        <p:spPr bwMode="auto">
          <a:xfrm>
            <a:off x="634918" y="237124"/>
            <a:ext cx="7242175"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cs"/>
                <a:sym typeface="Calibri" panose="020F0502020204030204" pitchFamily="34" charset="0"/>
              </a:rPr>
              <a:t>纵向提交轨迹挖掘</a:t>
            </a:r>
            <a:r>
              <a:rPr kumimoji="0" lang="en-US" altLang="zh-CN" sz="32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cs"/>
                <a:sym typeface="Calibri" panose="020F0502020204030204" pitchFamily="34" charset="0"/>
              </a:rPr>
              <a:t> (Trajectory Mining)</a:t>
            </a:r>
            <a:endParaRPr kumimoji="0" lang="en-US" altLang="zh-CN" sz="32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34" name="等腰三角形 47"/>
          <p:cNvSpPr>
            <a:spLocks noChangeArrowheads="1"/>
          </p:cNvSpPr>
          <p:nvPr/>
        </p:nvSpPr>
        <p:spPr bwMode="auto">
          <a:xfrm rot="5400000">
            <a:off x="-53049" y="209721"/>
            <a:ext cx="774879" cy="668780"/>
          </a:xfrm>
          <a:prstGeom prst="triangle">
            <a:avLst>
              <a:gd name="adj" fmla="val 50000"/>
            </a:avLst>
          </a:prstGeom>
          <a:solidFill>
            <a:srgbClr val="990100"/>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pic>
        <p:nvPicPr>
          <p:cNvPr id="2" name="图片 1"/>
          <p:cNvPicPr>
            <a:picLocks noChangeAspect="1"/>
          </p:cNvPicPr>
          <p:nvPr/>
        </p:nvPicPr>
        <p:blipFill>
          <a:blip r:embed="rId1" cstate="print">
            <a:biLevel thresh="75000"/>
            <a:extLst>
              <a:ext uri="{BEBA8EAE-BF5A-486C-A8C5-ECC9F3942E4B}">
                <a14:imgProps xmlns:a14="http://schemas.microsoft.com/office/drawing/2010/main">
                  <a14:imgLayer r:embed="rId2">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12465" y="6301220"/>
            <a:ext cx="1523493" cy="400109"/>
          </a:xfrm>
          <a:prstGeom prst="rect">
            <a:avLst/>
          </a:prstGeom>
        </p:spPr>
      </p:pic>
      <p:pic>
        <p:nvPicPr>
          <p:cNvPr id="3" name="图片 2" descr="logo红"/>
          <p:cNvPicPr>
            <a:picLocks noChangeAspect="1"/>
          </p:cNvPicPr>
          <p:nvPr/>
        </p:nvPicPr>
        <p:blipFill>
          <a:blip r:embed="rId3"/>
          <a:stretch>
            <a:fillRect/>
          </a:stretch>
        </p:blipFill>
        <p:spPr>
          <a:xfrm>
            <a:off x="8033385" y="297815"/>
            <a:ext cx="3755390" cy="494665"/>
          </a:xfrm>
          <a:prstGeom prst="rect">
            <a:avLst/>
          </a:prstGeom>
        </p:spPr>
      </p:pic>
      <p:grpSp>
        <p:nvGrpSpPr>
          <p:cNvPr id="12" name="组合 11"/>
          <p:cNvGrpSpPr/>
          <p:nvPr>
            <p:custDataLst>
              <p:tags r:id="rId4"/>
            </p:custDataLst>
          </p:nvPr>
        </p:nvGrpSpPr>
        <p:grpSpPr>
          <a:xfrm>
            <a:off x="1070610" y="5285740"/>
            <a:ext cx="4878070" cy="939800"/>
            <a:chOff x="1053" y="2278"/>
            <a:chExt cx="5663" cy="2117"/>
          </a:xfrm>
        </p:grpSpPr>
        <p:sp>
          <p:nvSpPr>
            <p:cNvPr id="6" name="文本框 27"/>
            <p:cNvSpPr txBox="1"/>
            <p:nvPr>
              <p:custDataLst>
                <p:tags r:id="rId5"/>
              </p:custDataLst>
            </p:nvPr>
          </p:nvSpPr>
          <p:spPr>
            <a:xfrm>
              <a:off x="1053" y="2979"/>
              <a:ext cx="5663" cy="1416"/>
            </a:xfrm>
            <a:prstGeom prst="rect">
              <a:avLst/>
            </a:prstGeom>
            <a:solidFill>
              <a:schemeClr val="bg1">
                <a:lumMod val="95000"/>
              </a:schemeClr>
            </a:solidFill>
            <a:ln w="12700">
              <a:solidFill>
                <a:srgbClr val="990100"/>
              </a:solidFill>
            </a:ln>
          </p:spPr>
          <p:txBody>
            <a:bodyPr wrap="square" lIns="91440" tIns="45720" rIns="91440" bIns="45720" rtlCol="0">
              <a:noAutofit/>
            </a:bodyPr>
            <a:lstStyle/>
            <a:p>
              <a:pPr marR="0" lvl="0" indent="0" algn="l" defTabSz="457200" rtl="0" fontAlgn="auto">
                <a:lnSpc>
                  <a:spcPct val="130000"/>
                </a:lnSpc>
                <a:spcBef>
                  <a:spcPts val="0"/>
                </a:spcBef>
                <a:spcAft>
                  <a:spcPts val="0"/>
                </a:spcAft>
                <a:buClrTx/>
                <a:buSzTx/>
                <a:buFont typeface="Wingdings" panose="05000000000000000000" charset="0"/>
                <a:buNone/>
                <a:defRPr/>
              </a:pPr>
              <a:r>
                <a:rPr kumimoji="0" lang="zh-CN" altLang="en-US" sz="14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特征组合：</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极短间隔</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微小修改</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反复</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Fail]</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R="0" lvl="0" indent="0" algn="l" defTabSz="457200" rtl="0" fontAlgn="auto">
                <a:lnSpc>
                  <a:spcPct val="130000"/>
                </a:lnSpc>
                <a:spcBef>
                  <a:spcPts val="0"/>
                </a:spcBef>
                <a:spcAft>
                  <a:spcPts val="0"/>
                </a:spcAft>
                <a:buClrTx/>
                <a:buSzTx/>
                <a:buFont typeface="Wingdings" panose="05000000000000000000" charset="0"/>
                <a:buNone/>
                <a:defRPr/>
              </a:pPr>
              <a:r>
                <a:rPr kumimoji="0" lang="zh-CN" altLang="en-US" sz="14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认知诊断：</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学生未理解问题核心，处于焦虑或投机状态</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矩形 6"/>
            <p:cNvSpPr/>
            <p:nvPr>
              <p:custDataLst>
                <p:tags r:id="rId6"/>
              </p:custDataLst>
            </p:nvPr>
          </p:nvSpPr>
          <p:spPr bwMode="auto">
            <a:xfrm>
              <a:off x="1053" y="2278"/>
              <a:ext cx="5663" cy="702"/>
            </a:xfrm>
            <a:prstGeom prst="rect">
              <a:avLst/>
            </a:prstGeom>
            <a:solidFill>
              <a:srgbClr val="990100"/>
            </a:solidFill>
            <a:ln>
              <a:solidFill>
                <a:srgbClr val="990100"/>
              </a:solidFill>
            </a:ln>
          </p:spPr>
          <p:txBody>
            <a:bodyPr vert="horz" wrap="square" lIns="91440" tIns="45720" rIns="91440" bIns="45720" numCol="1" rtlCol="0" anchor="t" anchorCtr="0" compatLnSpc="1"/>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典型</a:t>
              </a:r>
              <a:r>
                <a:rPr kumimoji="0" lang="en-US" altLang="zh-CN" sz="1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r>
                <a:rPr kumimoji="0" lang="zh-CN" altLang="en-US" sz="1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盲目试错</a:t>
              </a:r>
              <a:r>
                <a:rPr kumimoji="0" lang="en-US" altLang="zh-CN" sz="1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r>
                <a:rPr kumimoji="0" lang="zh-CN" altLang="en-US" sz="1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模式（</a:t>
              </a:r>
              <a:r>
                <a:rPr kumimoji="0" lang="en-US" altLang="zh-CN" sz="1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Trial-and-ErrorGaming</a:t>
              </a:r>
              <a:r>
                <a:rPr kumimoji="0" lang="zh-CN" altLang="en-US" sz="1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endParaRPr kumimoji="0" lang="zh-CN" altLang="en-US" sz="1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11" name="文本1"/>
          <p:cNvSpPr>
            <a:spLocks noChangeArrowheads="1"/>
          </p:cNvSpPr>
          <p:nvPr>
            <p:custDataLst>
              <p:tags r:id="rId7"/>
            </p:custDataLst>
          </p:nvPr>
        </p:nvSpPr>
        <p:spPr bwMode="gray">
          <a:xfrm>
            <a:off x="3331210" y="3030220"/>
            <a:ext cx="1475105" cy="474980"/>
          </a:xfrm>
          <a:prstGeom prst="roundRect">
            <a:avLst>
              <a:gd name="adj" fmla="val 11505"/>
            </a:avLst>
          </a:prstGeom>
          <a:solidFill>
            <a:srgbClr val="EFC8B7"/>
          </a:solidFill>
          <a:ln w="22225" cap="flat" cmpd="sng" algn="ctr">
            <a:solidFill>
              <a:srgbClr val="A86441"/>
            </a:solid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200" rtl="0" eaLnBrk="1" fontAlgn="base" latinLnBrk="0" hangingPunct="1">
              <a:lnSpc>
                <a:spcPct val="120000"/>
              </a:lnSpc>
              <a:spcBef>
                <a:spcPct val="0"/>
              </a:spcBef>
              <a:spcAft>
                <a:spcPct val="0"/>
              </a:spcAft>
              <a:buClrTx/>
              <a:buSzTx/>
              <a:buFontTx/>
              <a:buNone/>
              <a:defRPr/>
            </a:pPr>
            <a:r>
              <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[T1(10:01:05)</a:t>
            </a:r>
            <a:endPar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ctr" defTabSz="1219200" rtl="0" eaLnBrk="1" fontAlgn="base" latinLnBrk="0" hangingPunct="1">
              <a:lnSpc>
                <a:spcPct val="120000"/>
              </a:lnSpc>
              <a:spcBef>
                <a:spcPct val="0"/>
              </a:spcBef>
              <a:spcAft>
                <a:spcPct val="0"/>
              </a:spcAft>
              <a:buClrTx/>
              <a:buSzTx/>
              <a:buFontTx/>
              <a:buNone/>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提交</a:t>
            </a:r>
            <a:r>
              <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S1</a:t>
            </a:r>
            <a:r>
              <a:rPr kumimoji="0" lang="zh-CN" altLang="en-US"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a:t>
            </a:r>
            <a:r>
              <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TLE</a:t>
            </a:r>
            <a:endPar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cxnSp>
        <p:nvCxnSpPr>
          <p:cNvPr id="16" name="直接连接符 15"/>
          <p:cNvCxnSpPr/>
          <p:nvPr/>
        </p:nvCxnSpPr>
        <p:spPr>
          <a:xfrm flipH="1">
            <a:off x="1237521" y="3743002"/>
            <a:ext cx="9335135" cy="0"/>
          </a:xfrm>
          <a:prstGeom prst="line">
            <a:avLst/>
          </a:prstGeom>
          <a:ln w="63500">
            <a:solidFill>
              <a:schemeClr val="accent2"/>
            </a:solidFill>
            <a:headEnd type="triangle"/>
          </a:ln>
        </p:spPr>
        <p:style>
          <a:lnRef idx="2">
            <a:schemeClr val="accent1">
              <a:shade val="50000"/>
            </a:schemeClr>
          </a:lnRef>
          <a:fillRef idx="1">
            <a:schemeClr val="accent1"/>
          </a:fillRef>
          <a:effectRef idx="0">
            <a:schemeClr val="accent1"/>
          </a:effectRef>
          <a:fontRef idx="minor">
            <a:schemeClr val="lt1"/>
          </a:fontRef>
        </p:style>
      </p:cxnSp>
      <p:grpSp>
        <p:nvGrpSpPr>
          <p:cNvPr id="45" name="组合 44"/>
          <p:cNvGrpSpPr/>
          <p:nvPr/>
        </p:nvGrpSpPr>
        <p:grpSpPr>
          <a:xfrm>
            <a:off x="1070610" y="1066165"/>
            <a:ext cx="3935730" cy="1624330"/>
            <a:chOff x="1686" y="1679"/>
            <a:chExt cx="6198" cy="2558"/>
          </a:xfrm>
        </p:grpSpPr>
        <p:sp>
          <p:nvSpPr>
            <p:cNvPr id="4" name="文本1"/>
            <p:cNvSpPr>
              <a:spLocks noChangeArrowheads="1"/>
            </p:cNvSpPr>
            <p:nvPr>
              <p:custDataLst>
                <p:tags r:id="rId8"/>
              </p:custDataLst>
            </p:nvPr>
          </p:nvSpPr>
          <p:spPr bwMode="gray">
            <a:xfrm>
              <a:off x="1686" y="1679"/>
              <a:ext cx="6198" cy="2559"/>
            </a:xfrm>
            <a:prstGeom prst="roundRect">
              <a:avLst>
                <a:gd name="adj" fmla="val 11505"/>
              </a:avLst>
            </a:prstGeom>
            <a:noFill/>
            <a:ln w="25400" cap="flat" cmpd="sng" algn="ctr">
              <a:solidFill>
                <a:srgbClr val="990100"/>
              </a:solid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00" rtl="0" eaLnBrk="1" fontAlgn="base" latinLnBrk="0" hangingPunct="1">
                <a:lnSpc>
                  <a:spcPct val="120000"/>
                </a:lnSpc>
                <a:spcBef>
                  <a:spcPct val="0"/>
                </a:spcBef>
                <a:spcAft>
                  <a:spcPct val="0"/>
                </a:spcAft>
                <a:buClrTx/>
                <a:buSzTx/>
                <a:buFontTx/>
                <a:buNone/>
                <a:defRPr/>
              </a:pPr>
              <a:endParaRPr kumimoji="0" lang="zh-CN" altLang="zh-CN"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28" name="文本框 27"/>
            <p:cNvSpPr txBox="1"/>
            <p:nvPr/>
          </p:nvSpPr>
          <p:spPr>
            <a:xfrm>
              <a:off x="2601" y="1679"/>
              <a:ext cx="4369" cy="580"/>
            </a:xfrm>
            <a:prstGeom prst="rect">
              <a:avLst/>
            </a:prstGeom>
            <a:noFill/>
          </p:spPr>
          <p:txBody>
            <a:bodyPr wrap="square" rtlCol="0">
              <a:spAutoFit/>
            </a:bodyPr>
            <a:p>
              <a:pPr algn="ctr" defTabSz="457200">
                <a:lnSpc>
                  <a:spcPct val="100000"/>
                </a:lnSpc>
                <a:spcBef>
                  <a:spcPts val="0"/>
                </a:spcBef>
                <a:spcAft>
                  <a:spcPts val="0"/>
                </a:spcAft>
                <a:buClrTx/>
                <a:buSzTx/>
                <a:buFontTx/>
                <a:defRPr/>
              </a:pPr>
              <a:r>
                <a:rPr lang="zh-CN" altLang="en-US" sz="1800" b="1" noProof="0" dirty="0">
                  <a:ln>
                    <a:noFill/>
                  </a:ln>
                  <a:solidFill>
                    <a:schemeClr val="tx1"/>
                  </a:solidFill>
                  <a:effectLst/>
                  <a:uLnTx/>
                  <a:uFillTx/>
                  <a:latin typeface="微软雅黑" panose="020B0503020204020204" pitchFamily="34" charset="-122"/>
                  <a:ea typeface="微软雅黑" panose="020B0503020204020204" pitchFamily="34" charset="-122"/>
                </a:rPr>
                <a:t>传统视角：静态代码快照</a:t>
              </a:r>
              <a:endParaRPr lang="zh-CN" altLang="en-US" sz="1800" b="1"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grpSp>
          <p:nvGrpSpPr>
            <p:cNvPr id="35" name="组合 34"/>
            <p:cNvGrpSpPr/>
            <p:nvPr/>
          </p:nvGrpSpPr>
          <p:grpSpPr>
            <a:xfrm>
              <a:off x="1874" y="2289"/>
              <a:ext cx="1649" cy="1399"/>
              <a:chOff x="1874" y="2289"/>
              <a:chExt cx="1649" cy="1399"/>
            </a:xfrm>
          </p:grpSpPr>
          <p:pic>
            <p:nvPicPr>
              <p:cNvPr id="27" name="图片 26"/>
              <p:cNvPicPr/>
              <p:nvPr/>
            </p:nvPicPr>
            <p:blipFill>
              <a:blip r:embed="rId9"/>
              <a:stretch>
                <a:fillRect/>
              </a:stretch>
            </p:blipFill>
            <p:spPr>
              <a:xfrm>
                <a:off x="2208" y="2289"/>
                <a:ext cx="920" cy="920"/>
              </a:xfrm>
              <a:prstGeom prst="rect">
                <a:avLst/>
              </a:prstGeom>
            </p:spPr>
          </p:pic>
          <p:sp>
            <p:nvSpPr>
              <p:cNvPr id="31" name="文本框 30"/>
              <p:cNvSpPr txBox="1"/>
              <p:nvPr/>
            </p:nvSpPr>
            <p:spPr>
              <a:xfrm>
                <a:off x="1874" y="3104"/>
                <a:ext cx="1649" cy="584"/>
              </a:xfrm>
              <a:prstGeom prst="rect">
                <a:avLst/>
              </a:prstGeom>
              <a:noFill/>
            </p:spPr>
            <p:txBody>
              <a:bodyPr wrap="square" rtlCol="0" anchor="t">
                <a:spAutoFit/>
              </a:bodyPr>
              <a:p>
                <a:pPr algn="ctr">
                  <a:lnSpc>
                    <a:spcPct val="130000"/>
                  </a:lnSpc>
                </a:pPr>
                <a:r>
                  <a:rPr lang="zh-CN" altLang="en-US" sz="1400" dirty="0" smtClean="0">
                    <a:latin typeface="微软雅黑" panose="020B0503020204020204" pitchFamily="34" charset="-122"/>
                    <a:ea typeface="微软雅黑" panose="020B0503020204020204" pitchFamily="34" charset="-122"/>
                    <a:cs typeface="微软雅黑" panose="020B0503020204020204" pitchFamily="34" charset="-122"/>
                  </a:rPr>
                  <a:t>提交</a:t>
                </a:r>
                <a:r>
                  <a:rPr lang="en-US" altLang="zh-CN" sz="1400" dirty="0" smtClean="0">
                    <a:latin typeface="微软雅黑" panose="020B0503020204020204" pitchFamily="34" charset="-122"/>
                    <a:ea typeface="微软雅黑" panose="020B0503020204020204" pitchFamily="34" charset="-122"/>
                    <a:cs typeface="微软雅黑" panose="020B0503020204020204" pitchFamily="34" charset="-122"/>
                  </a:rPr>
                  <a:t>1(WA)</a:t>
                </a:r>
                <a:endParaRPr lang="zh-CN" altLang="en-US" sz="1400"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36" name="组合 35"/>
            <p:cNvGrpSpPr/>
            <p:nvPr/>
          </p:nvGrpSpPr>
          <p:grpSpPr>
            <a:xfrm>
              <a:off x="3993" y="2289"/>
              <a:ext cx="1649" cy="1400"/>
              <a:chOff x="3993" y="2289"/>
              <a:chExt cx="1649" cy="1400"/>
            </a:xfrm>
          </p:grpSpPr>
          <p:pic>
            <p:nvPicPr>
              <p:cNvPr id="30" name="图片 29"/>
              <p:cNvPicPr/>
              <p:nvPr/>
            </p:nvPicPr>
            <p:blipFill>
              <a:blip r:embed="rId9"/>
              <a:stretch>
                <a:fillRect/>
              </a:stretch>
            </p:blipFill>
            <p:spPr>
              <a:xfrm>
                <a:off x="4325" y="2289"/>
                <a:ext cx="920" cy="920"/>
              </a:xfrm>
              <a:prstGeom prst="rect">
                <a:avLst/>
              </a:prstGeom>
            </p:spPr>
          </p:pic>
          <p:sp>
            <p:nvSpPr>
              <p:cNvPr id="32" name="文本框 31"/>
              <p:cNvSpPr txBox="1"/>
              <p:nvPr/>
            </p:nvSpPr>
            <p:spPr>
              <a:xfrm>
                <a:off x="3993" y="3105"/>
                <a:ext cx="1649" cy="584"/>
              </a:xfrm>
              <a:prstGeom prst="rect">
                <a:avLst/>
              </a:prstGeom>
              <a:noFill/>
            </p:spPr>
            <p:txBody>
              <a:bodyPr wrap="square" rtlCol="0" anchor="t">
                <a:spAutoFit/>
              </a:bodyPr>
              <a:p>
                <a:pPr algn="ctr">
                  <a:lnSpc>
                    <a:spcPct val="130000"/>
                  </a:lnSpc>
                </a:pPr>
                <a:r>
                  <a:rPr lang="zh-CN" altLang="en-US" sz="1400" dirty="0" smtClean="0">
                    <a:latin typeface="微软雅黑" panose="020B0503020204020204" pitchFamily="34" charset="-122"/>
                    <a:ea typeface="微软雅黑" panose="020B0503020204020204" pitchFamily="34" charset="-122"/>
                    <a:cs typeface="微软雅黑" panose="020B0503020204020204" pitchFamily="34" charset="-122"/>
                  </a:rPr>
                  <a:t>提交</a:t>
                </a:r>
                <a:r>
                  <a:rPr lang="en-US" altLang="zh-CN" sz="1400" dirty="0" smtClean="0">
                    <a:latin typeface="微软雅黑" panose="020B0503020204020204" pitchFamily="34" charset="-122"/>
                    <a:ea typeface="微软雅黑" panose="020B0503020204020204" pitchFamily="34" charset="-122"/>
                    <a:cs typeface="微软雅黑" panose="020B0503020204020204" pitchFamily="34" charset="-122"/>
                  </a:rPr>
                  <a:t>2 (TLE)</a:t>
                </a:r>
                <a:endParaRPr lang="en-US" altLang="zh-CN" sz="1400"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37" name="组合 36"/>
            <p:cNvGrpSpPr/>
            <p:nvPr/>
          </p:nvGrpSpPr>
          <p:grpSpPr>
            <a:xfrm>
              <a:off x="6040" y="2290"/>
              <a:ext cx="1649" cy="1400"/>
              <a:chOff x="3993" y="2289"/>
              <a:chExt cx="1649" cy="1400"/>
            </a:xfrm>
          </p:grpSpPr>
          <p:pic>
            <p:nvPicPr>
              <p:cNvPr id="38" name="图片 37"/>
              <p:cNvPicPr/>
              <p:nvPr/>
            </p:nvPicPr>
            <p:blipFill>
              <a:blip r:embed="rId9"/>
              <a:stretch>
                <a:fillRect/>
              </a:stretch>
            </p:blipFill>
            <p:spPr>
              <a:xfrm>
                <a:off x="4325" y="2289"/>
                <a:ext cx="920" cy="920"/>
              </a:xfrm>
              <a:prstGeom prst="rect">
                <a:avLst/>
              </a:prstGeom>
            </p:spPr>
          </p:pic>
          <p:sp>
            <p:nvSpPr>
              <p:cNvPr id="39" name="文本框 38"/>
              <p:cNvSpPr txBox="1"/>
              <p:nvPr/>
            </p:nvSpPr>
            <p:spPr>
              <a:xfrm>
                <a:off x="3993" y="3105"/>
                <a:ext cx="1649" cy="584"/>
              </a:xfrm>
              <a:prstGeom prst="rect">
                <a:avLst/>
              </a:prstGeom>
              <a:noFill/>
            </p:spPr>
            <p:txBody>
              <a:bodyPr wrap="square" rtlCol="0" anchor="t">
                <a:spAutoFit/>
              </a:bodyPr>
              <a:p>
                <a:pPr algn="ctr">
                  <a:lnSpc>
                    <a:spcPct val="130000"/>
                  </a:lnSpc>
                </a:pPr>
                <a:r>
                  <a:rPr lang="zh-CN" altLang="en-US" sz="1400" dirty="0" smtClean="0">
                    <a:latin typeface="微软雅黑" panose="020B0503020204020204" pitchFamily="34" charset="-122"/>
                    <a:ea typeface="微软雅黑" panose="020B0503020204020204" pitchFamily="34" charset="-122"/>
                    <a:cs typeface="微软雅黑" panose="020B0503020204020204" pitchFamily="34" charset="-122"/>
                  </a:rPr>
                  <a:t>提交</a:t>
                </a:r>
                <a:r>
                  <a:rPr lang="en-US" altLang="zh-CN" sz="1400" dirty="0" smtClean="0">
                    <a:latin typeface="微软雅黑" panose="020B0503020204020204" pitchFamily="34" charset="-122"/>
                    <a:ea typeface="微软雅黑" panose="020B0503020204020204" pitchFamily="34" charset="-122"/>
                    <a:cs typeface="微软雅黑" panose="020B0503020204020204" pitchFamily="34" charset="-122"/>
                  </a:rPr>
                  <a:t>3(WA)</a:t>
                </a:r>
                <a:endParaRPr lang="en-US" altLang="zh-CN" sz="1400"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41" name="文本框 40"/>
            <p:cNvSpPr txBox="1"/>
            <p:nvPr/>
          </p:nvSpPr>
          <p:spPr>
            <a:xfrm>
              <a:off x="2028" y="3607"/>
              <a:ext cx="5604" cy="584"/>
            </a:xfrm>
            <a:prstGeom prst="rect">
              <a:avLst/>
            </a:prstGeom>
            <a:noFill/>
          </p:spPr>
          <p:txBody>
            <a:bodyPr wrap="square" rtlCol="0">
              <a:spAutoFit/>
            </a:bodyPr>
            <a:p>
              <a:pPr>
                <a:lnSpc>
                  <a:spcPct val="130000"/>
                </a:lnSpc>
              </a:pPr>
              <a:r>
                <a:rPr lang="zh-CN" altLang="en-US" sz="1400" dirty="0" smtClean="0">
                  <a:latin typeface="Arial" panose="020B0604020202020204" pitchFamily="34" charset="0"/>
                  <a:ea typeface="微软雅黑" panose="020B0503020204020204" pitchFamily="34" charset="-122"/>
                </a:rPr>
                <a:t>孤立看待每次提交，丢失时间与演化信息</a:t>
              </a:r>
              <a:endParaRPr lang="zh-CN" altLang="en-US" sz="1400" dirty="0" smtClean="0">
                <a:latin typeface="Arial" panose="020B0604020202020204" pitchFamily="34" charset="0"/>
                <a:ea typeface="微软雅黑" panose="020B0503020204020204" pitchFamily="34" charset="-122"/>
              </a:endParaRPr>
            </a:p>
          </p:txBody>
        </p:sp>
      </p:grpSp>
      <p:sp>
        <p:nvSpPr>
          <p:cNvPr id="43" name="文本框 42"/>
          <p:cNvSpPr txBox="1"/>
          <p:nvPr/>
        </p:nvSpPr>
        <p:spPr>
          <a:xfrm>
            <a:off x="8094980" y="1750060"/>
            <a:ext cx="4102735" cy="234950"/>
          </a:xfrm>
          <a:prstGeom prst="rect">
            <a:avLst/>
          </a:prstGeom>
          <a:noFill/>
        </p:spPr>
        <p:txBody>
          <a:bodyPr wrap="square" rtlCol="0">
            <a:noAutofit/>
          </a:bodyPr>
          <a:p>
            <a:pPr>
              <a:lnSpc>
                <a:spcPct val="130000"/>
              </a:lnSpc>
            </a:pPr>
            <a:endParaRPr lang="zh-CN" altLang="en-US" sz="1400" dirty="0" smtClean="0">
              <a:latin typeface="Arial" panose="020B0604020202020204" pitchFamily="34" charset="0"/>
              <a:ea typeface="微软雅黑" panose="020B0503020204020204" pitchFamily="34" charset="-122"/>
            </a:endParaRPr>
          </a:p>
        </p:txBody>
      </p:sp>
      <p:grpSp>
        <p:nvGrpSpPr>
          <p:cNvPr id="76" name="组合 75"/>
          <p:cNvGrpSpPr/>
          <p:nvPr/>
        </p:nvGrpSpPr>
        <p:grpSpPr>
          <a:xfrm>
            <a:off x="7103110" y="1036320"/>
            <a:ext cx="3935730" cy="1624330"/>
            <a:chOff x="11186" y="1632"/>
            <a:chExt cx="6198" cy="2558"/>
          </a:xfrm>
        </p:grpSpPr>
        <p:grpSp>
          <p:nvGrpSpPr>
            <p:cNvPr id="46" name="组合 45"/>
            <p:cNvGrpSpPr/>
            <p:nvPr/>
          </p:nvGrpSpPr>
          <p:grpSpPr>
            <a:xfrm>
              <a:off x="11186" y="1632"/>
              <a:ext cx="6198" cy="2559"/>
              <a:chOff x="1686" y="1679"/>
              <a:chExt cx="6198" cy="2559"/>
            </a:xfrm>
          </p:grpSpPr>
          <p:sp>
            <p:nvSpPr>
              <p:cNvPr id="47" name="文本1"/>
              <p:cNvSpPr>
                <a:spLocks noChangeArrowheads="1"/>
              </p:cNvSpPr>
              <p:nvPr>
                <p:custDataLst>
                  <p:tags r:id="rId10"/>
                </p:custDataLst>
              </p:nvPr>
            </p:nvSpPr>
            <p:spPr bwMode="gray">
              <a:xfrm>
                <a:off x="1686" y="1679"/>
                <a:ext cx="6198" cy="2559"/>
              </a:xfrm>
              <a:prstGeom prst="roundRect">
                <a:avLst>
                  <a:gd name="adj" fmla="val 11505"/>
                </a:avLst>
              </a:prstGeom>
              <a:noFill/>
              <a:ln w="25400" cap="flat" cmpd="sng" algn="ctr">
                <a:solidFill>
                  <a:srgbClr val="990100"/>
                </a:solid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00" rtl="0" eaLnBrk="1" fontAlgn="base" latinLnBrk="0" hangingPunct="1">
                  <a:lnSpc>
                    <a:spcPct val="120000"/>
                  </a:lnSpc>
                  <a:spcBef>
                    <a:spcPct val="0"/>
                  </a:spcBef>
                  <a:spcAft>
                    <a:spcPct val="0"/>
                  </a:spcAft>
                  <a:buClrTx/>
                  <a:buSzTx/>
                  <a:buFontTx/>
                  <a:buNone/>
                  <a:defRPr/>
                </a:pPr>
                <a:endParaRPr kumimoji="0" lang="zh-CN" altLang="zh-CN"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48" name="文本框 47"/>
              <p:cNvSpPr txBox="1"/>
              <p:nvPr/>
            </p:nvSpPr>
            <p:spPr>
              <a:xfrm>
                <a:off x="2601" y="1679"/>
                <a:ext cx="4369" cy="580"/>
              </a:xfrm>
              <a:prstGeom prst="rect">
                <a:avLst/>
              </a:prstGeom>
              <a:noFill/>
            </p:spPr>
            <p:txBody>
              <a:bodyPr wrap="square" rtlCol="0">
                <a:spAutoFit/>
              </a:bodyPr>
              <a:p>
                <a:pPr algn="ctr" defTabSz="457200">
                  <a:lnSpc>
                    <a:spcPct val="100000"/>
                  </a:lnSpc>
                  <a:spcBef>
                    <a:spcPts val="0"/>
                  </a:spcBef>
                  <a:spcAft>
                    <a:spcPts val="0"/>
                  </a:spcAft>
                  <a:buClrTx/>
                  <a:buSzTx/>
                  <a:buFontTx/>
                  <a:defRPr/>
                </a:pPr>
                <a:r>
                  <a:rPr lang="zh-CN" altLang="en-US" sz="1800" b="1" noProof="0" dirty="0">
                    <a:ln>
                      <a:noFill/>
                    </a:ln>
                    <a:solidFill>
                      <a:schemeClr val="tx1"/>
                    </a:solidFill>
                    <a:effectLst/>
                    <a:uLnTx/>
                    <a:uFillTx/>
                    <a:latin typeface="微软雅黑" panose="020B0503020204020204" pitchFamily="34" charset="-122"/>
                    <a:ea typeface="微软雅黑" panose="020B0503020204020204" pitchFamily="34" charset="-122"/>
                  </a:rPr>
                  <a:t>本研究视角：纵向动态流</a:t>
                </a:r>
                <a:endParaRPr lang="zh-CN" altLang="en-US" sz="1800" b="1"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58" name="文本框 57"/>
              <p:cNvSpPr txBox="1"/>
              <p:nvPr/>
            </p:nvSpPr>
            <p:spPr>
              <a:xfrm>
                <a:off x="2028" y="3607"/>
                <a:ext cx="5604" cy="584"/>
              </a:xfrm>
              <a:prstGeom prst="rect">
                <a:avLst/>
              </a:prstGeom>
              <a:noFill/>
            </p:spPr>
            <p:txBody>
              <a:bodyPr wrap="square" rtlCol="0">
                <a:spAutoFit/>
              </a:bodyPr>
              <a:p>
                <a:pPr algn="ctr">
                  <a:lnSpc>
                    <a:spcPct val="130000"/>
                  </a:lnSpc>
                </a:pPr>
                <a:r>
                  <a:rPr lang="zh-CN" altLang="en-US" sz="1400" dirty="0" smtClean="0">
                    <a:latin typeface="Arial" panose="020B0604020202020204" pitchFamily="34" charset="0"/>
                    <a:ea typeface="微软雅黑" panose="020B0503020204020204" pitchFamily="34" charset="-122"/>
                  </a:rPr>
                  <a:t>捕捉连续调试过程中的行为与逻辑演变</a:t>
                </a:r>
                <a:endParaRPr lang="zh-CN" altLang="en-US" sz="1400" dirty="0" smtClean="0">
                  <a:latin typeface="Arial" panose="020B0604020202020204" pitchFamily="34" charset="0"/>
                  <a:ea typeface="微软雅黑" panose="020B0503020204020204" pitchFamily="34" charset="-122"/>
                </a:endParaRPr>
              </a:p>
            </p:txBody>
          </p:sp>
        </p:grpSp>
        <p:sp>
          <p:nvSpPr>
            <p:cNvPr id="59" name="椭圆 58"/>
            <p:cNvSpPr/>
            <p:nvPr/>
          </p:nvSpPr>
          <p:spPr>
            <a:xfrm>
              <a:off x="12351" y="2575"/>
              <a:ext cx="382" cy="382"/>
            </a:xfrm>
            <a:prstGeom prst="ellipse">
              <a:avLst/>
            </a:prstGeom>
            <a:solidFill>
              <a:srgbClr val="EFC8B7"/>
            </a:solidFill>
            <a:ln w="25400">
              <a:solidFill>
                <a:srgbClr val="A8644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62" name="椭圆 61"/>
            <p:cNvSpPr/>
            <p:nvPr/>
          </p:nvSpPr>
          <p:spPr>
            <a:xfrm>
              <a:off x="14212" y="2575"/>
              <a:ext cx="382" cy="382"/>
            </a:xfrm>
            <a:prstGeom prst="ellipse">
              <a:avLst/>
            </a:prstGeom>
            <a:solidFill>
              <a:srgbClr val="F5DAC5"/>
            </a:solidFill>
            <a:ln w="25400">
              <a:solidFill>
                <a:srgbClr val="BD8E6B"/>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63" name="椭圆 62"/>
            <p:cNvSpPr/>
            <p:nvPr/>
          </p:nvSpPr>
          <p:spPr>
            <a:xfrm>
              <a:off x="16073" y="2575"/>
              <a:ext cx="382" cy="382"/>
            </a:xfrm>
            <a:prstGeom prst="ellipse">
              <a:avLst/>
            </a:prstGeom>
            <a:solidFill>
              <a:srgbClr val="CAE0B9"/>
            </a:solidFill>
            <a:ln w="25400">
              <a:solidFill>
                <a:srgbClr val="6A8854"/>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64" name="文本框 63"/>
            <p:cNvSpPr txBox="1"/>
            <p:nvPr/>
          </p:nvSpPr>
          <p:spPr>
            <a:xfrm>
              <a:off x="11717" y="2896"/>
              <a:ext cx="1649" cy="521"/>
            </a:xfrm>
            <a:prstGeom prst="rect">
              <a:avLst/>
            </a:prstGeom>
            <a:noFill/>
          </p:spPr>
          <p:txBody>
            <a:bodyPr wrap="square" rtlCol="0" anchor="t">
              <a:spAutoFit/>
            </a:bodyPr>
            <a:p>
              <a:pPr algn="ctr">
                <a:lnSpc>
                  <a:spcPct val="130000"/>
                </a:lnSpc>
              </a:pPr>
              <a:r>
                <a:rPr lang="en-US" altLang="zh-CN" sz="1200" dirty="0" smtClean="0">
                  <a:latin typeface="微软雅黑" panose="020B0503020204020204" pitchFamily="34" charset="-122"/>
                  <a:ea typeface="微软雅黑" panose="020B0503020204020204" pitchFamily="34" charset="-122"/>
                  <a:cs typeface="微软雅黑" panose="020B0503020204020204" pitchFamily="34" charset="-122"/>
                </a:rPr>
                <a:t>T1(S1:TLE)</a:t>
              </a:r>
              <a:endParaRPr lang="en-US" altLang="zh-CN" sz="1200"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5" name="文本框 64"/>
            <p:cNvSpPr txBox="1"/>
            <p:nvPr/>
          </p:nvSpPr>
          <p:spPr>
            <a:xfrm>
              <a:off x="13578" y="2897"/>
              <a:ext cx="1649" cy="521"/>
            </a:xfrm>
            <a:prstGeom prst="rect">
              <a:avLst/>
            </a:prstGeom>
            <a:noFill/>
          </p:spPr>
          <p:txBody>
            <a:bodyPr wrap="square" rtlCol="0" anchor="t">
              <a:spAutoFit/>
            </a:bodyPr>
            <a:p>
              <a:pPr algn="ctr">
                <a:lnSpc>
                  <a:spcPct val="130000"/>
                </a:lnSpc>
              </a:pPr>
              <a:r>
                <a:rPr lang="en-US" altLang="zh-CN" sz="1200" dirty="0" smtClean="0">
                  <a:latin typeface="微软雅黑" panose="020B0503020204020204" pitchFamily="34" charset="-122"/>
                  <a:ea typeface="微软雅黑" panose="020B0503020204020204" pitchFamily="34" charset="-122"/>
                  <a:cs typeface="微软雅黑" panose="020B0503020204020204" pitchFamily="34" charset="-122"/>
                </a:rPr>
                <a:t>T2(S2:WA)</a:t>
              </a:r>
              <a:endParaRPr lang="en-US" altLang="zh-CN" sz="1200"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6" name="文本框 65"/>
            <p:cNvSpPr txBox="1"/>
            <p:nvPr/>
          </p:nvSpPr>
          <p:spPr>
            <a:xfrm>
              <a:off x="15468" y="2916"/>
              <a:ext cx="1649" cy="521"/>
            </a:xfrm>
            <a:prstGeom prst="rect">
              <a:avLst/>
            </a:prstGeom>
            <a:noFill/>
          </p:spPr>
          <p:txBody>
            <a:bodyPr wrap="square" rtlCol="0" anchor="t">
              <a:spAutoFit/>
            </a:bodyPr>
            <a:p>
              <a:pPr algn="ctr">
                <a:lnSpc>
                  <a:spcPct val="130000"/>
                </a:lnSpc>
              </a:pPr>
              <a:r>
                <a:rPr lang="en-US" altLang="zh-CN" sz="1200" dirty="0" smtClean="0">
                  <a:latin typeface="微软雅黑" panose="020B0503020204020204" pitchFamily="34" charset="-122"/>
                  <a:ea typeface="微软雅黑" panose="020B0503020204020204" pitchFamily="34" charset="-122"/>
                  <a:cs typeface="微软雅黑" panose="020B0503020204020204" pitchFamily="34" charset="-122"/>
                </a:rPr>
                <a:t>T3(S3:AC)</a:t>
              </a:r>
              <a:endParaRPr lang="en-US" altLang="zh-CN" sz="1200"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69" name="曲线连接符 68"/>
            <p:cNvCxnSpPr>
              <a:stCxn id="59" idx="6"/>
              <a:endCxn id="62" idx="2"/>
            </p:cNvCxnSpPr>
            <p:nvPr/>
          </p:nvCxnSpPr>
          <p:spPr>
            <a:xfrm>
              <a:off x="12733" y="2766"/>
              <a:ext cx="1479" cy="5"/>
            </a:xfrm>
            <a:prstGeom prst="curvedConnector2">
              <a:avLst/>
            </a:prstGeom>
            <a:ln w="25400">
              <a:solidFill>
                <a:schemeClr val="tx1"/>
              </a:solidFill>
              <a:tailEnd type="triangle"/>
            </a:ln>
          </p:spPr>
          <p:style>
            <a:lnRef idx="2">
              <a:schemeClr val="accent1"/>
            </a:lnRef>
            <a:fillRef idx="0">
              <a:srgbClr val="FFFFFF"/>
            </a:fillRef>
            <a:effectRef idx="0">
              <a:srgbClr val="FFFFFF"/>
            </a:effectRef>
            <a:fontRef idx="minor">
              <a:schemeClr val="tx1"/>
            </a:fontRef>
          </p:style>
        </p:cxnSp>
        <p:cxnSp>
          <p:nvCxnSpPr>
            <p:cNvPr id="70" name="曲线连接符 69"/>
            <p:cNvCxnSpPr>
              <a:stCxn id="62" idx="6"/>
              <a:endCxn id="63" idx="2"/>
            </p:cNvCxnSpPr>
            <p:nvPr/>
          </p:nvCxnSpPr>
          <p:spPr>
            <a:xfrm>
              <a:off x="14594" y="2766"/>
              <a:ext cx="1479" cy="5"/>
            </a:xfrm>
            <a:prstGeom prst="curvedConnector2">
              <a:avLst/>
            </a:prstGeom>
            <a:ln w="25400">
              <a:solidFill>
                <a:schemeClr val="tx1"/>
              </a:solidFill>
              <a:tailEnd type="triangle"/>
            </a:ln>
          </p:spPr>
          <p:style>
            <a:lnRef idx="2">
              <a:schemeClr val="accent1"/>
            </a:lnRef>
            <a:fillRef idx="0">
              <a:srgbClr val="FFFFFF"/>
            </a:fillRef>
            <a:effectRef idx="0">
              <a:srgbClr val="FFFFFF"/>
            </a:effectRef>
            <a:fontRef idx="minor">
              <a:schemeClr val="tx1"/>
            </a:fontRef>
          </p:style>
        </p:cxnSp>
        <p:cxnSp>
          <p:nvCxnSpPr>
            <p:cNvPr id="72" name="直接箭头连接符 71"/>
            <p:cNvCxnSpPr>
              <a:stCxn id="63" idx="6"/>
            </p:cNvCxnSpPr>
            <p:nvPr/>
          </p:nvCxnSpPr>
          <p:spPr>
            <a:xfrm>
              <a:off x="16455" y="2766"/>
              <a:ext cx="401" cy="0"/>
            </a:xfrm>
            <a:prstGeom prst="straightConnector1">
              <a:avLst/>
            </a:prstGeom>
            <a:ln w="25400">
              <a:solidFill>
                <a:schemeClr val="tx1"/>
              </a:solidFill>
              <a:tailEnd type="triangle"/>
            </a:ln>
          </p:spPr>
          <p:style>
            <a:lnRef idx="2">
              <a:schemeClr val="accent1"/>
            </a:lnRef>
            <a:fillRef idx="0">
              <a:srgbClr val="FFFFFF"/>
            </a:fillRef>
            <a:effectRef idx="0">
              <a:srgbClr val="FFFFFF"/>
            </a:effectRef>
            <a:fontRef idx="minor">
              <a:schemeClr val="tx1"/>
            </a:fontRef>
          </p:style>
        </p:cxnSp>
      </p:grpSp>
      <p:sp>
        <p:nvSpPr>
          <p:cNvPr id="73" name="文本框 72"/>
          <p:cNvSpPr txBox="1"/>
          <p:nvPr/>
        </p:nvSpPr>
        <p:spPr>
          <a:xfrm>
            <a:off x="635000" y="3017520"/>
            <a:ext cx="2416810" cy="368300"/>
          </a:xfrm>
          <a:prstGeom prst="rect">
            <a:avLst/>
          </a:prstGeom>
          <a:noFill/>
        </p:spPr>
        <p:txBody>
          <a:bodyPr wrap="square" rtlCol="0">
            <a:spAutoFit/>
          </a:bodyPr>
          <a:p>
            <a:pPr algn="ctr" defTabSz="457200">
              <a:lnSpc>
                <a:spcPct val="100000"/>
              </a:lnSpc>
              <a:spcBef>
                <a:spcPts val="0"/>
              </a:spcBef>
              <a:spcAft>
                <a:spcPts val="0"/>
              </a:spcAft>
              <a:buClrTx/>
              <a:buSzTx/>
              <a:buFontTx/>
              <a:defRPr/>
            </a:pPr>
            <a:r>
              <a:rPr lang="zh-CN" altLang="en-US" sz="1800" b="1" noProof="0" dirty="0">
                <a:ln>
                  <a:noFill/>
                </a:ln>
                <a:solidFill>
                  <a:schemeClr val="tx1"/>
                </a:solidFill>
                <a:effectLst/>
                <a:uLnTx/>
                <a:uFillTx/>
                <a:latin typeface="微软雅黑" panose="020B0503020204020204" pitchFamily="34" charset="-122"/>
                <a:ea typeface="微软雅黑" panose="020B0503020204020204" pitchFamily="34" charset="-122"/>
              </a:rPr>
              <a:t>核心特征提取流水线</a:t>
            </a:r>
            <a:endParaRPr lang="zh-CN" altLang="en-US" sz="1800" b="1"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74" name="文本1"/>
          <p:cNvSpPr>
            <a:spLocks noChangeArrowheads="1"/>
          </p:cNvSpPr>
          <p:nvPr>
            <p:custDataLst>
              <p:tags r:id="rId11"/>
            </p:custDataLst>
          </p:nvPr>
        </p:nvSpPr>
        <p:spPr bwMode="gray">
          <a:xfrm>
            <a:off x="6388100" y="3030220"/>
            <a:ext cx="1475105" cy="474980"/>
          </a:xfrm>
          <a:prstGeom prst="roundRect">
            <a:avLst>
              <a:gd name="adj" fmla="val 11505"/>
            </a:avLst>
          </a:prstGeom>
          <a:solidFill>
            <a:srgbClr val="F5DAC5"/>
          </a:solidFill>
          <a:ln w="22225" cap="flat" cmpd="sng" algn="ctr">
            <a:solidFill>
              <a:srgbClr val="BD8E6B"/>
            </a:solid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200" rtl="0" eaLnBrk="1" fontAlgn="base" latinLnBrk="0" hangingPunct="1">
              <a:lnSpc>
                <a:spcPct val="120000"/>
              </a:lnSpc>
              <a:spcBef>
                <a:spcPct val="0"/>
              </a:spcBef>
              <a:spcAft>
                <a:spcPct val="0"/>
              </a:spcAft>
              <a:buClrTx/>
              <a:buSzTx/>
              <a:buFontTx/>
              <a:buNone/>
              <a:defRPr/>
            </a:pPr>
            <a:r>
              <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[T2(10:01:30)</a:t>
            </a:r>
            <a:endPar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ctr" defTabSz="1219200" rtl="0" eaLnBrk="1" fontAlgn="base" latinLnBrk="0" hangingPunct="1">
              <a:lnSpc>
                <a:spcPct val="120000"/>
              </a:lnSpc>
              <a:spcBef>
                <a:spcPct val="0"/>
              </a:spcBef>
              <a:spcAft>
                <a:spcPct val="0"/>
              </a:spcAft>
              <a:buClrTx/>
              <a:buSzTx/>
              <a:buFontTx/>
              <a:buNone/>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提交</a:t>
            </a:r>
            <a:r>
              <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S2</a:t>
            </a:r>
            <a:r>
              <a:rPr kumimoji="0" lang="zh-CN" altLang="en-US"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a:t>
            </a:r>
            <a:r>
              <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WA</a:t>
            </a:r>
            <a:endPar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75" name="文本1"/>
          <p:cNvSpPr>
            <a:spLocks noChangeArrowheads="1"/>
          </p:cNvSpPr>
          <p:nvPr>
            <p:custDataLst>
              <p:tags r:id="rId12"/>
            </p:custDataLst>
          </p:nvPr>
        </p:nvSpPr>
        <p:spPr bwMode="gray">
          <a:xfrm>
            <a:off x="9531985" y="3030220"/>
            <a:ext cx="1475105" cy="474980"/>
          </a:xfrm>
          <a:prstGeom prst="roundRect">
            <a:avLst>
              <a:gd name="adj" fmla="val 11505"/>
            </a:avLst>
          </a:prstGeom>
          <a:solidFill>
            <a:srgbClr val="CAE0B9"/>
          </a:solidFill>
          <a:ln w="22225" cap="flat" cmpd="sng" algn="ctr">
            <a:solidFill>
              <a:srgbClr val="6A8854"/>
            </a:solid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200" rtl="0" eaLnBrk="1" fontAlgn="base" latinLnBrk="0" hangingPunct="1">
              <a:lnSpc>
                <a:spcPct val="120000"/>
              </a:lnSpc>
              <a:spcBef>
                <a:spcPct val="0"/>
              </a:spcBef>
              <a:spcAft>
                <a:spcPct val="0"/>
              </a:spcAft>
              <a:buClrTx/>
              <a:buSzTx/>
              <a:buFontTx/>
              <a:buNone/>
              <a:defRPr/>
            </a:pPr>
            <a:r>
              <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[T3(10:15:00)</a:t>
            </a:r>
            <a:endPar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ctr" defTabSz="1219200" rtl="0" eaLnBrk="1" fontAlgn="base" latinLnBrk="0" hangingPunct="1">
              <a:lnSpc>
                <a:spcPct val="120000"/>
              </a:lnSpc>
              <a:spcBef>
                <a:spcPct val="0"/>
              </a:spcBef>
              <a:spcAft>
                <a:spcPct val="0"/>
              </a:spcAft>
              <a:buClrTx/>
              <a:buSzTx/>
              <a:buFontTx/>
              <a:buNone/>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提交</a:t>
            </a:r>
            <a:r>
              <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S3:AC</a:t>
            </a:r>
            <a:endPar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77" name="文本框 76"/>
          <p:cNvSpPr txBox="1"/>
          <p:nvPr/>
        </p:nvSpPr>
        <p:spPr>
          <a:xfrm>
            <a:off x="1237615" y="3825240"/>
            <a:ext cx="2733040" cy="330835"/>
          </a:xfrm>
          <a:prstGeom prst="rect">
            <a:avLst/>
          </a:prstGeom>
          <a:noFill/>
        </p:spPr>
        <p:txBody>
          <a:bodyPr wrap="square" rtlCol="0" anchor="t">
            <a:spAutoFit/>
          </a:bodyPr>
          <a:p>
            <a:pPr>
              <a:lnSpc>
                <a:spcPct val="130000"/>
              </a:lnSpc>
            </a:pPr>
            <a:r>
              <a:rPr lang="zh-CN" altLang="en-US" sz="1200" dirty="0" smtClean="0">
                <a:latin typeface="微软雅黑" panose="020B0503020204020204" pitchFamily="34" charset="-122"/>
                <a:ea typeface="微软雅黑" panose="020B0503020204020204" pitchFamily="34" charset="-122"/>
                <a:cs typeface="微软雅黑" panose="020B0503020204020204" pitchFamily="34" charset="-122"/>
              </a:rPr>
              <a:t>【特征</a:t>
            </a:r>
            <a:r>
              <a:rPr lang="en-US" altLang="zh-CN" sz="1200" dirty="0" smtClean="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200" dirty="0" smtClean="0">
                <a:latin typeface="微软雅黑" panose="020B0503020204020204" pitchFamily="34" charset="-122"/>
                <a:ea typeface="微软雅黑" panose="020B0503020204020204" pitchFamily="34" charset="-122"/>
                <a:cs typeface="微软雅黑" panose="020B0503020204020204" pitchFamily="34" charset="-122"/>
              </a:rPr>
              <a:t>：提交间隔（</a:t>
            </a:r>
            <a:r>
              <a:rPr lang="en-US" altLang="zh-CN" sz="1200" dirty="0" smtClean="0">
                <a:latin typeface="微软雅黑" panose="020B0503020204020204" pitchFamily="34" charset="-122"/>
                <a:ea typeface="微软雅黑" panose="020B0503020204020204" pitchFamily="34" charset="-122"/>
                <a:cs typeface="微软雅黑" panose="020B0503020204020204" pitchFamily="34" charset="-122"/>
              </a:rPr>
              <a:t>Interval)</a:t>
            </a:r>
            <a:r>
              <a:rPr lang="zh-CN" altLang="en-US" sz="1200" dirty="0" smtClean="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200"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8" name="文本框 77"/>
          <p:cNvSpPr txBox="1"/>
          <p:nvPr/>
        </p:nvSpPr>
        <p:spPr>
          <a:xfrm>
            <a:off x="1237615" y="4377055"/>
            <a:ext cx="2936875" cy="330835"/>
          </a:xfrm>
          <a:prstGeom prst="rect">
            <a:avLst/>
          </a:prstGeom>
          <a:noFill/>
        </p:spPr>
        <p:txBody>
          <a:bodyPr wrap="square" rtlCol="0" anchor="t">
            <a:spAutoFit/>
          </a:bodyPr>
          <a:p>
            <a:pPr>
              <a:lnSpc>
                <a:spcPct val="130000"/>
              </a:lnSpc>
            </a:pPr>
            <a:r>
              <a:rPr lang="zh-CN" altLang="en-US" sz="1200" dirty="0" smtClean="0">
                <a:latin typeface="微软雅黑" panose="020B0503020204020204" pitchFamily="34" charset="-122"/>
                <a:ea typeface="微软雅黑" panose="020B0503020204020204" pitchFamily="34" charset="-122"/>
                <a:cs typeface="微软雅黑" panose="020B0503020204020204" pitchFamily="34" charset="-122"/>
              </a:rPr>
              <a:t>【特征</a:t>
            </a:r>
            <a:r>
              <a:rPr lang="en-US" altLang="zh-CN" sz="1200" dirty="0" smtClean="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200" dirty="0" smtClean="0">
                <a:latin typeface="微软雅黑" panose="020B0503020204020204" pitchFamily="34" charset="-122"/>
                <a:ea typeface="微软雅黑" panose="020B0503020204020204" pitchFamily="34" charset="-122"/>
                <a:cs typeface="微软雅黑" panose="020B0503020204020204" pitchFamily="34" charset="-122"/>
              </a:rPr>
              <a:t>：代码演化</a:t>
            </a:r>
            <a:r>
              <a:rPr lang="en-US" altLang="zh-CN" sz="1200" dirty="0" smtClean="0">
                <a:latin typeface="微软雅黑" panose="020B0503020204020204" pitchFamily="34" charset="-122"/>
                <a:ea typeface="微软雅黑" panose="020B0503020204020204" pitchFamily="34" charset="-122"/>
                <a:cs typeface="微软雅黑" panose="020B0503020204020204" pitchFamily="34" charset="-122"/>
              </a:rPr>
              <a:t>(CodeChurn)</a:t>
            </a:r>
            <a:r>
              <a:rPr lang="zh-CN" altLang="en-US" sz="1200" dirty="0" smtClean="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200"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9" name="文本框 78"/>
          <p:cNvSpPr txBox="1"/>
          <p:nvPr/>
        </p:nvSpPr>
        <p:spPr>
          <a:xfrm>
            <a:off x="1237615" y="4873625"/>
            <a:ext cx="3286125" cy="330835"/>
          </a:xfrm>
          <a:prstGeom prst="rect">
            <a:avLst/>
          </a:prstGeom>
          <a:noFill/>
        </p:spPr>
        <p:txBody>
          <a:bodyPr wrap="square" rtlCol="0" anchor="t">
            <a:spAutoFit/>
          </a:bodyPr>
          <a:p>
            <a:pPr>
              <a:lnSpc>
                <a:spcPct val="130000"/>
              </a:lnSpc>
            </a:pPr>
            <a:r>
              <a:rPr lang="zh-CN" altLang="en-US" sz="1200" dirty="0" smtClean="0">
                <a:latin typeface="Arial" panose="020B0604020202020204" pitchFamily="34" charset="0"/>
                <a:ea typeface="微软雅黑" panose="020B0503020204020204" pitchFamily="34" charset="-122"/>
              </a:rPr>
              <a:t>【特征</a:t>
            </a:r>
            <a:r>
              <a:rPr lang="en-US" altLang="zh-CN" sz="1200" dirty="0" smtClean="0">
                <a:latin typeface="Arial" panose="020B0604020202020204" pitchFamily="34" charset="0"/>
                <a:ea typeface="微软雅黑" panose="020B0503020204020204" pitchFamily="34" charset="-122"/>
              </a:rPr>
              <a:t>3</a:t>
            </a:r>
            <a:r>
              <a:rPr lang="zh-CN" altLang="en-US" sz="1200" dirty="0" smtClean="0">
                <a:latin typeface="Arial" panose="020B0604020202020204" pitchFamily="34" charset="0"/>
                <a:ea typeface="微软雅黑" panose="020B0503020204020204" pitchFamily="34" charset="-122"/>
              </a:rPr>
              <a:t>：状态转移（</a:t>
            </a:r>
            <a:r>
              <a:rPr lang="en-US" altLang="zh-CN" sz="1200" dirty="0" smtClean="0">
                <a:latin typeface="Arial" panose="020B0604020202020204" pitchFamily="34" charset="0"/>
                <a:ea typeface="微软雅黑" panose="020B0503020204020204" pitchFamily="34" charset="-122"/>
              </a:rPr>
              <a:t>StatusTransition)</a:t>
            </a:r>
            <a:r>
              <a:rPr lang="zh-CN" altLang="en-US" sz="1200" dirty="0" smtClean="0">
                <a:latin typeface="Arial" panose="020B0604020202020204" pitchFamily="34" charset="0"/>
                <a:ea typeface="微软雅黑" panose="020B0503020204020204" pitchFamily="34" charset="-122"/>
              </a:rPr>
              <a:t>】</a:t>
            </a:r>
            <a:endParaRPr lang="zh-CN" altLang="en-US" sz="1200" dirty="0" smtClean="0">
              <a:latin typeface="Arial" panose="020B0604020202020204" pitchFamily="34" charset="0"/>
              <a:ea typeface="微软雅黑" panose="020B0503020204020204" pitchFamily="34" charset="-122"/>
            </a:endParaRPr>
          </a:p>
        </p:txBody>
      </p:sp>
      <p:sp>
        <p:nvSpPr>
          <p:cNvPr id="80" name="文本框 79"/>
          <p:cNvSpPr txBox="1"/>
          <p:nvPr/>
        </p:nvSpPr>
        <p:spPr>
          <a:xfrm>
            <a:off x="4631055" y="3742690"/>
            <a:ext cx="1928495" cy="570865"/>
          </a:xfrm>
          <a:prstGeom prst="rect">
            <a:avLst/>
          </a:prstGeom>
          <a:noFill/>
        </p:spPr>
        <p:txBody>
          <a:bodyPr wrap="square" rtlCol="0" anchor="t">
            <a:spAutoFit/>
          </a:bodyPr>
          <a:p>
            <a:pPr>
              <a:lnSpc>
                <a:spcPct val="130000"/>
              </a:lnSpc>
            </a:pPr>
            <a:r>
              <a:rPr lang="en-US" altLang="zh-CN" sz="1200" dirty="0" smtClean="0">
                <a:latin typeface="Arial" panose="020B0604020202020204" pitchFamily="34" charset="0"/>
                <a:ea typeface="微软雅黑" panose="020B0503020204020204" pitchFamily="34" charset="-122"/>
              </a:rPr>
              <a:t>Δt1 =25s(</a:t>
            </a:r>
            <a:r>
              <a:rPr lang="zh-CN" altLang="en-US" sz="1200" dirty="0" smtClean="0">
                <a:latin typeface="Arial" panose="020B0604020202020204" pitchFamily="34" charset="0"/>
                <a:ea typeface="微软雅黑" panose="020B0503020204020204" pitchFamily="34" charset="-122"/>
              </a:rPr>
              <a:t>极短间隔</a:t>
            </a:r>
            <a:r>
              <a:rPr lang="en-US" altLang="zh-CN" sz="1200" dirty="0" smtClean="0">
                <a:latin typeface="Arial" panose="020B0604020202020204" pitchFamily="34" charset="0"/>
                <a:ea typeface="微软雅黑" panose="020B0503020204020204" pitchFamily="34" charset="-122"/>
              </a:rPr>
              <a:t>)</a:t>
            </a:r>
            <a:endParaRPr lang="en-US" altLang="zh-CN" sz="1200" dirty="0" smtClean="0">
              <a:latin typeface="Arial" panose="020B0604020202020204" pitchFamily="34" charset="0"/>
              <a:ea typeface="微软雅黑" panose="020B0503020204020204" pitchFamily="34" charset="-122"/>
            </a:endParaRPr>
          </a:p>
          <a:p>
            <a:pPr>
              <a:lnSpc>
                <a:spcPct val="130000"/>
              </a:lnSpc>
            </a:pPr>
            <a:r>
              <a:rPr lang="zh-CN" altLang="en-US" sz="1200" dirty="0" smtClean="0">
                <a:latin typeface="Arial" panose="020B0604020202020204" pitchFamily="34" charset="0"/>
                <a:ea typeface="微软雅黑" panose="020B0503020204020204" pitchFamily="34" charset="-122"/>
              </a:rPr>
              <a:t>暗示：焦虑</a:t>
            </a:r>
            <a:r>
              <a:rPr lang="en-US" altLang="zh-CN" sz="1200" dirty="0" smtClean="0">
                <a:latin typeface="Arial" panose="020B0604020202020204" pitchFamily="34" charset="0"/>
                <a:ea typeface="微软雅黑" panose="020B0503020204020204" pitchFamily="34" charset="-122"/>
              </a:rPr>
              <a:t>/</a:t>
            </a:r>
            <a:r>
              <a:rPr lang="zh-CN" altLang="en-US" sz="1200" dirty="0" smtClean="0">
                <a:latin typeface="Arial" panose="020B0604020202020204" pitchFamily="34" charset="0"/>
                <a:ea typeface="微软雅黑" panose="020B0503020204020204" pitchFamily="34" charset="-122"/>
              </a:rPr>
              <a:t>盲目试错</a:t>
            </a:r>
            <a:endParaRPr lang="zh-CN" altLang="en-US" sz="1200" dirty="0" smtClean="0">
              <a:latin typeface="Arial" panose="020B0604020202020204" pitchFamily="34" charset="0"/>
              <a:ea typeface="微软雅黑" panose="020B0503020204020204" pitchFamily="34" charset="-122"/>
            </a:endParaRPr>
          </a:p>
        </p:txBody>
      </p:sp>
      <p:sp>
        <p:nvSpPr>
          <p:cNvPr id="81" name="文本框 80"/>
          <p:cNvSpPr txBox="1"/>
          <p:nvPr/>
        </p:nvSpPr>
        <p:spPr>
          <a:xfrm>
            <a:off x="7842885" y="3801745"/>
            <a:ext cx="2362835" cy="570865"/>
          </a:xfrm>
          <a:prstGeom prst="rect">
            <a:avLst/>
          </a:prstGeom>
          <a:noFill/>
        </p:spPr>
        <p:txBody>
          <a:bodyPr wrap="square" rtlCol="0" anchor="t">
            <a:spAutoFit/>
          </a:bodyPr>
          <a:p>
            <a:pPr>
              <a:lnSpc>
                <a:spcPct val="130000"/>
              </a:lnSpc>
            </a:pPr>
            <a:r>
              <a:rPr lang="en-US" altLang="zh-CN" sz="1200" dirty="0" smtClean="0">
                <a:latin typeface="Arial" panose="020B0604020202020204" pitchFamily="34" charset="0"/>
                <a:ea typeface="微软雅黑" panose="020B0503020204020204" pitchFamily="34" charset="-122"/>
                <a:sym typeface="+mn-ea"/>
              </a:rPr>
              <a:t>Δ</a:t>
            </a:r>
            <a:r>
              <a:rPr lang="en-US" altLang="zh-CN" sz="1200" dirty="0" smtClean="0">
                <a:latin typeface="Arial" panose="020B0604020202020204" pitchFamily="34" charset="0"/>
                <a:ea typeface="微软雅黑" panose="020B0503020204020204" pitchFamily="34" charset="-122"/>
              </a:rPr>
              <a:t>t2=13min 30s(</a:t>
            </a:r>
            <a:r>
              <a:rPr lang="zh-CN" altLang="en-US" sz="1200" dirty="0" smtClean="0">
                <a:latin typeface="Arial" panose="020B0604020202020204" pitchFamily="34" charset="0"/>
                <a:ea typeface="微软雅黑" panose="020B0503020204020204" pitchFamily="34" charset="-122"/>
              </a:rPr>
              <a:t>长间隔</a:t>
            </a:r>
            <a:r>
              <a:rPr lang="en-US" altLang="zh-CN" sz="1200" dirty="0" smtClean="0">
                <a:latin typeface="Arial" panose="020B0604020202020204" pitchFamily="34" charset="0"/>
                <a:ea typeface="微软雅黑" panose="020B0503020204020204" pitchFamily="34" charset="-122"/>
              </a:rPr>
              <a:t>)</a:t>
            </a:r>
            <a:endParaRPr lang="en-US" altLang="zh-CN" sz="1200" dirty="0" smtClean="0">
              <a:latin typeface="Arial" panose="020B0604020202020204" pitchFamily="34" charset="0"/>
              <a:ea typeface="微软雅黑" panose="020B0503020204020204" pitchFamily="34" charset="-122"/>
            </a:endParaRPr>
          </a:p>
          <a:p>
            <a:pPr>
              <a:lnSpc>
                <a:spcPct val="130000"/>
              </a:lnSpc>
            </a:pPr>
            <a:r>
              <a:rPr lang="en-US" altLang="en-US" sz="1200" dirty="0" smtClean="0">
                <a:latin typeface="Arial" panose="020B0604020202020204" pitchFamily="34" charset="0"/>
                <a:ea typeface="微软雅黑" panose="020B0503020204020204" pitchFamily="34" charset="-122"/>
              </a:rPr>
              <a:t>→</a:t>
            </a:r>
            <a:r>
              <a:rPr lang="zh-CN" altLang="en-US" sz="1200" dirty="0" smtClean="0">
                <a:latin typeface="Arial" panose="020B0604020202020204" pitchFamily="34" charset="0"/>
                <a:ea typeface="微软雅黑" panose="020B0503020204020204" pitchFamily="34" charset="-122"/>
              </a:rPr>
              <a:t>暗示：深层思考</a:t>
            </a:r>
            <a:r>
              <a:rPr lang="en-US" altLang="zh-CN" sz="1200" dirty="0" smtClean="0">
                <a:latin typeface="Arial" panose="020B0604020202020204" pitchFamily="34" charset="0"/>
                <a:ea typeface="微软雅黑" panose="020B0503020204020204" pitchFamily="34" charset="-122"/>
              </a:rPr>
              <a:t>/</a:t>
            </a:r>
            <a:r>
              <a:rPr lang="zh-CN" altLang="en-US" sz="1200" dirty="0" smtClean="0">
                <a:latin typeface="Arial" panose="020B0604020202020204" pitchFamily="34" charset="0"/>
                <a:ea typeface="微软雅黑" panose="020B0503020204020204" pitchFamily="34" charset="-122"/>
              </a:rPr>
              <a:t>查阅资料</a:t>
            </a:r>
            <a:endParaRPr lang="zh-CN" altLang="en-US" sz="1200" dirty="0" smtClean="0">
              <a:latin typeface="Arial" panose="020B0604020202020204" pitchFamily="34" charset="0"/>
              <a:ea typeface="微软雅黑" panose="020B0503020204020204" pitchFamily="34" charset="-122"/>
            </a:endParaRPr>
          </a:p>
        </p:txBody>
      </p:sp>
      <p:sp>
        <p:nvSpPr>
          <p:cNvPr id="82" name="文本框 81"/>
          <p:cNvSpPr txBox="1"/>
          <p:nvPr/>
        </p:nvSpPr>
        <p:spPr>
          <a:xfrm>
            <a:off x="4631055" y="4302760"/>
            <a:ext cx="1928495" cy="570865"/>
          </a:xfrm>
          <a:prstGeom prst="rect">
            <a:avLst/>
          </a:prstGeom>
          <a:noFill/>
        </p:spPr>
        <p:txBody>
          <a:bodyPr wrap="square" rtlCol="0" anchor="t">
            <a:spAutoFit/>
          </a:bodyPr>
          <a:p>
            <a:pPr algn="l">
              <a:lnSpc>
                <a:spcPct val="130000"/>
              </a:lnSpc>
              <a:buClrTx/>
              <a:buSzTx/>
              <a:buNone/>
            </a:pPr>
            <a:r>
              <a:rPr lang="en-US" altLang="zh-CN" sz="1200" dirty="0" smtClean="0">
                <a:latin typeface="Arial" panose="020B0604020202020204" pitchFamily="34" charset="0"/>
                <a:ea typeface="微软雅黑" panose="020B0503020204020204" pitchFamily="34" charset="-122"/>
              </a:rPr>
              <a:t>Edit Distance: 2(微小修改)</a:t>
            </a:r>
            <a:endParaRPr lang="en-US" altLang="zh-CN" sz="1200" dirty="0" smtClean="0">
              <a:latin typeface="Arial" panose="020B0604020202020204" pitchFamily="34" charset="0"/>
              <a:ea typeface="微软雅黑" panose="020B0503020204020204" pitchFamily="34" charset="-122"/>
            </a:endParaRPr>
          </a:p>
          <a:p>
            <a:pPr algn="l">
              <a:lnSpc>
                <a:spcPct val="130000"/>
              </a:lnSpc>
              <a:buClrTx/>
              <a:buSzTx/>
              <a:buNone/>
            </a:pPr>
            <a:r>
              <a:rPr lang="en-US" altLang="zh-CN" sz="1200" dirty="0" smtClean="0">
                <a:latin typeface="Arial" panose="020B0604020202020204" pitchFamily="34" charset="0"/>
                <a:ea typeface="微软雅黑" panose="020B0503020204020204" pitchFamily="34" charset="-122"/>
              </a:rPr>
              <a:t>→暗示：磁运气（Luck)</a:t>
            </a:r>
            <a:endParaRPr lang="en-US" altLang="zh-CN" sz="1200" dirty="0" smtClean="0">
              <a:latin typeface="Arial" panose="020B0604020202020204" pitchFamily="34" charset="0"/>
              <a:ea typeface="微软雅黑" panose="020B0503020204020204" pitchFamily="34" charset="-122"/>
            </a:endParaRPr>
          </a:p>
        </p:txBody>
      </p:sp>
      <p:sp>
        <p:nvSpPr>
          <p:cNvPr id="83" name="文本框 82"/>
          <p:cNvSpPr txBox="1"/>
          <p:nvPr/>
        </p:nvSpPr>
        <p:spPr>
          <a:xfrm>
            <a:off x="7842885" y="4302760"/>
            <a:ext cx="2228850" cy="570865"/>
          </a:xfrm>
          <a:prstGeom prst="rect">
            <a:avLst/>
          </a:prstGeom>
          <a:noFill/>
        </p:spPr>
        <p:txBody>
          <a:bodyPr wrap="square" rtlCol="0" anchor="t">
            <a:spAutoFit/>
          </a:bodyPr>
          <a:p>
            <a:pPr algn="l">
              <a:lnSpc>
                <a:spcPct val="130000"/>
              </a:lnSpc>
              <a:buClrTx/>
              <a:buSzTx/>
              <a:buNone/>
            </a:pPr>
            <a:r>
              <a:rPr lang="en-US" altLang="zh-CN" sz="1200" dirty="0" smtClean="0">
                <a:latin typeface="Arial" panose="020B0604020202020204" pitchFamily="34" charset="0"/>
                <a:ea typeface="微软雅黑" panose="020B0503020204020204" pitchFamily="34" charset="-122"/>
              </a:rPr>
              <a:t>Edit Distance:45 (</a:t>
            </a:r>
            <a:r>
              <a:rPr lang="zh-CN" altLang="en-US" sz="1200" dirty="0" smtClean="0">
                <a:latin typeface="Arial" panose="020B0604020202020204" pitchFamily="34" charset="0"/>
                <a:ea typeface="微软雅黑" panose="020B0503020204020204" pitchFamily="34" charset="-122"/>
              </a:rPr>
              <a:t>大幅重构</a:t>
            </a:r>
            <a:r>
              <a:rPr lang="en-US" altLang="zh-CN" sz="1200" dirty="0" smtClean="0">
                <a:latin typeface="Arial" panose="020B0604020202020204" pitchFamily="34" charset="0"/>
                <a:ea typeface="微软雅黑" panose="020B0503020204020204" pitchFamily="34" charset="-122"/>
              </a:rPr>
              <a:t>)</a:t>
            </a:r>
            <a:endParaRPr lang="en-US" altLang="zh-CN" sz="1200" dirty="0" smtClean="0">
              <a:latin typeface="Arial" panose="020B0604020202020204" pitchFamily="34" charset="0"/>
              <a:ea typeface="微软雅黑" panose="020B0503020204020204" pitchFamily="34" charset="-122"/>
            </a:endParaRPr>
          </a:p>
          <a:p>
            <a:pPr algn="l">
              <a:lnSpc>
                <a:spcPct val="130000"/>
              </a:lnSpc>
              <a:buClrTx/>
              <a:buSzTx/>
              <a:buNone/>
            </a:pPr>
            <a:r>
              <a:rPr lang="zh-CN" altLang="en-US" sz="1200" dirty="0" smtClean="0">
                <a:latin typeface="Arial" panose="020B0604020202020204" pitchFamily="34" charset="0"/>
                <a:ea typeface="微软雅黑" panose="020B0503020204020204" pitchFamily="34" charset="-122"/>
              </a:rPr>
              <a:t>暗示：逻揭修正（</a:t>
            </a:r>
            <a:r>
              <a:rPr lang="en-US" altLang="zh-CN" sz="1200" dirty="0" smtClean="0">
                <a:latin typeface="Arial" panose="020B0604020202020204" pitchFamily="34" charset="0"/>
                <a:ea typeface="微软雅黑" panose="020B0503020204020204" pitchFamily="34" charset="-122"/>
              </a:rPr>
              <a:t>Logic Fix)</a:t>
            </a:r>
            <a:endParaRPr lang="en-US" altLang="zh-CN" sz="1200" dirty="0" smtClean="0">
              <a:latin typeface="Arial" panose="020B0604020202020204" pitchFamily="34" charset="0"/>
              <a:ea typeface="微软雅黑" panose="020B0503020204020204" pitchFamily="34" charset="-122"/>
            </a:endParaRPr>
          </a:p>
        </p:txBody>
      </p:sp>
      <p:sp>
        <p:nvSpPr>
          <p:cNvPr id="85" name="文本框 84"/>
          <p:cNvSpPr txBox="1"/>
          <p:nvPr/>
        </p:nvSpPr>
        <p:spPr>
          <a:xfrm>
            <a:off x="5086350" y="3122295"/>
            <a:ext cx="1000760" cy="291465"/>
          </a:xfrm>
          <a:prstGeom prst="rect">
            <a:avLst/>
          </a:prstGeom>
          <a:noFill/>
        </p:spPr>
        <p:txBody>
          <a:bodyPr wrap="square" rtlCol="0" anchor="t">
            <a:spAutoFit/>
          </a:bodyPr>
          <a:p>
            <a:pPr>
              <a:lnSpc>
                <a:spcPct val="130000"/>
              </a:lnSpc>
            </a:pPr>
            <a:r>
              <a:rPr lang="en-US" altLang="zh-CN" sz="1000" dirty="0" smtClean="0">
                <a:latin typeface="Arial" panose="020B0604020202020204" pitchFamily="34" charset="0"/>
                <a:ea typeface="微软雅黑" panose="020B0503020204020204" pitchFamily="34" charset="-122"/>
              </a:rPr>
              <a:t>(</a:t>
            </a:r>
            <a:r>
              <a:rPr lang="zh-CN" altLang="en-US" sz="1000" dirty="0" smtClean="0">
                <a:latin typeface="Arial" panose="020B0604020202020204" pitchFamily="34" charset="0"/>
                <a:ea typeface="微软雅黑" panose="020B0503020204020204" pitchFamily="34" charset="-122"/>
              </a:rPr>
              <a:t>学生思考中</a:t>
            </a:r>
            <a:r>
              <a:rPr lang="en-US" altLang="zh-CN" sz="1000" dirty="0" smtClean="0">
                <a:latin typeface="Arial" panose="020B0604020202020204" pitchFamily="34" charset="0"/>
                <a:ea typeface="微软雅黑" panose="020B0503020204020204" pitchFamily="34" charset="-122"/>
              </a:rPr>
              <a:t>...)</a:t>
            </a:r>
            <a:endParaRPr lang="en-US" altLang="zh-CN" sz="1000" dirty="0" smtClean="0">
              <a:latin typeface="Arial" panose="020B0604020202020204" pitchFamily="34" charset="0"/>
              <a:ea typeface="微软雅黑" panose="020B0503020204020204" pitchFamily="34" charset="-122"/>
            </a:endParaRPr>
          </a:p>
        </p:txBody>
      </p:sp>
      <p:sp>
        <p:nvSpPr>
          <p:cNvPr id="88" name="文本框 87"/>
          <p:cNvSpPr txBox="1"/>
          <p:nvPr/>
        </p:nvSpPr>
        <p:spPr>
          <a:xfrm>
            <a:off x="8059420" y="3122295"/>
            <a:ext cx="1234440" cy="291465"/>
          </a:xfrm>
          <a:prstGeom prst="rect">
            <a:avLst/>
          </a:prstGeom>
          <a:noFill/>
        </p:spPr>
        <p:txBody>
          <a:bodyPr wrap="square" rtlCol="0" anchor="t">
            <a:spAutoFit/>
          </a:bodyPr>
          <a:p>
            <a:pPr>
              <a:lnSpc>
                <a:spcPct val="130000"/>
              </a:lnSpc>
            </a:pPr>
            <a:r>
              <a:rPr lang="zh-CN" altLang="en-US" sz="1000" dirty="0" smtClean="0">
                <a:latin typeface="Arial" panose="020B0604020202020204" pitchFamily="34" charset="0"/>
                <a:ea typeface="微软雅黑" panose="020B0503020204020204" pitchFamily="34" charset="-122"/>
              </a:rPr>
              <a:t>（学生大幅修改</a:t>
            </a:r>
            <a:r>
              <a:rPr lang="en-US" altLang="zh-CN" sz="1000" dirty="0" smtClean="0">
                <a:latin typeface="Arial" panose="020B0604020202020204" pitchFamily="34" charset="0"/>
                <a:ea typeface="微软雅黑" panose="020B0503020204020204" pitchFamily="34" charset="-122"/>
              </a:rPr>
              <a:t>...</a:t>
            </a:r>
            <a:r>
              <a:rPr lang="zh-CN" altLang="en-US" sz="1000" dirty="0" smtClean="0">
                <a:latin typeface="Arial" panose="020B0604020202020204" pitchFamily="34" charset="0"/>
                <a:ea typeface="微软雅黑" panose="020B0503020204020204" pitchFamily="34" charset="-122"/>
              </a:rPr>
              <a:t>）</a:t>
            </a:r>
            <a:endParaRPr lang="zh-CN" altLang="en-US" sz="1000" dirty="0" smtClean="0">
              <a:latin typeface="Arial" panose="020B0604020202020204" pitchFamily="34" charset="0"/>
              <a:ea typeface="微软雅黑" panose="020B0503020204020204" pitchFamily="34" charset="-122"/>
            </a:endParaRPr>
          </a:p>
        </p:txBody>
      </p:sp>
      <p:cxnSp>
        <p:nvCxnSpPr>
          <p:cNvPr id="89" name="直接箭头连接符 88"/>
          <p:cNvCxnSpPr>
            <a:stCxn id="11" idx="3"/>
            <a:endCxn id="85" idx="1"/>
          </p:cNvCxnSpPr>
          <p:nvPr/>
        </p:nvCxnSpPr>
        <p:spPr>
          <a:xfrm>
            <a:off x="4806315" y="3267710"/>
            <a:ext cx="280035" cy="635"/>
          </a:xfrm>
          <a:prstGeom prst="straightConnector1">
            <a:avLst/>
          </a:prstGeom>
          <a:ln w="25400">
            <a:solidFill>
              <a:schemeClr val="tx1"/>
            </a:solidFill>
            <a:tailEnd type="triangle"/>
          </a:ln>
        </p:spPr>
        <p:style>
          <a:lnRef idx="2">
            <a:schemeClr val="accent1"/>
          </a:lnRef>
          <a:fillRef idx="0">
            <a:srgbClr val="FFFFFF"/>
          </a:fillRef>
          <a:effectRef idx="0">
            <a:srgbClr val="FFFFFF"/>
          </a:effectRef>
          <a:fontRef idx="minor">
            <a:schemeClr val="tx1"/>
          </a:fontRef>
        </p:style>
      </p:cxnSp>
      <p:cxnSp>
        <p:nvCxnSpPr>
          <p:cNvPr id="90" name="直接箭头连接符 89"/>
          <p:cNvCxnSpPr>
            <a:stCxn id="85" idx="3"/>
            <a:endCxn id="74" idx="1"/>
          </p:cNvCxnSpPr>
          <p:nvPr/>
        </p:nvCxnSpPr>
        <p:spPr>
          <a:xfrm flipV="1">
            <a:off x="6087110" y="3267710"/>
            <a:ext cx="300990" cy="635"/>
          </a:xfrm>
          <a:prstGeom prst="straightConnector1">
            <a:avLst/>
          </a:prstGeom>
          <a:ln w="25400">
            <a:solidFill>
              <a:schemeClr val="tx1"/>
            </a:solidFill>
            <a:tailEnd type="triangle"/>
          </a:ln>
        </p:spPr>
        <p:style>
          <a:lnRef idx="2">
            <a:schemeClr val="accent1"/>
          </a:lnRef>
          <a:fillRef idx="0">
            <a:srgbClr val="FFFFFF"/>
          </a:fillRef>
          <a:effectRef idx="0">
            <a:srgbClr val="FFFFFF"/>
          </a:effectRef>
          <a:fontRef idx="minor">
            <a:schemeClr val="tx1"/>
          </a:fontRef>
        </p:style>
      </p:cxnSp>
      <p:cxnSp>
        <p:nvCxnSpPr>
          <p:cNvPr id="91" name="直接箭头连接符 90"/>
          <p:cNvCxnSpPr>
            <a:stCxn id="74" idx="3"/>
            <a:endCxn id="88" idx="1"/>
          </p:cNvCxnSpPr>
          <p:nvPr/>
        </p:nvCxnSpPr>
        <p:spPr>
          <a:xfrm>
            <a:off x="7863205" y="3267710"/>
            <a:ext cx="196215" cy="635"/>
          </a:xfrm>
          <a:prstGeom prst="straightConnector1">
            <a:avLst/>
          </a:prstGeom>
          <a:ln w="25400">
            <a:solidFill>
              <a:schemeClr val="tx1"/>
            </a:solidFill>
            <a:tailEnd type="triangle"/>
          </a:ln>
        </p:spPr>
        <p:style>
          <a:lnRef idx="2">
            <a:schemeClr val="accent1"/>
          </a:lnRef>
          <a:fillRef idx="0">
            <a:srgbClr val="FFFFFF"/>
          </a:fillRef>
          <a:effectRef idx="0">
            <a:srgbClr val="FFFFFF"/>
          </a:effectRef>
          <a:fontRef idx="minor">
            <a:schemeClr val="tx1"/>
          </a:fontRef>
        </p:style>
      </p:cxnSp>
      <p:cxnSp>
        <p:nvCxnSpPr>
          <p:cNvPr id="92" name="直接箭头连接符 91"/>
          <p:cNvCxnSpPr>
            <a:stCxn id="88" idx="3"/>
            <a:endCxn id="75" idx="1"/>
          </p:cNvCxnSpPr>
          <p:nvPr/>
        </p:nvCxnSpPr>
        <p:spPr>
          <a:xfrm flipV="1">
            <a:off x="9293860" y="3267710"/>
            <a:ext cx="238125" cy="635"/>
          </a:xfrm>
          <a:prstGeom prst="straightConnector1">
            <a:avLst/>
          </a:prstGeom>
          <a:ln w="25400">
            <a:solidFill>
              <a:schemeClr val="tx1"/>
            </a:solidFill>
            <a:tailEnd type="triangle"/>
          </a:ln>
        </p:spPr>
        <p:style>
          <a:lnRef idx="2">
            <a:schemeClr val="accent1"/>
          </a:lnRef>
          <a:fillRef idx="0">
            <a:srgbClr val="FFFFFF"/>
          </a:fillRef>
          <a:effectRef idx="0">
            <a:srgbClr val="FFFFFF"/>
          </a:effectRef>
          <a:fontRef idx="minor">
            <a:schemeClr val="tx1"/>
          </a:fontRef>
        </p:style>
      </p:cxnSp>
      <p:sp>
        <p:nvSpPr>
          <p:cNvPr id="93" name="文本框 92"/>
          <p:cNvSpPr txBox="1"/>
          <p:nvPr/>
        </p:nvSpPr>
        <p:spPr>
          <a:xfrm>
            <a:off x="7290435" y="4873625"/>
            <a:ext cx="3413125" cy="330835"/>
          </a:xfrm>
          <a:prstGeom prst="rect">
            <a:avLst/>
          </a:prstGeom>
          <a:noFill/>
        </p:spPr>
        <p:txBody>
          <a:bodyPr wrap="square" rtlCol="0" anchor="t">
            <a:spAutoFit/>
          </a:bodyPr>
          <a:p>
            <a:pPr>
              <a:lnSpc>
                <a:spcPct val="130000"/>
              </a:lnSpc>
            </a:pPr>
            <a:r>
              <a:rPr lang="zh-CN" altLang="en-US" sz="1200" dirty="0" smtClean="0">
                <a:latin typeface="微软雅黑" panose="020B0503020204020204" pitchFamily="34" charset="-122"/>
                <a:ea typeface="微软雅黑" panose="020B0503020204020204" pitchFamily="34" charset="-122"/>
                <a:cs typeface="微软雅黑" panose="020B0503020204020204" pitchFamily="34" charset="-122"/>
              </a:rPr>
              <a:t>记录错误类型的演变路径，反映解题策略调整</a:t>
            </a:r>
            <a:endParaRPr lang="zh-CN" altLang="en-US" sz="1200"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94" name="直接连接符 93"/>
          <p:cNvCxnSpPr/>
          <p:nvPr/>
        </p:nvCxnSpPr>
        <p:spPr>
          <a:xfrm>
            <a:off x="1254125" y="4353560"/>
            <a:ext cx="9289415" cy="0"/>
          </a:xfrm>
          <a:prstGeom prst="line">
            <a:avLst/>
          </a:prstGeom>
          <a:ln w="19050" cmpd="sng">
            <a:solidFill>
              <a:schemeClr val="bg1">
                <a:lumMod val="50000"/>
              </a:schemeClr>
            </a:solidFill>
            <a:prstDash val="dash"/>
          </a:ln>
        </p:spPr>
        <p:style>
          <a:lnRef idx="2">
            <a:schemeClr val="accent1"/>
          </a:lnRef>
          <a:fillRef idx="0">
            <a:srgbClr val="FFFFFF"/>
          </a:fillRef>
          <a:effectRef idx="0">
            <a:srgbClr val="FFFFFF"/>
          </a:effectRef>
          <a:fontRef idx="minor">
            <a:schemeClr val="tx1"/>
          </a:fontRef>
        </p:style>
      </p:cxnSp>
      <p:cxnSp>
        <p:nvCxnSpPr>
          <p:cNvPr id="95" name="直接连接符 94"/>
          <p:cNvCxnSpPr/>
          <p:nvPr/>
        </p:nvCxnSpPr>
        <p:spPr>
          <a:xfrm>
            <a:off x="1254125" y="4873625"/>
            <a:ext cx="9289415" cy="0"/>
          </a:xfrm>
          <a:prstGeom prst="line">
            <a:avLst/>
          </a:prstGeom>
          <a:ln w="19050" cmpd="sng">
            <a:solidFill>
              <a:schemeClr val="bg1">
                <a:lumMod val="50000"/>
              </a:schemeClr>
            </a:solidFill>
            <a:prstDash val="dash"/>
          </a:ln>
        </p:spPr>
        <p:style>
          <a:lnRef idx="2">
            <a:schemeClr val="accent1"/>
          </a:lnRef>
          <a:fillRef idx="0">
            <a:srgbClr val="FFFFFF"/>
          </a:fillRef>
          <a:effectRef idx="0">
            <a:srgbClr val="FFFFFF"/>
          </a:effectRef>
          <a:fontRef idx="minor">
            <a:schemeClr val="tx1"/>
          </a:fontRef>
        </p:style>
      </p:cxnSp>
      <p:cxnSp>
        <p:nvCxnSpPr>
          <p:cNvPr id="96" name="直接箭头连接符 95"/>
          <p:cNvCxnSpPr>
            <a:stCxn id="98" idx="3"/>
            <a:endCxn id="99" idx="1"/>
          </p:cNvCxnSpPr>
          <p:nvPr/>
        </p:nvCxnSpPr>
        <p:spPr>
          <a:xfrm>
            <a:off x="5083175" y="5062220"/>
            <a:ext cx="399415" cy="0"/>
          </a:xfrm>
          <a:prstGeom prst="straightConnector1">
            <a:avLst/>
          </a:prstGeom>
          <a:ln w="25400">
            <a:solidFill>
              <a:schemeClr val="tx1"/>
            </a:solidFill>
            <a:tailEnd type="triangle"/>
          </a:ln>
        </p:spPr>
        <p:style>
          <a:lnRef idx="2">
            <a:schemeClr val="accent1"/>
          </a:lnRef>
          <a:fillRef idx="0">
            <a:srgbClr val="FFFFFF"/>
          </a:fillRef>
          <a:effectRef idx="0">
            <a:srgbClr val="FFFFFF"/>
          </a:effectRef>
          <a:fontRef idx="minor">
            <a:schemeClr val="tx1"/>
          </a:fontRef>
        </p:style>
      </p:cxnSp>
      <p:cxnSp>
        <p:nvCxnSpPr>
          <p:cNvPr id="97" name="直接箭头连接符 96"/>
          <p:cNvCxnSpPr>
            <a:stCxn id="99" idx="3"/>
            <a:endCxn id="100" idx="1"/>
          </p:cNvCxnSpPr>
          <p:nvPr/>
        </p:nvCxnSpPr>
        <p:spPr>
          <a:xfrm>
            <a:off x="6012815" y="5062220"/>
            <a:ext cx="346710" cy="0"/>
          </a:xfrm>
          <a:prstGeom prst="straightConnector1">
            <a:avLst/>
          </a:prstGeom>
          <a:ln w="25400">
            <a:solidFill>
              <a:schemeClr val="tx1"/>
            </a:solidFill>
            <a:tailEnd type="triangle"/>
          </a:ln>
        </p:spPr>
        <p:style>
          <a:lnRef idx="2">
            <a:schemeClr val="accent1"/>
          </a:lnRef>
          <a:fillRef idx="0">
            <a:srgbClr val="FFFFFF"/>
          </a:fillRef>
          <a:effectRef idx="0">
            <a:srgbClr val="FFFFFF"/>
          </a:effectRef>
          <a:fontRef idx="minor">
            <a:schemeClr val="tx1"/>
          </a:fontRef>
        </p:style>
      </p:cxnSp>
      <p:sp>
        <p:nvSpPr>
          <p:cNvPr id="98" name="文本框 97"/>
          <p:cNvSpPr txBox="1"/>
          <p:nvPr/>
        </p:nvSpPr>
        <p:spPr>
          <a:xfrm>
            <a:off x="4552950" y="4876800"/>
            <a:ext cx="530225" cy="370840"/>
          </a:xfrm>
          <a:prstGeom prst="rect">
            <a:avLst/>
          </a:prstGeom>
          <a:noFill/>
        </p:spPr>
        <p:txBody>
          <a:bodyPr wrap="square" rtlCol="0">
            <a:spAutoFit/>
          </a:bodyPr>
          <a:p>
            <a:pPr>
              <a:lnSpc>
                <a:spcPct val="130000"/>
              </a:lnSpc>
            </a:pPr>
            <a:r>
              <a:rPr lang="en-US" altLang="zh-CN" sz="1400" dirty="0" smtClean="0">
                <a:solidFill>
                  <a:srgbClr val="C00000"/>
                </a:solidFill>
                <a:latin typeface="微软雅黑" panose="020B0503020204020204" pitchFamily="34" charset="-122"/>
                <a:ea typeface="微软雅黑" panose="020B0503020204020204" pitchFamily="34" charset="-122"/>
              </a:rPr>
              <a:t>TLE</a:t>
            </a:r>
            <a:endParaRPr lang="en-US" altLang="zh-CN" sz="1400" dirty="0" smtClean="0">
              <a:solidFill>
                <a:srgbClr val="C00000"/>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82590" y="4876800"/>
            <a:ext cx="530225" cy="370840"/>
          </a:xfrm>
          <a:prstGeom prst="rect">
            <a:avLst/>
          </a:prstGeom>
          <a:noFill/>
        </p:spPr>
        <p:txBody>
          <a:bodyPr wrap="square" rtlCol="0">
            <a:spAutoFit/>
          </a:bodyPr>
          <a:p>
            <a:pPr>
              <a:lnSpc>
                <a:spcPct val="130000"/>
              </a:lnSpc>
            </a:pPr>
            <a:r>
              <a:rPr lang="en-US" altLang="zh-CN" sz="1400" dirty="0" smtClean="0">
                <a:solidFill>
                  <a:srgbClr val="BD8E6B"/>
                </a:solidFill>
                <a:latin typeface="微软雅黑" panose="020B0503020204020204" pitchFamily="34" charset="-122"/>
                <a:ea typeface="微软雅黑" panose="020B0503020204020204" pitchFamily="34" charset="-122"/>
              </a:rPr>
              <a:t>WA</a:t>
            </a:r>
            <a:endParaRPr lang="en-US" altLang="zh-CN" sz="1400" dirty="0" smtClean="0">
              <a:solidFill>
                <a:srgbClr val="BD8E6B"/>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6359525" y="4876800"/>
            <a:ext cx="530225" cy="370840"/>
          </a:xfrm>
          <a:prstGeom prst="rect">
            <a:avLst/>
          </a:prstGeom>
          <a:noFill/>
        </p:spPr>
        <p:txBody>
          <a:bodyPr wrap="square" rtlCol="0">
            <a:spAutoFit/>
          </a:bodyPr>
          <a:p>
            <a:pPr>
              <a:lnSpc>
                <a:spcPct val="130000"/>
              </a:lnSpc>
            </a:pPr>
            <a:r>
              <a:rPr lang="en-US" altLang="zh-CN" sz="1400" dirty="0" smtClean="0">
                <a:solidFill>
                  <a:srgbClr val="6A8854"/>
                </a:solidFill>
                <a:latin typeface="微软雅黑" panose="020B0503020204020204" pitchFamily="34" charset="-122"/>
                <a:ea typeface="微软雅黑" panose="020B0503020204020204" pitchFamily="34" charset="-122"/>
              </a:rPr>
              <a:t>AC</a:t>
            </a:r>
            <a:endParaRPr lang="en-US" altLang="zh-CN" sz="1400" dirty="0" smtClean="0">
              <a:solidFill>
                <a:srgbClr val="6A8854"/>
              </a:solidFill>
              <a:latin typeface="微软雅黑" panose="020B0503020204020204" pitchFamily="34" charset="-122"/>
              <a:ea typeface="微软雅黑" panose="020B0503020204020204" pitchFamily="34" charset="-122"/>
            </a:endParaRPr>
          </a:p>
        </p:txBody>
      </p:sp>
      <p:grpSp>
        <p:nvGrpSpPr>
          <p:cNvPr id="101" name="组合 100"/>
          <p:cNvGrpSpPr/>
          <p:nvPr>
            <p:custDataLst>
              <p:tags r:id="rId13"/>
            </p:custDataLst>
          </p:nvPr>
        </p:nvGrpSpPr>
        <p:grpSpPr>
          <a:xfrm>
            <a:off x="6226175" y="5285740"/>
            <a:ext cx="5220335" cy="939800"/>
            <a:chOff x="1053" y="2278"/>
            <a:chExt cx="5663" cy="2117"/>
          </a:xfrm>
        </p:grpSpPr>
        <p:sp>
          <p:nvSpPr>
            <p:cNvPr id="102" name="文本框 27"/>
            <p:cNvSpPr txBox="1"/>
            <p:nvPr>
              <p:custDataLst>
                <p:tags r:id="rId14"/>
              </p:custDataLst>
            </p:nvPr>
          </p:nvSpPr>
          <p:spPr>
            <a:xfrm>
              <a:off x="1053" y="2979"/>
              <a:ext cx="5663" cy="1416"/>
            </a:xfrm>
            <a:prstGeom prst="rect">
              <a:avLst/>
            </a:prstGeom>
            <a:solidFill>
              <a:schemeClr val="bg1">
                <a:lumMod val="95000"/>
              </a:schemeClr>
            </a:solidFill>
            <a:ln w="12700">
              <a:solidFill>
                <a:srgbClr val="6A8854"/>
              </a:solidFill>
            </a:ln>
          </p:spPr>
          <p:txBody>
            <a:bodyPr wrap="square" lIns="91440" tIns="45720" rIns="91440" bIns="45720" rtlCol="0">
              <a:noAutofit/>
            </a:bodyPr>
            <a:lstStyle/>
            <a:p>
              <a:pPr marR="0" lvl="0" algn="l" defTabSz="457200" rtl="0" fontAlgn="auto">
                <a:lnSpc>
                  <a:spcPct val="130000"/>
                </a:lnSpc>
                <a:spcBef>
                  <a:spcPts val="0"/>
                </a:spcBef>
                <a:spcAft>
                  <a:spcPts val="0"/>
                </a:spcAft>
                <a:buClrTx/>
                <a:buSzTx/>
                <a:buFont typeface="Wingdings" panose="05000000000000000000" charset="0"/>
                <a:buNone/>
                <a:defRPr/>
              </a:pPr>
              <a:r>
                <a:rPr kumimoji="0" lang="zh-CN" altLang="en-US" sz="14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特征组合：</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较长间隔]+[大幅重构]+</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状态改变（如</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TLE-&gt;WA）]</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R="0" lvl="0" algn="l" defTabSz="457200" rtl="0" fontAlgn="auto">
                <a:lnSpc>
                  <a:spcPct val="130000"/>
                </a:lnSpc>
                <a:spcBef>
                  <a:spcPts val="0"/>
                </a:spcBef>
                <a:spcAft>
                  <a:spcPts val="0"/>
                </a:spcAft>
                <a:buClrTx/>
                <a:buSzTx/>
                <a:buFont typeface="Wingdings" panose="05000000000000000000" charset="0"/>
                <a:buNone/>
                <a:defRPr/>
              </a:pPr>
              <a:r>
                <a:rPr kumimoji="0" lang="zh-CN" altLang="en-US" sz="14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认知诊断：</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学生正在经历算法思路的根本性转变或逻辑修正</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103" name="矩形 102"/>
            <p:cNvSpPr/>
            <p:nvPr>
              <p:custDataLst>
                <p:tags r:id="rId15"/>
              </p:custDataLst>
            </p:nvPr>
          </p:nvSpPr>
          <p:spPr bwMode="auto">
            <a:xfrm>
              <a:off x="1053" y="2278"/>
              <a:ext cx="5663" cy="702"/>
            </a:xfrm>
            <a:prstGeom prst="rect">
              <a:avLst/>
            </a:prstGeom>
            <a:solidFill>
              <a:srgbClr val="6A8854"/>
            </a:solidFill>
            <a:ln>
              <a:solidFill>
                <a:srgbClr val="6A8854"/>
              </a:solidFill>
            </a:ln>
          </p:spPr>
          <p:txBody>
            <a:bodyPr vert="horz" wrap="square" lIns="91440" tIns="45720" rIns="91440" bIns="45720" numCol="1" rtlCol="0" anchor="t" anchorCtr="0" compatLnSpc="1"/>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典型</a:t>
              </a:r>
              <a:r>
                <a:rPr kumimoji="0" lang="en-US" altLang="zh-CN" sz="1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r>
                <a:rPr kumimoji="0" lang="zh-CN" altLang="en-US" sz="1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深层思考</a:t>
              </a:r>
              <a:r>
                <a:rPr kumimoji="0" lang="en-US" altLang="zh-CN" sz="1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r>
                <a:rPr kumimoji="0" lang="zh-CN" altLang="en-US" sz="1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模式（</a:t>
              </a:r>
              <a:r>
                <a:rPr kumimoji="0" lang="en-US" altLang="zh-CN" sz="1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Deep Thinking</a:t>
              </a:r>
              <a:r>
                <a:rPr kumimoji="0" lang="zh-CN" altLang="en-US" sz="1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endParaRPr kumimoji="0" lang="zh-CN" altLang="en-US" sz="1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106" name="右箭头 105"/>
          <p:cNvSpPr/>
          <p:nvPr/>
        </p:nvSpPr>
        <p:spPr>
          <a:xfrm>
            <a:off x="5235575" y="1635125"/>
            <a:ext cx="1713865" cy="514350"/>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7" name="文本框 106"/>
          <p:cNvSpPr txBox="1"/>
          <p:nvPr/>
        </p:nvSpPr>
        <p:spPr>
          <a:xfrm>
            <a:off x="5149850" y="1304290"/>
            <a:ext cx="1885950" cy="330835"/>
          </a:xfrm>
          <a:prstGeom prst="rect">
            <a:avLst/>
          </a:prstGeom>
          <a:noFill/>
        </p:spPr>
        <p:txBody>
          <a:bodyPr wrap="square" rtlCol="0" anchor="t">
            <a:spAutoFit/>
          </a:bodyPr>
          <a:p>
            <a:pPr>
              <a:lnSpc>
                <a:spcPct val="130000"/>
              </a:lnSpc>
            </a:pPr>
            <a:r>
              <a:rPr lang="zh-CN" altLang="en-US" sz="1200" dirty="0" smtClean="0">
                <a:latin typeface="微软雅黑" panose="020B0503020204020204" pitchFamily="34" charset="-122"/>
                <a:ea typeface="微软雅黑" panose="020B0503020204020204" pitchFamily="34" charset="-122"/>
                <a:cs typeface="微软雅黑" panose="020B0503020204020204" pitchFamily="34" charset="-122"/>
              </a:rPr>
              <a:t>从</a:t>
            </a:r>
            <a:r>
              <a:rPr lang="en-US" altLang="zh-CN" sz="1200"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dirty="0" smtClean="0">
                <a:latin typeface="微软雅黑" panose="020B0503020204020204" pitchFamily="34" charset="-122"/>
                <a:ea typeface="微软雅黑" panose="020B0503020204020204" pitchFamily="34" charset="-122"/>
                <a:cs typeface="微软雅黑" panose="020B0503020204020204" pitchFamily="34" charset="-122"/>
              </a:rPr>
              <a:t>点</a:t>
            </a:r>
            <a:r>
              <a:rPr lang="en-US" altLang="zh-CN" sz="1200"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dirty="0" smtClean="0">
                <a:latin typeface="微软雅黑" panose="020B0503020204020204" pitchFamily="34" charset="-122"/>
                <a:ea typeface="微软雅黑" panose="020B0503020204020204" pitchFamily="34" charset="-122"/>
                <a:cs typeface="微软雅黑" panose="020B0503020204020204" pitchFamily="34" charset="-122"/>
              </a:rPr>
              <a:t>到</a:t>
            </a:r>
            <a:r>
              <a:rPr lang="en-US" altLang="zh-CN" sz="1200"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dirty="0" smtClean="0">
                <a:latin typeface="微软雅黑" panose="020B0503020204020204" pitchFamily="34" charset="-122"/>
                <a:ea typeface="微软雅黑" panose="020B0503020204020204" pitchFamily="34" charset="-122"/>
                <a:cs typeface="微软雅黑" panose="020B0503020204020204" pitchFamily="34" charset="-122"/>
              </a:rPr>
              <a:t>线</a:t>
            </a:r>
            <a:r>
              <a:rPr lang="en-US" altLang="zh-CN" sz="1200"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dirty="0" smtClean="0">
                <a:latin typeface="微软雅黑" panose="020B0503020204020204" pitchFamily="34" charset="-122"/>
                <a:ea typeface="微软雅黑" panose="020B0503020204020204" pitchFamily="34" charset="-122"/>
                <a:cs typeface="微软雅黑" panose="020B0503020204020204" pitchFamily="34" charset="-122"/>
              </a:rPr>
              <a:t>的跨越</a:t>
            </a:r>
            <a:endParaRPr lang="zh-CN" altLang="en-US" sz="1200"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46"/>
          <p:cNvSpPr>
            <a:spLocks noChangeArrowheads="1"/>
          </p:cNvSpPr>
          <p:nvPr/>
        </p:nvSpPr>
        <p:spPr bwMode="auto">
          <a:xfrm>
            <a:off x="634918" y="237124"/>
            <a:ext cx="390017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cs"/>
                <a:sym typeface="Calibri" panose="020F0502020204030204" pitchFamily="34" charset="0"/>
              </a:rPr>
              <a:t>双塔对齐与生成诊断</a:t>
            </a:r>
            <a:endParaRPr kumimoji="0" lang="zh-CN" altLang="en-US" sz="32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34" name="等腰三角形 47"/>
          <p:cNvSpPr>
            <a:spLocks noChangeArrowheads="1"/>
          </p:cNvSpPr>
          <p:nvPr/>
        </p:nvSpPr>
        <p:spPr bwMode="auto">
          <a:xfrm rot="5400000">
            <a:off x="-53049" y="209721"/>
            <a:ext cx="774879" cy="668780"/>
          </a:xfrm>
          <a:prstGeom prst="triangle">
            <a:avLst>
              <a:gd name="adj" fmla="val 50000"/>
            </a:avLst>
          </a:prstGeom>
          <a:solidFill>
            <a:srgbClr val="990100"/>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pic>
        <p:nvPicPr>
          <p:cNvPr id="2" name="图片 1"/>
          <p:cNvPicPr>
            <a:picLocks noChangeAspect="1"/>
          </p:cNvPicPr>
          <p:nvPr/>
        </p:nvPicPr>
        <p:blipFill>
          <a:blip r:embed="rId1" cstate="print">
            <a:biLevel thresh="75000"/>
            <a:extLst>
              <a:ext uri="{BEBA8EAE-BF5A-486C-A8C5-ECC9F3942E4B}">
                <a14:imgProps xmlns:a14="http://schemas.microsoft.com/office/drawing/2010/main">
                  <a14:imgLayer r:embed="rId2">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12465" y="6301220"/>
            <a:ext cx="1523493" cy="400109"/>
          </a:xfrm>
          <a:prstGeom prst="rect">
            <a:avLst/>
          </a:prstGeom>
        </p:spPr>
      </p:pic>
      <p:pic>
        <p:nvPicPr>
          <p:cNvPr id="3" name="图片 2" descr="logo红"/>
          <p:cNvPicPr>
            <a:picLocks noChangeAspect="1"/>
          </p:cNvPicPr>
          <p:nvPr/>
        </p:nvPicPr>
        <p:blipFill>
          <a:blip r:embed="rId3"/>
          <a:stretch>
            <a:fillRect/>
          </a:stretch>
        </p:blipFill>
        <p:spPr>
          <a:xfrm>
            <a:off x="8033385" y="297815"/>
            <a:ext cx="3755390" cy="494665"/>
          </a:xfrm>
          <a:prstGeom prst="rect">
            <a:avLst/>
          </a:prstGeom>
        </p:spPr>
      </p:pic>
      <p:grpSp>
        <p:nvGrpSpPr>
          <p:cNvPr id="78" name="组合 77"/>
          <p:cNvGrpSpPr/>
          <p:nvPr/>
        </p:nvGrpSpPr>
        <p:grpSpPr>
          <a:xfrm>
            <a:off x="668655" y="916305"/>
            <a:ext cx="11016615" cy="2617470"/>
            <a:chOff x="1053" y="1743"/>
            <a:chExt cx="17349" cy="4122"/>
          </a:xfrm>
        </p:grpSpPr>
        <p:sp>
          <p:nvSpPr>
            <p:cNvPr id="4" name="文本2"/>
            <p:cNvSpPr>
              <a:spLocks noChangeArrowheads="1"/>
            </p:cNvSpPr>
            <p:nvPr>
              <p:custDataLst>
                <p:tags r:id="rId4"/>
              </p:custDataLst>
            </p:nvPr>
          </p:nvSpPr>
          <p:spPr bwMode="gray">
            <a:xfrm>
              <a:off x="1053" y="1743"/>
              <a:ext cx="17064" cy="4122"/>
            </a:xfrm>
            <a:prstGeom prst="roundRect">
              <a:avLst>
                <a:gd name="adj" fmla="val 11505"/>
              </a:avLst>
            </a:prstGeom>
            <a:noFill/>
            <a:ln w="15875" cap="flat" cmpd="sng" algn="ctr">
              <a:solidFill>
                <a:srgbClr val="990100"/>
              </a:solid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00" rtl="0" eaLnBrk="1" fontAlgn="base" latinLnBrk="0" hangingPunct="1">
                <a:lnSpc>
                  <a:spcPct val="120000"/>
                </a:lnSpc>
                <a:spcBef>
                  <a:spcPct val="0"/>
                </a:spcBef>
                <a:spcAft>
                  <a:spcPct val="0"/>
                </a:spcAft>
                <a:buClrTx/>
                <a:buSzTx/>
                <a:buFontTx/>
                <a:buNone/>
                <a:defRPr/>
              </a:pPr>
              <a:endParaRPr kumimoji="0" lang="zh-CN" altLang="zh-CN"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pic>
          <p:nvPicPr>
            <p:cNvPr id="6" name="图片 5"/>
            <p:cNvPicPr/>
            <p:nvPr/>
          </p:nvPicPr>
          <p:blipFill>
            <a:blip r:embed="rId5"/>
            <a:stretch>
              <a:fillRect/>
            </a:stretch>
          </p:blipFill>
          <p:spPr>
            <a:xfrm>
              <a:off x="16656" y="1992"/>
              <a:ext cx="612" cy="612"/>
            </a:xfrm>
            <a:prstGeom prst="rect">
              <a:avLst/>
            </a:prstGeom>
          </p:spPr>
        </p:pic>
        <p:pic>
          <p:nvPicPr>
            <p:cNvPr id="7" name="图片 6"/>
            <p:cNvPicPr/>
            <p:nvPr/>
          </p:nvPicPr>
          <p:blipFill>
            <a:blip r:embed="rId5"/>
            <a:stretch>
              <a:fillRect/>
            </a:stretch>
          </p:blipFill>
          <p:spPr>
            <a:xfrm>
              <a:off x="16656" y="3291"/>
              <a:ext cx="612" cy="612"/>
            </a:xfrm>
            <a:prstGeom prst="rect">
              <a:avLst/>
            </a:prstGeom>
          </p:spPr>
        </p:pic>
        <p:pic>
          <p:nvPicPr>
            <p:cNvPr id="8" name="图片 7"/>
            <p:cNvPicPr/>
            <p:nvPr/>
          </p:nvPicPr>
          <p:blipFill>
            <a:blip r:embed="rId6"/>
            <a:stretch>
              <a:fillRect/>
            </a:stretch>
          </p:blipFill>
          <p:spPr>
            <a:xfrm flipH="1">
              <a:off x="1665" y="3981"/>
              <a:ext cx="870" cy="915"/>
            </a:xfrm>
            <a:prstGeom prst="rect">
              <a:avLst/>
            </a:prstGeom>
          </p:spPr>
        </p:pic>
        <p:pic>
          <p:nvPicPr>
            <p:cNvPr id="9" name="图片 8"/>
            <p:cNvPicPr/>
            <p:nvPr/>
          </p:nvPicPr>
          <p:blipFill>
            <a:blip r:embed="rId7"/>
            <a:stretch>
              <a:fillRect/>
            </a:stretch>
          </p:blipFill>
          <p:spPr>
            <a:xfrm>
              <a:off x="1665" y="2232"/>
              <a:ext cx="855" cy="855"/>
            </a:xfrm>
            <a:prstGeom prst="rect">
              <a:avLst/>
            </a:prstGeom>
          </p:spPr>
        </p:pic>
        <p:sp>
          <p:nvSpPr>
            <p:cNvPr id="10" name="圆角矩形 9"/>
            <p:cNvSpPr/>
            <p:nvPr/>
          </p:nvSpPr>
          <p:spPr>
            <a:xfrm>
              <a:off x="3644" y="1992"/>
              <a:ext cx="855" cy="3457"/>
            </a:xfrm>
            <a:prstGeom prst="roundRect">
              <a:avLst/>
            </a:prstGeom>
            <a:solidFill>
              <a:srgbClr val="990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600" b="1"/>
                <a:t>时序认知编码器</a:t>
              </a:r>
              <a:endParaRPr lang="zh-CN" altLang="en-US" sz="1600" b="1"/>
            </a:p>
          </p:txBody>
        </p:sp>
        <p:sp>
          <p:nvSpPr>
            <p:cNvPr id="11" name="圆角矩形 10"/>
            <p:cNvSpPr/>
            <p:nvPr/>
          </p:nvSpPr>
          <p:spPr>
            <a:xfrm>
              <a:off x="8073" y="3260"/>
              <a:ext cx="3030" cy="886"/>
            </a:xfrm>
            <a:prstGeom prst="roundRect">
              <a:avLst/>
            </a:prstGeom>
            <a:solidFill>
              <a:srgbClr val="990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t>非对称语义对齐</a:t>
              </a:r>
              <a:endParaRPr lang="zh-CN" altLang="en-US" b="1"/>
            </a:p>
          </p:txBody>
        </p:sp>
        <p:sp>
          <p:nvSpPr>
            <p:cNvPr id="12" name="圆角矩形 11"/>
            <p:cNvSpPr/>
            <p:nvPr/>
          </p:nvSpPr>
          <p:spPr>
            <a:xfrm>
              <a:off x="14325" y="1992"/>
              <a:ext cx="855" cy="3458"/>
            </a:xfrm>
            <a:prstGeom prst="roundRect">
              <a:avLst/>
            </a:prstGeom>
            <a:solidFill>
              <a:srgbClr val="990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t>语义感知代码编码器</a:t>
              </a:r>
              <a:endParaRPr lang="zh-CN" altLang="en-US" sz="1400" b="1"/>
            </a:p>
          </p:txBody>
        </p:sp>
        <p:sp>
          <p:nvSpPr>
            <p:cNvPr id="13" name="文本框 12"/>
            <p:cNvSpPr txBox="1"/>
            <p:nvPr/>
          </p:nvSpPr>
          <p:spPr>
            <a:xfrm>
              <a:off x="16038" y="2529"/>
              <a:ext cx="2019" cy="433"/>
            </a:xfrm>
            <a:prstGeom prst="rect">
              <a:avLst/>
            </a:prstGeom>
            <a:noFill/>
          </p:spPr>
          <p:txBody>
            <a:bodyPr wrap="square" rtlCol="0">
              <a:noAutofit/>
            </a:bodyPr>
            <a:p>
              <a:pPr>
                <a:lnSpc>
                  <a:spcPct val="130000"/>
                </a:lnSpc>
              </a:pPr>
              <a:r>
                <a:rPr lang="zh-CN" altLang="en-US" sz="1400" dirty="0" smtClean="0">
                  <a:latin typeface="Arial" panose="020B0604020202020204" pitchFamily="34" charset="0"/>
                  <a:ea typeface="微软雅黑" panose="020B0503020204020204" pitchFamily="34" charset="-122"/>
                </a:rPr>
                <a:t>错误代码</a:t>
              </a:r>
              <a:r>
                <a:rPr lang="zh-CN" altLang="en-US" sz="1400" dirty="0" smtClean="0">
                  <a:latin typeface="Arial" panose="020B0604020202020204" pitchFamily="34" charset="0"/>
                  <a:ea typeface="微软雅黑" panose="020B0503020204020204" pitchFamily="34" charset="-122"/>
                </a:rPr>
                <a:t>文本</a:t>
              </a:r>
              <a:endParaRPr lang="zh-CN" altLang="en-US" sz="1400" dirty="0" smtClean="0">
                <a:latin typeface="Arial" panose="020B0604020202020204" pitchFamily="34" charset="0"/>
                <a:ea typeface="微软雅黑" panose="020B0503020204020204" pitchFamily="34" charset="-122"/>
              </a:endParaRPr>
            </a:p>
          </p:txBody>
        </p:sp>
        <p:sp>
          <p:nvSpPr>
            <p:cNvPr id="14" name="文本框 13"/>
            <p:cNvSpPr txBox="1"/>
            <p:nvPr/>
          </p:nvSpPr>
          <p:spPr>
            <a:xfrm>
              <a:off x="15912" y="3784"/>
              <a:ext cx="2490" cy="433"/>
            </a:xfrm>
            <a:prstGeom prst="rect">
              <a:avLst/>
            </a:prstGeom>
            <a:noFill/>
          </p:spPr>
          <p:txBody>
            <a:bodyPr wrap="square" rtlCol="0">
              <a:noAutofit/>
            </a:bodyPr>
            <a:p>
              <a:pPr>
                <a:lnSpc>
                  <a:spcPct val="130000"/>
                </a:lnSpc>
              </a:pPr>
              <a:r>
                <a:rPr lang="en-US" altLang="zh-CN" sz="1400" dirty="0" smtClean="0">
                  <a:latin typeface="Arial" panose="020B0604020202020204" pitchFamily="34" charset="0"/>
                  <a:ea typeface="微软雅黑" panose="020B0503020204020204" pitchFamily="34" charset="-122"/>
                </a:rPr>
                <a:t>CodeBERT</a:t>
              </a:r>
              <a:r>
                <a:rPr lang="zh-CN" altLang="en-US" sz="1400" dirty="0" smtClean="0">
                  <a:latin typeface="Arial" panose="020B0604020202020204" pitchFamily="34" charset="0"/>
                  <a:ea typeface="微软雅黑" panose="020B0503020204020204" pitchFamily="34" charset="-122"/>
                </a:rPr>
                <a:t>编码</a:t>
              </a:r>
              <a:endParaRPr lang="zh-CN" altLang="en-US" sz="1400" dirty="0" smtClean="0">
                <a:latin typeface="Arial" panose="020B0604020202020204" pitchFamily="34" charset="0"/>
                <a:ea typeface="微软雅黑" panose="020B0503020204020204" pitchFamily="34" charset="-122"/>
              </a:endParaRPr>
            </a:p>
          </p:txBody>
        </p:sp>
        <p:cxnSp>
          <p:nvCxnSpPr>
            <p:cNvPr id="89" name="直接箭头连接符 88"/>
            <p:cNvCxnSpPr/>
            <p:nvPr/>
          </p:nvCxnSpPr>
          <p:spPr>
            <a:xfrm flipH="1" flipV="1">
              <a:off x="15180" y="2655"/>
              <a:ext cx="685" cy="2"/>
            </a:xfrm>
            <a:prstGeom prst="straightConnector1">
              <a:avLst/>
            </a:prstGeom>
            <a:ln w="25400">
              <a:solidFill>
                <a:schemeClr val="tx1"/>
              </a:solidFill>
              <a:tailEnd type="triangle"/>
            </a:ln>
          </p:spPr>
          <p:style>
            <a:lnRef idx="2">
              <a:schemeClr val="accent1"/>
            </a:lnRef>
            <a:fillRef idx="0">
              <a:srgbClr val="FFFFFF"/>
            </a:fillRef>
            <a:effectRef idx="0">
              <a:srgbClr val="FFFFFF"/>
            </a:effectRef>
            <a:fontRef idx="minor">
              <a:schemeClr val="tx1"/>
            </a:fontRef>
          </p:style>
        </p:cxnSp>
        <p:cxnSp>
          <p:nvCxnSpPr>
            <p:cNvPr id="15" name="直接箭头连接符 14"/>
            <p:cNvCxnSpPr/>
            <p:nvPr/>
          </p:nvCxnSpPr>
          <p:spPr>
            <a:xfrm flipH="1" flipV="1">
              <a:off x="15180" y="3823"/>
              <a:ext cx="685" cy="2"/>
            </a:xfrm>
            <a:prstGeom prst="straightConnector1">
              <a:avLst/>
            </a:prstGeom>
            <a:ln w="25400">
              <a:solidFill>
                <a:schemeClr val="tx1"/>
              </a:solidFill>
              <a:tailEnd type="triangle"/>
            </a:ln>
          </p:spPr>
          <p:style>
            <a:lnRef idx="2">
              <a:schemeClr val="accent1"/>
            </a:lnRef>
            <a:fillRef idx="0">
              <a:srgbClr val="FFFFFF"/>
            </a:fillRef>
            <a:effectRef idx="0">
              <a:srgbClr val="FFFFFF"/>
            </a:effectRef>
            <a:fontRef idx="minor">
              <a:schemeClr val="tx1"/>
            </a:fontRef>
          </p:style>
        </p:cxnSp>
        <p:cxnSp>
          <p:nvCxnSpPr>
            <p:cNvPr id="16" name="直接箭头连接符 15"/>
            <p:cNvCxnSpPr/>
            <p:nvPr/>
          </p:nvCxnSpPr>
          <p:spPr>
            <a:xfrm>
              <a:off x="2869" y="2653"/>
              <a:ext cx="775" cy="2"/>
            </a:xfrm>
            <a:prstGeom prst="straightConnector1">
              <a:avLst/>
            </a:prstGeom>
            <a:ln w="25400">
              <a:solidFill>
                <a:schemeClr val="tx1"/>
              </a:solidFill>
              <a:tailEnd type="triangle"/>
            </a:ln>
          </p:spPr>
          <p:style>
            <a:lnRef idx="2">
              <a:schemeClr val="accent1"/>
            </a:lnRef>
            <a:fillRef idx="0">
              <a:srgbClr val="FFFFFF"/>
            </a:fillRef>
            <a:effectRef idx="0">
              <a:srgbClr val="FFFFFF"/>
            </a:effectRef>
            <a:fontRef idx="minor">
              <a:schemeClr val="tx1"/>
            </a:fontRef>
          </p:style>
        </p:cxnSp>
        <p:cxnSp>
          <p:nvCxnSpPr>
            <p:cNvPr id="27" name="直接箭头连接符 26"/>
            <p:cNvCxnSpPr/>
            <p:nvPr/>
          </p:nvCxnSpPr>
          <p:spPr>
            <a:xfrm>
              <a:off x="2869" y="4443"/>
              <a:ext cx="775" cy="2"/>
            </a:xfrm>
            <a:prstGeom prst="straightConnector1">
              <a:avLst/>
            </a:prstGeom>
            <a:ln w="25400">
              <a:solidFill>
                <a:schemeClr val="tx1"/>
              </a:solidFill>
              <a:tailEnd type="triangle"/>
            </a:ln>
          </p:spPr>
          <p:style>
            <a:lnRef idx="2">
              <a:schemeClr val="accent1"/>
            </a:lnRef>
            <a:fillRef idx="0">
              <a:srgbClr val="FFFFFF"/>
            </a:fillRef>
            <a:effectRef idx="0">
              <a:srgbClr val="FFFFFF"/>
            </a:effectRef>
            <a:fontRef idx="minor">
              <a:schemeClr val="tx1"/>
            </a:fontRef>
          </p:style>
        </p:cxnSp>
        <p:sp>
          <p:nvSpPr>
            <p:cNvPr id="28" name="文本框 27"/>
            <p:cNvSpPr txBox="1"/>
            <p:nvPr/>
          </p:nvSpPr>
          <p:spPr>
            <a:xfrm>
              <a:off x="1374" y="3087"/>
              <a:ext cx="1421" cy="584"/>
            </a:xfrm>
            <a:prstGeom prst="rect">
              <a:avLst/>
            </a:prstGeom>
            <a:noFill/>
          </p:spPr>
          <p:txBody>
            <a:bodyPr wrap="square" rtlCol="0">
              <a:spAutoFit/>
            </a:bodyPr>
            <a:p>
              <a:pPr>
                <a:lnSpc>
                  <a:spcPct val="130000"/>
                </a:lnSpc>
              </a:pPr>
              <a:r>
                <a:rPr lang="zh-CN" altLang="en-US" sz="1400" dirty="0" smtClean="0">
                  <a:latin typeface="Arial" panose="020B0604020202020204" pitchFamily="34" charset="0"/>
                  <a:ea typeface="微软雅黑" panose="020B0503020204020204" pitchFamily="34" charset="-122"/>
                </a:rPr>
                <a:t>轨迹特征</a:t>
              </a:r>
              <a:endParaRPr lang="zh-CN" altLang="en-US" sz="1400" dirty="0" smtClean="0">
                <a:latin typeface="Arial" panose="020B0604020202020204" pitchFamily="34" charset="0"/>
                <a:ea typeface="微软雅黑" panose="020B0503020204020204" pitchFamily="34" charset="-122"/>
              </a:endParaRPr>
            </a:p>
          </p:txBody>
        </p:sp>
        <mc:AlternateContent xmlns:mc="http://schemas.openxmlformats.org/markup-compatibility/2006">
          <mc:Choice xmlns:a14="http://schemas.microsoft.com/office/drawing/2010/main" Requires="a14">
            <p:sp>
              <p:nvSpPr>
                <p:cNvPr id="29" name="文本框 28"/>
                <p:cNvSpPr txBox="1"/>
                <p:nvPr/>
              </p:nvSpPr>
              <p:spPr>
                <a:xfrm>
                  <a:off x="1374" y="4840"/>
                  <a:ext cx="1966" cy="1024"/>
                </a:xfrm>
                <a:prstGeom prst="rect">
                  <a:avLst/>
                </a:prstGeom>
                <a:noFill/>
              </p:spPr>
              <p:txBody>
                <a:bodyPr wrap="square" rtlCol="0">
                  <a:spAutoFit/>
                </a:bodyPr>
                <a:p>
                  <a:pPr>
                    <a:lnSpc>
                      <a:spcPct val="130000"/>
                    </a:lnSpc>
                  </a:pPr>
                  <a:r>
                    <a:rPr lang="zh-CN" altLang="en-US" sz="1400" dirty="0" smtClean="0">
                      <a:latin typeface="微软雅黑" panose="020B0503020204020204" pitchFamily="34" charset="-122"/>
                      <a:ea typeface="微软雅黑" panose="020B0503020204020204" pitchFamily="34" charset="-122"/>
                      <a:cs typeface="微软雅黑" panose="020B0503020204020204" pitchFamily="34" charset="-122"/>
                    </a:rPr>
                    <a:t>认知状态</a:t>
                  </a:r>
                  <a:endParaRPr lang="zh-CN" altLang="en-US" sz="1400" dirty="0" smtClean="0">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pPr>
                  <a:r>
                    <a:rPr lang="en-US" altLang="zh-CN" sz="1400" dirty="0" smtClean="0">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sSub>
                        <m:sSubPr>
                          <m:ctrlPr>
                            <a:rPr lang="en-US" altLang="zh-CN" sz="1400" i="1" dirty="0" smtClean="0">
                              <a:latin typeface="Cambria Math" panose="02040503050406030204" charset="0"/>
                              <a:ea typeface="微软雅黑" panose="020B0503020204020204" pitchFamily="34" charset="-122"/>
                              <a:cs typeface="Cambria Math" panose="02040503050406030204" charset="0"/>
                            </a:rPr>
                          </m:ctrlPr>
                        </m:sSubPr>
                        <m:e>
                          <m:r>
                            <a:rPr lang="en-US" altLang="zh-CN" sz="1400" i="1" dirty="0" smtClean="0">
                              <a:latin typeface="Cambria Math" panose="02040503050406030204" charset="0"/>
                              <a:ea typeface="微软雅黑" panose="020B0503020204020204" pitchFamily="34" charset="-122"/>
                              <a:cs typeface="Cambria Math" panose="02040503050406030204" charset="0"/>
                            </a:rPr>
                            <m:t>𝑉</m:t>
                          </m:r>
                        </m:e>
                        <m:sub>
                          <m:r>
                            <a:rPr lang="en-US" altLang="zh-CN" sz="1400" i="1" dirty="0" smtClean="0">
                              <a:latin typeface="Cambria Math" panose="02040503050406030204" charset="0"/>
                              <a:ea typeface="微软雅黑" panose="020B0503020204020204" pitchFamily="34" charset="-122"/>
                              <a:cs typeface="Cambria Math" panose="02040503050406030204" charset="0"/>
                            </a:rPr>
                            <m:t>𝐾𝑇</m:t>
                          </m:r>
                        </m:sub>
                      </m:sSub>
                    </m:oMath>
                  </a14:m>
                  <a:r>
                    <a:rPr lang="en-US" altLang="zh-CN" sz="1400" dirty="0" smtClean="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dirty="0" smtClean="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p:sp>
              <p:nvSpPr>
                <p:cNvPr id="29" name="文本框 28"/>
                <p:cNvSpPr txBox="1">
                  <a:spLocks noRot="1" noChangeAspect="1" noMove="1" noResize="1" noEditPoints="1" noAdjustHandles="1" noChangeArrowheads="1" noChangeShapeType="1" noTextEdit="1"/>
                </p:cNvSpPr>
                <p:nvPr/>
              </p:nvSpPr>
              <p:spPr>
                <a:xfrm>
                  <a:off x="1374" y="4840"/>
                  <a:ext cx="1966" cy="1024"/>
                </a:xfrm>
                <a:prstGeom prst="rect">
                  <a:avLst/>
                </a:prstGeom>
                <a:blipFill rotWithShape="1">
                  <a:blip r:embed="rId8"/>
                </a:blipFill>
              </p:spPr>
              <p:txBody>
                <a:bodyPr/>
                <a:lstStyle/>
                <a:p>
                  <a:r>
                    <a:rPr lang="zh-CN" altLang="en-US">
                      <a:noFill/>
                    </a:rPr>
                    <a:t> </a:t>
                  </a:r>
                </a:p>
              </p:txBody>
            </p:sp>
          </mc:Fallback>
        </mc:AlternateContent>
        <p:sp>
          <p:nvSpPr>
            <p:cNvPr id="106" name="右箭头 105"/>
            <p:cNvSpPr/>
            <p:nvPr/>
          </p:nvSpPr>
          <p:spPr>
            <a:xfrm>
              <a:off x="4833" y="3481"/>
              <a:ext cx="906" cy="440"/>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1" name="右箭头 30"/>
            <p:cNvSpPr/>
            <p:nvPr/>
          </p:nvSpPr>
          <p:spPr>
            <a:xfrm>
              <a:off x="6968" y="3481"/>
              <a:ext cx="906" cy="440"/>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5" name="右箭头 34"/>
            <p:cNvSpPr/>
            <p:nvPr/>
          </p:nvSpPr>
          <p:spPr>
            <a:xfrm rot="10800000">
              <a:off x="11302" y="3481"/>
              <a:ext cx="906" cy="440"/>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7" name="右箭头 36"/>
            <p:cNvSpPr/>
            <p:nvPr/>
          </p:nvSpPr>
          <p:spPr>
            <a:xfrm rot="10800000">
              <a:off x="13137" y="3481"/>
              <a:ext cx="906" cy="440"/>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8" name="圆角矩形 37"/>
            <p:cNvSpPr/>
            <p:nvPr/>
          </p:nvSpPr>
          <p:spPr>
            <a:xfrm>
              <a:off x="5497" y="1745"/>
              <a:ext cx="8204" cy="487"/>
            </a:xfrm>
            <a:prstGeom prst="roundRect">
              <a:avLst/>
            </a:prstGeom>
            <a:solidFill>
              <a:srgbClr val="990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b="1"/>
                <a:t>1.</a:t>
              </a:r>
              <a:r>
                <a:rPr lang="zh-CN" altLang="en-US" b="1"/>
                <a:t>异构特征对齐：双塔对比</a:t>
              </a:r>
              <a:r>
                <a:rPr lang="zh-CN" altLang="en-US" b="1"/>
                <a:t>学习</a:t>
              </a:r>
              <a:endParaRPr lang="zh-CN" altLang="en-US" b="1"/>
            </a:p>
          </p:txBody>
        </p:sp>
        <p:pic>
          <p:nvPicPr>
            <p:cNvPr id="41" name="图片 40"/>
            <p:cNvPicPr/>
            <p:nvPr/>
          </p:nvPicPr>
          <p:blipFill>
            <a:blip r:embed="rId9"/>
            <a:stretch>
              <a:fillRect/>
            </a:stretch>
          </p:blipFill>
          <p:spPr>
            <a:xfrm>
              <a:off x="5917" y="3260"/>
              <a:ext cx="852" cy="852"/>
            </a:xfrm>
            <a:prstGeom prst="rect">
              <a:avLst/>
            </a:prstGeom>
          </p:spPr>
        </p:pic>
        <p:pic>
          <p:nvPicPr>
            <p:cNvPr id="42" name="图片 41"/>
            <p:cNvPicPr/>
            <p:nvPr/>
          </p:nvPicPr>
          <p:blipFill>
            <a:blip r:embed="rId9"/>
            <a:stretch>
              <a:fillRect/>
            </a:stretch>
          </p:blipFill>
          <p:spPr>
            <a:xfrm>
              <a:off x="12288" y="3260"/>
              <a:ext cx="852" cy="852"/>
            </a:xfrm>
            <a:prstGeom prst="rect">
              <a:avLst/>
            </a:prstGeom>
          </p:spPr>
        </p:pic>
        <mc:AlternateContent xmlns:mc="http://schemas.openxmlformats.org/markup-compatibility/2006">
          <mc:Choice xmlns:a14="http://schemas.microsoft.com/office/drawing/2010/main" Requires="a14">
            <p:sp>
              <p:nvSpPr>
                <p:cNvPr id="43" name="文本框 42"/>
                <p:cNvSpPr txBox="1"/>
                <p:nvPr/>
              </p:nvSpPr>
              <p:spPr>
                <a:xfrm>
                  <a:off x="5348" y="4112"/>
                  <a:ext cx="1966" cy="1024"/>
                </a:xfrm>
                <a:prstGeom prst="rect">
                  <a:avLst/>
                </a:prstGeom>
                <a:noFill/>
              </p:spPr>
              <p:txBody>
                <a:bodyPr wrap="square" rtlCol="0">
                  <a:spAutoFit/>
                </a:bodyPr>
                <a:p>
                  <a:pPr algn="ctr">
                    <a:lnSpc>
                      <a:spcPct val="130000"/>
                    </a:lnSpc>
                  </a:pPr>
                  <a14:m>
                    <m:oMathPara xmlns:m="http://schemas.openxmlformats.org/officeDocument/2006/math">
                      <m:oMathParaPr>
                        <m:jc m:val="centerGroup"/>
                      </m:oMathParaPr>
                      <m:oMath xmlns:m="http://schemas.openxmlformats.org/officeDocument/2006/math">
                        <m:sSub>
                          <m:sSubPr>
                            <m:ctrlPr>
                              <a:rPr lang="en-US" altLang="zh-CN" sz="1400" i="1" dirty="0" smtClean="0">
                                <a:latin typeface="Cambria Math" panose="02040503050406030204" charset="0"/>
                                <a:ea typeface="微软雅黑" panose="020B0503020204020204" pitchFamily="34" charset="-122"/>
                                <a:cs typeface="Cambria Math" panose="02040503050406030204" charset="0"/>
                              </a:rPr>
                            </m:ctrlPr>
                          </m:sSubPr>
                          <m:e>
                            <m:r>
                              <a:rPr lang="en-US" altLang="zh-CN" sz="1400" i="1" dirty="0" smtClean="0">
                                <a:latin typeface="Cambria Math" panose="02040503050406030204" charset="0"/>
                                <a:ea typeface="微软雅黑" panose="020B0503020204020204" pitchFamily="34" charset="-122"/>
                                <a:cs typeface="Cambria Math" panose="02040503050406030204" charset="0"/>
                              </a:rPr>
                              <m:t>𝐻</m:t>
                            </m:r>
                          </m:e>
                          <m:sub>
                            <m:r>
                              <a:rPr lang="en-US" altLang="zh-CN" sz="1400" i="1" dirty="0" smtClean="0">
                                <a:latin typeface="Cambria Math" panose="02040503050406030204" charset="0"/>
                                <a:ea typeface="微软雅黑" panose="020B0503020204020204" pitchFamily="34" charset="-122"/>
                                <a:cs typeface="Cambria Math" panose="02040503050406030204" charset="0"/>
                              </a:rPr>
                              <m:t>𝑆</m:t>
                            </m:r>
                          </m:sub>
                        </m:sSub>
                      </m:oMath>
                    </m:oMathPara>
                  </a14:m>
                  <a:endParaRPr lang="en-US" altLang="zh-CN" sz="1400" i="1" dirty="0" smtClean="0">
                    <a:latin typeface="Cambria Math" panose="02040503050406030204" charset="0"/>
                    <a:ea typeface="微软雅黑" panose="020B0503020204020204" pitchFamily="34" charset="-122"/>
                    <a:cs typeface="Cambria Math" panose="02040503050406030204" charset="0"/>
                  </a:endParaRPr>
                </a:p>
                <a:p>
                  <a:pPr algn="ctr">
                    <a:lnSpc>
                      <a:spcPct val="130000"/>
                    </a:lnSpc>
                  </a:pPr>
                  <a:r>
                    <a:rPr lang="zh-CN" altLang="en-US" sz="1400" dirty="0" smtClean="0">
                      <a:latin typeface="Times New Roman" panose="02020603050405020304" pitchFamily="18" charset="0"/>
                      <a:ea typeface="微软雅黑" panose="020B0503020204020204" pitchFamily="34" charset="-122"/>
                      <a:cs typeface="Times New Roman" panose="02020603050405020304" pitchFamily="18" charset="0"/>
                    </a:rPr>
                    <a:t>学生</a:t>
                  </a:r>
                  <a:r>
                    <a:rPr lang="zh-CN" altLang="en-US" sz="1400" dirty="0" smtClean="0">
                      <a:latin typeface="Times New Roman" panose="02020603050405020304" pitchFamily="18" charset="0"/>
                      <a:ea typeface="微软雅黑" panose="020B0503020204020204" pitchFamily="34" charset="-122"/>
                      <a:cs typeface="Times New Roman" panose="02020603050405020304" pitchFamily="18" charset="0"/>
                    </a:rPr>
                    <a:t>向量</a:t>
                  </a:r>
                  <a:endParaRPr lang="zh-CN" altLang="en-US" sz="1400" dirty="0" smtClean="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p:sp>
              <p:nvSpPr>
                <p:cNvPr id="43" name="文本框 42"/>
                <p:cNvSpPr txBox="1">
                  <a:spLocks noRot="1" noChangeAspect="1" noMove="1" noResize="1" noEditPoints="1" noAdjustHandles="1" noChangeArrowheads="1" noChangeShapeType="1" noTextEdit="1"/>
                </p:cNvSpPr>
                <p:nvPr/>
              </p:nvSpPr>
              <p:spPr>
                <a:xfrm>
                  <a:off x="5348" y="4112"/>
                  <a:ext cx="1966" cy="1024"/>
                </a:xfrm>
                <a:prstGeom prst="rect">
                  <a:avLst/>
                </a:prstGeom>
                <a:blipFill rotWithShape="1">
                  <a:blip r:embed="rId10"/>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4" name="文本框 43"/>
                <p:cNvSpPr txBox="1"/>
                <p:nvPr/>
              </p:nvSpPr>
              <p:spPr>
                <a:xfrm>
                  <a:off x="11731" y="4112"/>
                  <a:ext cx="1966" cy="1024"/>
                </a:xfrm>
                <a:prstGeom prst="rect">
                  <a:avLst/>
                </a:prstGeom>
                <a:noFill/>
              </p:spPr>
              <p:txBody>
                <a:bodyPr wrap="square" rtlCol="0">
                  <a:spAutoFit/>
                </a:bodyPr>
                <a:p>
                  <a:pPr algn="ctr">
                    <a:lnSpc>
                      <a:spcPct val="130000"/>
                    </a:lnSpc>
                  </a:pPr>
                  <a14:m>
                    <m:oMathPara xmlns:m="http://schemas.openxmlformats.org/officeDocument/2006/math">
                      <m:oMathParaPr>
                        <m:jc m:val="centerGroup"/>
                      </m:oMathParaPr>
                      <m:oMath xmlns:m="http://schemas.openxmlformats.org/officeDocument/2006/math">
                        <m:sSub>
                          <m:sSubPr>
                            <m:ctrlPr>
                              <a:rPr lang="en-US" altLang="zh-CN" sz="1400" i="1" dirty="0" smtClean="0">
                                <a:latin typeface="Cambria Math" panose="02040503050406030204" charset="0"/>
                                <a:ea typeface="微软雅黑" panose="020B0503020204020204" pitchFamily="34" charset="-122"/>
                                <a:cs typeface="Cambria Math" panose="02040503050406030204" charset="0"/>
                              </a:rPr>
                            </m:ctrlPr>
                          </m:sSubPr>
                          <m:e>
                            <m:r>
                              <a:rPr lang="en-US" altLang="zh-CN" sz="1400" i="1" dirty="0" smtClean="0">
                                <a:latin typeface="Cambria Math" panose="02040503050406030204" charset="0"/>
                                <a:ea typeface="微软雅黑" panose="020B0503020204020204" pitchFamily="34" charset="-122"/>
                                <a:cs typeface="Cambria Math" panose="02040503050406030204" charset="0"/>
                              </a:rPr>
                              <m:t>𝐻</m:t>
                            </m:r>
                          </m:e>
                          <m:sub>
                            <m:r>
                              <a:rPr lang="en-US" altLang="zh-CN" sz="1400" i="1" dirty="0" smtClean="0">
                                <a:latin typeface="Cambria Math" panose="02040503050406030204" charset="0"/>
                                <a:ea typeface="微软雅黑" panose="020B0503020204020204" pitchFamily="34" charset="-122"/>
                                <a:cs typeface="Cambria Math" panose="02040503050406030204" charset="0"/>
                              </a:rPr>
                              <m:t>𝐶</m:t>
                            </m:r>
                          </m:sub>
                        </m:sSub>
                      </m:oMath>
                    </m:oMathPara>
                  </a14:m>
                  <a:endParaRPr lang="en-US" altLang="zh-CN" sz="1400" i="1" dirty="0" smtClean="0">
                    <a:latin typeface="Cambria Math" panose="02040503050406030204" charset="0"/>
                    <a:ea typeface="微软雅黑" panose="020B0503020204020204" pitchFamily="34" charset="-122"/>
                    <a:cs typeface="Cambria Math" panose="02040503050406030204" charset="0"/>
                  </a:endParaRPr>
                </a:p>
                <a:p>
                  <a:pPr algn="ctr">
                    <a:lnSpc>
                      <a:spcPct val="130000"/>
                    </a:lnSpc>
                  </a:pPr>
                  <a:r>
                    <a:rPr lang="zh-CN" altLang="en-US" sz="1400" dirty="0" smtClean="0">
                      <a:latin typeface="Times New Roman" panose="02020603050405020304" pitchFamily="18" charset="0"/>
                      <a:ea typeface="微软雅黑" panose="020B0503020204020204" pitchFamily="34" charset="-122"/>
                      <a:cs typeface="Times New Roman" panose="02020603050405020304" pitchFamily="18" charset="0"/>
                    </a:rPr>
                    <a:t>代码向量</a:t>
                  </a:r>
                  <a:endParaRPr lang="zh-CN" altLang="en-US" sz="1400" dirty="0" smtClean="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p:sp>
              <p:nvSpPr>
                <p:cNvPr id="44" name="文本框 43"/>
                <p:cNvSpPr txBox="1">
                  <a:spLocks noRot="1" noChangeAspect="1" noMove="1" noResize="1" noEditPoints="1" noAdjustHandles="1" noChangeArrowheads="1" noChangeShapeType="1" noTextEdit="1"/>
                </p:cNvSpPr>
                <p:nvPr/>
              </p:nvSpPr>
              <p:spPr>
                <a:xfrm>
                  <a:off x="11731" y="4112"/>
                  <a:ext cx="1966" cy="1024"/>
                </a:xfrm>
                <a:prstGeom prst="rect">
                  <a:avLst/>
                </a:prstGeom>
                <a:blipFill rotWithShape="1">
                  <a:blip r:embed="rId11"/>
                </a:blipFill>
              </p:spPr>
              <p:txBody>
                <a:bodyPr/>
                <a:lstStyle/>
                <a:p>
                  <a:r>
                    <a:rPr lang="zh-CN" altLang="en-US">
                      <a:noFill/>
                    </a:rPr>
                    <a:t> </a:t>
                  </a:r>
                </a:p>
              </p:txBody>
            </p:sp>
          </mc:Fallback>
        </mc:AlternateContent>
        <p:sp>
          <p:nvSpPr>
            <p:cNvPr id="45" name="右箭头 44"/>
            <p:cNvSpPr/>
            <p:nvPr/>
          </p:nvSpPr>
          <p:spPr>
            <a:xfrm rot="5400000">
              <a:off x="8924" y="4362"/>
              <a:ext cx="628" cy="440"/>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6" name="右箭头 45"/>
            <p:cNvSpPr/>
            <p:nvPr/>
          </p:nvSpPr>
          <p:spPr>
            <a:xfrm rot="16200000">
              <a:off x="9559" y="4332"/>
              <a:ext cx="628" cy="440"/>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7" name="文本框 46"/>
            <p:cNvSpPr txBox="1"/>
            <p:nvPr/>
          </p:nvSpPr>
          <p:spPr>
            <a:xfrm>
              <a:off x="7344" y="4840"/>
              <a:ext cx="4512" cy="1024"/>
            </a:xfrm>
            <a:prstGeom prst="rect">
              <a:avLst/>
            </a:prstGeom>
            <a:noFill/>
          </p:spPr>
          <p:txBody>
            <a:bodyPr wrap="square" rtlCol="0">
              <a:spAutoFit/>
            </a:bodyPr>
            <a:p>
              <a:pPr algn="ctr">
                <a:lnSpc>
                  <a:spcPct val="130000"/>
                </a:lnSpc>
              </a:pPr>
              <a:r>
                <a:rPr lang="zh-CN" altLang="en-US" sz="1400" b="1" dirty="0" smtClean="0">
                  <a:latin typeface="Arial" panose="020B0604020202020204" pitchFamily="34" charset="0"/>
                  <a:ea typeface="微软雅黑" panose="020B0503020204020204" pitchFamily="34" charset="-122"/>
                </a:rPr>
                <a:t>对其后的特征空间</a:t>
              </a:r>
              <a:endParaRPr lang="zh-CN" altLang="en-US" sz="1400" b="1" dirty="0" smtClean="0">
                <a:latin typeface="Arial" panose="020B0604020202020204" pitchFamily="34" charset="0"/>
                <a:ea typeface="微软雅黑" panose="020B0503020204020204" pitchFamily="34" charset="-122"/>
              </a:endParaRPr>
            </a:p>
            <a:p>
              <a:pPr algn="ctr">
                <a:lnSpc>
                  <a:spcPct val="130000"/>
                </a:lnSpc>
              </a:pPr>
              <a:r>
                <a:rPr lang="zh-CN" altLang="en-US" sz="1400" dirty="0" smtClean="0">
                  <a:latin typeface="Arial" panose="020B0604020202020204" pitchFamily="34" charset="0"/>
                  <a:ea typeface="微软雅黑" panose="020B0503020204020204" pitchFamily="34" charset="-122"/>
                </a:rPr>
                <a:t>拉近正样本对，推开负样本对</a:t>
              </a:r>
              <a:endParaRPr lang="zh-CN" altLang="en-US" sz="1400" dirty="0" smtClean="0">
                <a:latin typeface="Arial" panose="020B0604020202020204" pitchFamily="34" charset="0"/>
                <a:ea typeface="微软雅黑" panose="020B0503020204020204" pitchFamily="34" charset="-122"/>
              </a:endParaRPr>
            </a:p>
          </p:txBody>
        </p:sp>
      </p:grpSp>
      <p:grpSp>
        <p:nvGrpSpPr>
          <p:cNvPr id="79" name="组合 78"/>
          <p:cNvGrpSpPr/>
          <p:nvPr/>
        </p:nvGrpSpPr>
        <p:grpSpPr>
          <a:xfrm>
            <a:off x="688975" y="3657600"/>
            <a:ext cx="10835640" cy="2617470"/>
            <a:chOff x="1053" y="1743"/>
            <a:chExt cx="17064" cy="4122"/>
          </a:xfrm>
        </p:grpSpPr>
        <p:sp>
          <p:nvSpPr>
            <p:cNvPr id="80" name="文本2"/>
            <p:cNvSpPr>
              <a:spLocks noChangeArrowheads="1"/>
            </p:cNvSpPr>
            <p:nvPr>
              <p:custDataLst>
                <p:tags r:id="rId12"/>
              </p:custDataLst>
            </p:nvPr>
          </p:nvSpPr>
          <p:spPr bwMode="gray">
            <a:xfrm>
              <a:off x="1053" y="1743"/>
              <a:ext cx="17064" cy="4122"/>
            </a:xfrm>
            <a:prstGeom prst="roundRect">
              <a:avLst>
                <a:gd name="adj" fmla="val 11505"/>
              </a:avLst>
            </a:prstGeom>
            <a:noFill/>
            <a:ln w="15875" cap="flat" cmpd="sng" algn="ctr">
              <a:solidFill>
                <a:srgbClr val="990100"/>
              </a:solid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00" rtl="0" eaLnBrk="1" fontAlgn="base" latinLnBrk="0" hangingPunct="1">
                <a:lnSpc>
                  <a:spcPct val="120000"/>
                </a:lnSpc>
                <a:spcBef>
                  <a:spcPct val="0"/>
                </a:spcBef>
                <a:spcAft>
                  <a:spcPct val="0"/>
                </a:spcAft>
                <a:buClrTx/>
                <a:buSzTx/>
                <a:buFontTx/>
                <a:buNone/>
                <a:defRPr/>
              </a:pPr>
              <a:endParaRPr kumimoji="0" lang="zh-CN" altLang="zh-CN"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85" name="圆角矩形 84"/>
            <p:cNvSpPr/>
            <p:nvPr/>
          </p:nvSpPr>
          <p:spPr>
            <a:xfrm>
              <a:off x="3612" y="2750"/>
              <a:ext cx="2101" cy="1156"/>
            </a:xfrm>
            <a:prstGeom prst="roundRect">
              <a:avLst/>
            </a:prstGeom>
            <a:noFill/>
            <a:ln w="12700" cmpd="sng">
              <a:solidFill>
                <a:srgbClr val="9901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b="1">
                  <a:solidFill>
                    <a:schemeClr val="tx1"/>
                  </a:solidFill>
                </a:rPr>
                <a:t>认知门控适配器</a:t>
              </a:r>
              <a:endParaRPr lang="zh-CN" altLang="en-US" sz="1200" b="1">
                <a:solidFill>
                  <a:schemeClr val="tx1"/>
                </a:solidFill>
              </a:endParaRPr>
            </a:p>
            <a:p>
              <a:pPr algn="ctr"/>
              <a:r>
                <a:rPr lang="zh-CN" altLang="en-US" sz="1200">
                  <a:solidFill>
                    <a:schemeClr val="tx1"/>
                  </a:solidFill>
                </a:rPr>
                <a:t>（过滤无效试错噪音</a:t>
              </a:r>
              <a:r>
                <a:rPr lang="en-US" altLang="zh-CN" sz="1200">
                  <a:solidFill>
                    <a:schemeClr val="tx1"/>
                  </a:solidFill>
                </a:rPr>
                <a:t>)</a:t>
              </a:r>
              <a:endParaRPr lang="en-US" altLang="zh-CN" sz="1200">
                <a:solidFill>
                  <a:schemeClr val="tx1"/>
                </a:solidFill>
              </a:endParaRPr>
            </a:p>
          </p:txBody>
        </p:sp>
        <p:sp>
          <p:nvSpPr>
            <p:cNvPr id="86" name="圆角矩形 85"/>
            <p:cNvSpPr/>
            <p:nvPr/>
          </p:nvSpPr>
          <p:spPr>
            <a:xfrm>
              <a:off x="6936" y="2750"/>
              <a:ext cx="6030" cy="1171"/>
            </a:xfrm>
            <a:prstGeom prst="roundRect">
              <a:avLst/>
            </a:prstGeom>
            <a:solidFill>
              <a:srgbClr val="990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t>冻结的大语言模型</a:t>
              </a:r>
              <a:endParaRPr lang="zh-CN" altLang="en-US" b="1"/>
            </a:p>
            <a:p>
              <a:pPr algn="ctr"/>
              <a:r>
                <a:rPr lang="en-US" altLang="zh-CN"/>
                <a:t>(FrozenLLM,e.g.,CodeLlama)</a:t>
              </a:r>
              <a:endParaRPr lang="en-US" altLang="zh-CN"/>
            </a:p>
          </p:txBody>
        </p:sp>
        <p:sp>
          <p:nvSpPr>
            <p:cNvPr id="98" name="右箭头 97"/>
            <p:cNvSpPr/>
            <p:nvPr/>
          </p:nvSpPr>
          <p:spPr>
            <a:xfrm>
              <a:off x="2633" y="3072"/>
              <a:ext cx="807" cy="440"/>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1" name="圆角矩形 100"/>
            <p:cNvSpPr/>
            <p:nvPr/>
          </p:nvSpPr>
          <p:spPr>
            <a:xfrm>
              <a:off x="5497" y="1745"/>
              <a:ext cx="8204" cy="487"/>
            </a:xfrm>
            <a:prstGeom prst="roundRect">
              <a:avLst/>
            </a:prstGeom>
            <a:solidFill>
              <a:srgbClr val="990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b="1"/>
                <a:t>2.</a:t>
              </a:r>
              <a:r>
                <a:rPr lang="zh-CN" altLang="en-US" b="1"/>
                <a:t>生成式诊断：</a:t>
              </a:r>
              <a:r>
                <a:rPr lang="en-US" altLang="zh-CN" b="1"/>
                <a:t>LLM</a:t>
              </a:r>
              <a:r>
                <a:rPr lang="zh-CN" altLang="en-US" b="1"/>
                <a:t>思维链推理</a:t>
              </a:r>
              <a:endParaRPr lang="zh-CN" altLang="en-US" b="1"/>
            </a:p>
          </p:txBody>
        </p:sp>
      </p:grpSp>
      <p:sp>
        <p:nvSpPr>
          <p:cNvPr id="110" name="文本框 109"/>
          <p:cNvSpPr txBox="1"/>
          <p:nvPr/>
        </p:nvSpPr>
        <p:spPr>
          <a:xfrm>
            <a:off x="781050" y="4457065"/>
            <a:ext cx="911225" cy="370840"/>
          </a:xfrm>
          <a:prstGeom prst="rect">
            <a:avLst/>
          </a:prstGeom>
          <a:noFill/>
        </p:spPr>
        <p:txBody>
          <a:bodyPr wrap="square" rtlCol="0">
            <a:spAutoFit/>
          </a:bodyPr>
          <a:p>
            <a:pPr>
              <a:lnSpc>
                <a:spcPct val="130000"/>
              </a:lnSpc>
            </a:pPr>
            <a:r>
              <a:rPr lang="zh-CN" altLang="en-US" sz="1400" b="1" dirty="0" smtClean="0">
                <a:latin typeface="Arial" panose="020B0604020202020204" pitchFamily="34" charset="0"/>
                <a:ea typeface="微软雅黑" panose="020B0503020204020204" pitchFamily="34" charset="-122"/>
              </a:rPr>
              <a:t>对齐特征</a:t>
            </a:r>
            <a:endParaRPr lang="zh-CN" altLang="en-US" sz="1400" b="1" dirty="0" smtClean="0">
              <a:latin typeface="Arial" panose="020B0604020202020204" pitchFamily="34" charset="0"/>
              <a:ea typeface="微软雅黑" panose="020B0503020204020204" pitchFamily="34" charset="-122"/>
            </a:endParaRPr>
          </a:p>
        </p:txBody>
      </p:sp>
      <p:sp>
        <p:nvSpPr>
          <p:cNvPr id="111" name="右箭头 110"/>
          <p:cNvSpPr/>
          <p:nvPr/>
        </p:nvSpPr>
        <p:spPr>
          <a:xfrm>
            <a:off x="8380095" y="4501515"/>
            <a:ext cx="575310" cy="279400"/>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2" name="右箭头 111"/>
          <p:cNvSpPr/>
          <p:nvPr/>
        </p:nvSpPr>
        <p:spPr>
          <a:xfrm>
            <a:off x="3760470" y="4501515"/>
            <a:ext cx="537845" cy="279400"/>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136" name="组合 135"/>
          <p:cNvGrpSpPr/>
          <p:nvPr>
            <p:custDataLst>
              <p:tags r:id="rId13"/>
            </p:custDataLst>
          </p:nvPr>
        </p:nvGrpSpPr>
        <p:grpSpPr>
          <a:xfrm>
            <a:off x="3648075" y="5095240"/>
            <a:ext cx="5091430" cy="1160780"/>
            <a:chOff x="5745" y="8024"/>
            <a:chExt cx="8018" cy="1828"/>
          </a:xfrm>
        </p:grpSpPr>
        <p:grpSp>
          <p:nvGrpSpPr>
            <p:cNvPr id="118" name="组合 117"/>
            <p:cNvGrpSpPr/>
            <p:nvPr>
              <p:custDataLst>
                <p:tags r:id="rId14"/>
              </p:custDataLst>
            </p:nvPr>
          </p:nvGrpSpPr>
          <p:grpSpPr>
            <a:xfrm>
              <a:off x="5745" y="8024"/>
              <a:ext cx="1966" cy="1125"/>
              <a:chOff x="5745" y="8137"/>
              <a:chExt cx="1966" cy="1125"/>
            </a:xfrm>
          </p:grpSpPr>
          <p:sp>
            <p:nvSpPr>
              <p:cNvPr id="113" name="云形标注 112"/>
              <p:cNvSpPr/>
              <p:nvPr>
                <p:custDataLst>
                  <p:tags r:id="rId15"/>
                </p:custDataLst>
              </p:nvPr>
            </p:nvSpPr>
            <p:spPr>
              <a:xfrm>
                <a:off x="5745" y="8137"/>
                <a:ext cx="1966" cy="1125"/>
              </a:xfrm>
              <a:prstGeom prst="cloudCallou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5" name="文本框 114"/>
              <p:cNvSpPr txBox="1"/>
              <p:nvPr>
                <p:custDataLst>
                  <p:tags r:id="rId16"/>
                </p:custDataLst>
              </p:nvPr>
            </p:nvSpPr>
            <p:spPr>
              <a:xfrm>
                <a:off x="6096" y="8205"/>
                <a:ext cx="1600" cy="899"/>
              </a:xfrm>
              <a:prstGeom prst="rect">
                <a:avLst/>
              </a:prstGeom>
              <a:noFill/>
            </p:spPr>
            <p:txBody>
              <a:bodyPr wrap="square" rtlCol="0">
                <a:spAutoFit/>
              </a:bodyPr>
              <a:p>
                <a:pPr>
                  <a:lnSpc>
                    <a:spcPct val="130000"/>
                  </a:lnSpc>
                </a:pPr>
                <a:r>
                  <a:rPr lang="en-US" altLang="zh-CN" sz="1200" dirty="0" smtClean="0">
                    <a:latin typeface="Arial" panose="020B0604020202020204" pitchFamily="34" charset="0"/>
                    <a:ea typeface="微软雅黑" panose="020B0503020204020204" pitchFamily="34" charset="-122"/>
                  </a:rPr>
                  <a:t>Step 1:</a:t>
                </a:r>
                <a:endParaRPr lang="en-US" altLang="zh-CN" sz="1200" dirty="0" smtClean="0">
                  <a:latin typeface="Arial" panose="020B0604020202020204" pitchFamily="34" charset="0"/>
                  <a:ea typeface="微软雅黑" panose="020B0503020204020204" pitchFamily="34" charset="-122"/>
                </a:endParaRPr>
              </a:p>
              <a:p>
                <a:pPr>
                  <a:lnSpc>
                    <a:spcPct val="130000"/>
                  </a:lnSpc>
                </a:pPr>
                <a:r>
                  <a:rPr lang="zh-CN" altLang="en-US" sz="1200" b="1" dirty="0" smtClean="0">
                    <a:latin typeface="Arial" panose="020B0604020202020204" pitchFamily="34" charset="0"/>
                    <a:ea typeface="微软雅黑" panose="020B0503020204020204" pitchFamily="34" charset="-122"/>
                  </a:rPr>
                  <a:t>现象</a:t>
                </a:r>
                <a:r>
                  <a:rPr lang="zh-CN" altLang="en-US" sz="1200" b="1" dirty="0" smtClean="0">
                    <a:latin typeface="Arial" panose="020B0604020202020204" pitchFamily="34" charset="0"/>
                    <a:ea typeface="微软雅黑" panose="020B0503020204020204" pitchFamily="34" charset="-122"/>
                  </a:rPr>
                  <a:t>捕捉</a:t>
                </a:r>
                <a:endParaRPr lang="zh-CN" altLang="en-US" sz="1200" b="1" dirty="0" smtClean="0">
                  <a:latin typeface="Arial" panose="020B0604020202020204" pitchFamily="34" charset="0"/>
                  <a:ea typeface="微软雅黑" panose="020B0503020204020204" pitchFamily="34" charset="-122"/>
                </a:endParaRPr>
              </a:p>
            </p:txBody>
          </p:sp>
        </p:grpSp>
        <p:grpSp>
          <p:nvGrpSpPr>
            <p:cNvPr id="119" name="组合 118"/>
            <p:cNvGrpSpPr/>
            <p:nvPr>
              <p:custDataLst>
                <p:tags r:id="rId17"/>
              </p:custDataLst>
            </p:nvPr>
          </p:nvGrpSpPr>
          <p:grpSpPr>
            <a:xfrm>
              <a:off x="8817" y="8025"/>
              <a:ext cx="1966" cy="1125"/>
              <a:chOff x="5745" y="8137"/>
              <a:chExt cx="1966" cy="1125"/>
            </a:xfrm>
          </p:grpSpPr>
          <p:sp>
            <p:nvSpPr>
              <p:cNvPr id="120" name="云形标注 119"/>
              <p:cNvSpPr/>
              <p:nvPr>
                <p:custDataLst>
                  <p:tags r:id="rId18"/>
                </p:custDataLst>
              </p:nvPr>
            </p:nvSpPr>
            <p:spPr>
              <a:xfrm>
                <a:off x="5745" y="8137"/>
                <a:ext cx="1966" cy="1125"/>
              </a:xfrm>
              <a:prstGeom prst="cloudCallou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1" name="文本框 120"/>
              <p:cNvSpPr txBox="1"/>
              <p:nvPr>
                <p:custDataLst>
                  <p:tags r:id="rId19"/>
                </p:custDataLst>
              </p:nvPr>
            </p:nvSpPr>
            <p:spPr>
              <a:xfrm>
                <a:off x="6066" y="8181"/>
                <a:ext cx="1600" cy="899"/>
              </a:xfrm>
              <a:prstGeom prst="rect">
                <a:avLst/>
              </a:prstGeom>
              <a:noFill/>
            </p:spPr>
            <p:txBody>
              <a:bodyPr wrap="square" rtlCol="0">
                <a:spAutoFit/>
              </a:bodyPr>
              <a:p>
                <a:pPr>
                  <a:lnSpc>
                    <a:spcPct val="130000"/>
                  </a:lnSpc>
                </a:pPr>
                <a:r>
                  <a:rPr lang="en-US" altLang="zh-CN" sz="1200" dirty="0" smtClean="0">
                    <a:latin typeface="Arial" panose="020B0604020202020204" pitchFamily="34" charset="0"/>
                    <a:ea typeface="微软雅黑" panose="020B0503020204020204" pitchFamily="34" charset="-122"/>
                  </a:rPr>
                  <a:t>Step 2:</a:t>
                </a:r>
                <a:endParaRPr lang="en-US" altLang="zh-CN" sz="1200" dirty="0" smtClean="0">
                  <a:latin typeface="Arial" panose="020B0604020202020204" pitchFamily="34" charset="0"/>
                  <a:ea typeface="微软雅黑" panose="020B0503020204020204" pitchFamily="34" charset="-122"/>
                </a:endParaRPr>
              </a:p>
              <a:p>
                <a:pPr>
                  <a:lnSpc>
                    <a:spcPct val="130000"/>
                  </a:lnSpc>
                </a:pPr>
                <a:r>
                  <a:rPr lang="zh-CN" altLang="en-US" sz="1200" b="1" dirty="0" smtClean="0">
                    <a:latin typeface="Arial" panose="020B0604020202020204" pitchFamily="34" charset="0"/>
                    <a:ea typeface="微软雅黑" panose="020B0503020204020204" pitchFamily="34" charset="-122"/>
                  </a:rPr>
                  <a:t>逻辑</a:t>
                </a:r>
                <a:r>
                  <a:rPr lang="zh-CN" altLang="en-US" sz="1200" b="1" dirty="0" smtClean="0">
                    <a:latin typeface="Arial" panose="020B0604020202020204" pitchFamily="34" charset="0"/>
                    <a:ea typeface="微软雅黑" panose="020B0503020204020204" pitchFamily="34" charset="-122"/>
                  </a:rPr>
                  <a:t>回溯</a:t>
                </a:r>
                <a:endParaRPr lang="zh-CN" altLang="en-US" sz="1200" b="1" dirty="0" smtClean="0">
                  <a:latin typeface="Arial" panose="020B0604020202020204" pitchFamily="34" charset="0"/>
                  <a:ea typeface="微软雅黑" panose="020B0503020204020204" pitchFamily="34" charset="-122"/>
                </a:endParaRPr>
              </a:p>
            </p:txBody>
          </p:sp>
        </p:grpSp>
        <p:grpSp>
          <p:nvGrpSpPr>
            <p:cNvPr id="122" name="组合 121"/>
            <p:cNvGrpSpPr/>
            <p:nvPr>
              <p:custDataLst>
                <p:tags r:id="rId20"/>
              </p:custDataLst>
            </p:nvPr>
          </p:nvGrpSpPr>
          <p:grpSpPr>
            <a:xfrm>
              <a:off x="11767" y="8024"/>
              <a:ext cx="1996" cy="1125"/>
              <a:chOff x="5745" y="8137"/>
              <a:chExt cx="1996" cy="1125"/>
            </a:xfrm>
          </p:grpSpPr>
          <p:sp>
            <p:nvSpPr>
              <p:cNvPr id="123" name="云形标注 122"/>
              <p:cNvSpPr/>
              <p:nvPr>
                <p:custDataLst>
                  <p:tags r:id="rId21"/>
                </p:custDataLst>
              </p:nvPr>
            </p:nvSpPr>
            <p:spPr>
              <a:xfrm>
                <a:off x="5745" y="8137"/>
                <a:ext cx="1966" cy="1125"/>
              </a:xfrm>
              <a:prstGeom prst="cloudCallou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4" name="文本框 123"/>
              <p:cNvSpPr txBox="1"/>
              <p:nvPr>
                <p:custDataLst>
                  <p:tags r:id="rId22"/>
                </p:custDataLst>
              </p:nvPr>
            </p:nvSpPr>
            <p:spPr>
              <a:xfrm>
                <a:off x="6141" y="8175"/>
                <a:ext cx="1600" cy="899"/>
              </a:xfrm>
              <a:prstGeom prst="rect">
                <a:avLst/>
              </a:prstGeom>
              <a:noFill/>
            </p:spPr>
            <p:txBody>
              <a:bodyPr wrap="square" rtlCol="0">
                <a:spAutoFit/>
              </a:bodyPr>
              <a:p>
                <a:pPr>
                  <a:lnSpc>
                    <a:spcPct val="130000"/>
                  </a:lnSpc>
                </a:pPr>
                <a:r>
                  <a:rPr lang="en-US" altLang="zh-CN" sz="1200" dirty="0" smtClean="0">
                    <a:latin typeface="Arial" panose="020B0604020202020204" pitchFamily="34" charset="0"/>
                    <a:ea typeface="微软雅黑" panose="020B0503020204020204" pitchFamily="34" charset="-122"/>
                  </a:rPr>
                  <a:t>Step 3:</a:t>
                </a:r>
                <a:endParaRPr lang="en-US" altLang="zh-CN" sz="1200" dirty="0" smtClean="0">
                  <a:latin typeface="Arial" panose="020B0604020202020204" pitchFamily="34" charset="0"/>
                  <a:ea typeface="微软雅黑" panose="020B0503020204020204" pitchFamily="34" charset="-122"/>
                </a:endParaRPr>
              </a:p>
              <a:p>
                <a:pPr>
                  <a:lnSpc>
                    <a:spcPct val="130000"/>
                  </a:lnSpc>
                </a:pPr>
                <a:r>
                  <a:rPr lang="zh-CN" altLang="en-US" sz="1200" b="1" dirty="0" smtClean="0">
                    <a:latin typeface="Arial" panose="020B0604020202020204" pitchFamily="34" charset="0"/>
                    <a:ea typeface="微软雅黑" panose="020B0503020204020204" pitchFamily="34" charset="-122"/>
                  </a:rPr>
                  <a:t>推导</a:t>
                </a:r>
                <a:r>
                  <a:rPr lang="zh-CN" altLang="en-US" sz="1200" b="1" dirty="0" smtClean="0">
                    <a:latin typeface="Arial" panose="020B0604020202020204" pitchFamily="34" charset="0"/>
                    <a:ea typeface="微软雅黑" panose="020B0503020204020204" pitchFamily="34" charset="-122"/>
                  </a:rPr>
                  <a:t>根源</a:t>
                </a:r>
                <a:endParaRPr lang="zh-CN" altLang="en-US" sz="1200" b="1" dirty="0" smtClean="0">
                  <a:latin typeface="Arial" panose="020B0604020202020204" pitchFamily="34" charset="0"/>
                  <a:ea typeface="微软雅黑" panose="020B0503020204020204" pitchFamily="34" charset="-122"/>
                </a:endParaRPr>
              </a:p>
            </p:txBody>
          </p:sp>
        </p:grpSp>
        <p:sp>
          <p:nvSpPr>
            <p:cNvPr id="125" name="文本框 124"/>
            <p:cNvSpPr txBox="1"/>
            <p:nvPr/>
          </p:nvSpPr>
          <p:spPr>
            <a:xfrm>
              <a:off x="7142" y="9369"/>
              <a:ext cx="5259" cy="483"/>
            </a:xfrm>
            <a:prstGeom prst="rect">
              <a:avLst/>
            </a:prstGeom>
            <a:noFill/>
          </p:spPr>
          <p:txBody>
            <a:bodyPr wrap="square" rtlCol="0" anchor="t">
              <a:spAutoFit/>
            </a:bodyPr>
            <a:p>
              <a:pPr algn="ctr"/>
              <a:r>
                <a:rPr lang="zh-CN" altLang="en-US" sz="1400" b="1" dirty="0" smtClean="0">
                  <a:latin typeface="Arial" panose="020B0604020202020204" pitchFamily="34" charset="0"/>
                  <a:ea typeface="微软雅黑" panose="020B0503020204020204" pitchFamily="34" charset="-122"/>
                  <a:sym typeface="+mn-ea"/>
                </a:rPr>
                <a:t>反事实归因推理链推理过程</a:t>
              </a:r>
              <a:endParaRPr lang="zh-CN" altLang="en-US" sz="1400" b="1" dirty="0" smtClean="0">
                <a:latin typeface="Arial" panose="020B0604020202020204" pitchFamily="34" charset="0"/>
                <a:ea typeface="微软雅黑" panose="020B0503020204020204" pitchFamily="34" charset="-122"/>
                <a:sym typeface="+mn-ea"/>
              </a:endParaRPr>
            </a:p>
          </p:txBody>
        </p:sp>
        <p:sp>
          <p:nvSpPr>
            <p:cNvPr id="132" name="右箭头 131"/>
            <p:cNvSpPr/>
            <p:nvPr>
              <p:custDataLst>
                <p:tags r:id="rId23"/>
              </p:custDataLst>
            </p:nvPr>
          </p:nvSpPr>
          <p:spPr>
            <a:xfrm>
              <a:off x="7874" y="8366"/>
              <a:ext cx="657" cy="440"/>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3" name="右箭头 132"/>
            <p:cNvSpPr/>
            <p:nvPr>
              <p:custDataLst>
                <p:tags r:id="rId24"/>
              </p:custDataLst>
            </p:nvPr>
          </p:nvSpPr>
          <p:spPr>
            <a:xfrm>
              <a:off x="10909" y="8366"/>
              <a:ext cx="657" cy="440"/>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34" name="圆角矩形 133"/>
          <p:cNvSpPr/>
          <p:nvPr/>
        </p:nvSpPr>
        <p:spPr>
          <a:xfrm>
            <a:off x="9096375" y="3883660"/>
            <a:ext cx="1934210" cy="1570355"/>
          </a:xfrm>
          <a:prstGeom prst="roundRect">
            <a:avLst/>
          </a:prstGeom>
          <a:noFill/>
          <a:ln w="12700" cmpd="sng">
            <a:solidFill>
              <a:srgbClr val="9901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200">
                <a:solidFill>
                  <a:schemeClr val="tx1"/>
                </a:solidFill>
              </a:rPr>
              <a:t>【错误类型】</a:t>
            </a:r>
            <a:endParaRPr lang="zh-CN" altLang="en-US" sz="1200">
              <a:solidFill>
                <a:schemeClr val="tx1"/>
              </a:solidFill>
            </a:endParaRPr>
          </a:p>
          <a:p>
            <a:pPr algn="l"/>
            <a:r>
              <a:rPr lang="zh-CN" altLang="en-US" sz="1200">
                <a:solidFill>
                  <a:schemeClr val="tx1"/>
                </a:solidFill>
              </a:rPr>
              <a:t>逻得错误（边界溢出）</a:t>
            </a:r>
            <a:endParaRPr lang="zh-CN" altLang="en-US" sz="1200">
              <a:solidFill>
                <a:schemeClr val="tx1"/>
              </a:solidFill>
            </a:endParaRPr>
          </a:p>
          <a:p>
            <a:pPr algn="l"/>
            <a:r>
              <a:rPr lang="zh-CN" altLang="en-US" sz="1200">
                <a:solidFill>
                  <a:schemeClr val="tx1"/>
                </a:solidFill>
              </a:rPr>
              <a:t>【深层归因】</a:t>
            </a:r>
            <a:endParaRPr lang="en-US" altLang="zh-CN" sz="1200">
              <a:solidFill>
                <a:schemeClr val="tx1"/>
              </a:solidFill>
            </a:endParaRPr>
          </a:p>
          <a:p>
            <a:pPr algn="l"/>
            <a:r>
              <a:rPr lang="zh-CN" altLang="en-US" sz="1200">
                <a:solidFill>
                  <a:schemeClr val="tx1"/>
                </a:solidFill>
              </a:rPr>
              <a:t>循环终止条件错误导致</a:t>
            </a:r>
            <a:r>
              <a:rPr lang="en-US" altLang="zh-CN" sz="1200">
                <a:solidFill>
                  <a:schemeClr val="tx1"/>
                </a:solidFill>
              </a:rPr>
              <a:t>.</a:t>
            </a:r>
            <a:endParaRPr lang="en-US" altLang="zh-CN" sz="1200">
              <a:solidFill>
                <a:schemeClr val="tx1"/>
              </a:solidFill>
            </a:endParaRPr>
          </a:p>
          <a:p>
            <a:pPr algn="l"/>
            <a:r>
              <a:rPr lang="zh-CN" altLang="en-US" sz="1200">
                <a:solidFill>
                  <a:schemeClr val="tx1"/>
                </a:solidFill>
              </a:rPr>
              <a:t>【</a:t>
            </a:r>
            <a:r>
              <a:rPr lang="zh-CN" altLang="en-US" sz="1200">
                <a:solidFill>
                  <a:schemeClr val="tx1"/>
                </a:solidFill>
              </a:rPr>
              <a:t>修复建议】</a:t>
            </a:r>
            <a:endParaRPr lang="zh-CN" altLang="en-US" sz="1200">
              <a:solidFill>
                <a:schemeClr val="tx1"/>
              </a:solidFill>
            </a:endParaRPr>
          </a:p>
          <a:p>
            <a:pPr algn="l"/>
            <a:r>
              <a:rPr lang="zh-CN" altLang="en-US" sz="1200">
                <a:solidFill>
                  <a:schemeClr val="tx1"/>
                </a:solidFill>
              </a:rPr>
              <a:t>检直边异界值</a:t>
            </a:r>
            <a:r>
              <a:rPr lang="en-US" altLang="zh-CN" sz="1200">
                <a:solidFill>
                  <a:schemeClr val="tx1"/>
                </a:solidFill>
              </a:rPr>
              <a:t>...</a:t>
            </a:r>
            <a:endParaRPr lang="en-US" altLang="zh-CN" sz="1200">
              <a:solidFill>
                <a:schemeClr val="tx1"/>
              </a:solidFill>
            </a:endParaRPr>
          </a:p>
        </p:txBody>
      </p:sp>
      <p:sp>
        <p:nvSpPr>
          <p:cNvPr id="135" name="文本框 134"/>
          <p:cNvSpPr txBox="1"/>
          <p:nvPr/>
        </p:nvSpPr>
        <p:spPr>
          <a:xfrm>
            <a:off x="9096375" y="5518785"/>
            <a:ext cx="1985010" cy="306705"/>
          </a:xfrm>
          <a:prstGeom prst="rect">
            <a:avLst/>
          </a:prstGeom>
          <a:noFill/>
        </p:spPr>
        <p:txBody>
          <a:bodyPr wrap="square" rtlCol="0" anchor="t">
            <a:spAutoFit/>
          </a:bodyPr>
          <a:p>
            <a:pPr algn="ctr"/>
            <a:r>
              <a:rPr lang="zh-CN" altLang="en-US" sz="1400" b="1" dirty="0" smtClean="0">
                <a:latin typeface="Arial" panose="020B0604020202020204" pitchFamily="34" charset="0"/>
                <a:ea typeface="微软雅黑" panose="020B0503020204020204" pitchFamily="34" charset="-122"/>
                <a:sym typeface="+mn-ea"/>
              </a:rPr>
              <a:t>生成式诊断</a:t>
            </a:r>
            <a:r>
              <a:rPr lang="zh-CN" altLang="en-US" sz="1400" b="1" dirty="0" smtClean="0">
                <a:latin typeface="Arial" panose="020B0604020202020204" pitchFamily="34" charset="0"/>
                <a:ea typeface="微软雅黑" panose="020B0503020204020204" pitchFamily="34" charset="-122"/>
                <a:sym typeface="+mn-ea"/>
              </a:rPr>
              <a:t>报告</a:t>
            </a:r>
            <a:endParaRPr lang="zh-CN" altLang="en-US" sz="1400" b="1" dirty="0" smtClean="0">
              <a:latin typeface="Arial" panose="020B0604020202020204" pitchFamily="34" charset="0"/>
              <a:ea typeface="微软雅黑" panose="020B0503020204020204" pitchFamily="34" charset="-122"/>
              <a:sym typeface="+mn-ea"/>
            </a:endParaRPr>
          </a:p>
        </p:txBody>
      </p:sp>
      <p:cxnSp>
        <p:nvCxnSpPr>
          <p:cNvPr id="18" name="直接箭头连接符 17"/>
          <p:cNvCxnSpPr/>
          <p:nvPr/>
        </p:nvCxnSpPr>
        <p:spPr>
          <a:xfrm flipH="1" flipV="1">
            <a:off x="9639300" y="3069590"/>
            <a:ext cx="434975" cy="1270"/>
          </a:xfrm>
          <a:prstGeom prst="straightConnector1">
            <a:avLst/>
          </a:prstGeom>
          <a:ln w="25400">
            <a:solidFill>
              <a:schemeClr val="tx1"/>
            </a:solidFill>
            <a:tailEnd type="triangle"/>
          </a:ln>
        </p:spPr>
        <p:style>
          <a:lnRef idx="2">
            <a:schemeClr val="accent1"/>
          </a:lnRef>
          <a:fillRef idx="0">
            <a:srgbClr val="FFFFFF"/>
          </a:fillRef>
          <a:effectRef idx="0">
            <a:srgbClr val="FFFFFF"/>
          </a:effectRef>
          <a:fontRef idx="minor">
            <a:schemeClr val="tx1"/>
          </a:fontRef>
        </p:style>
      </p:cxnSp>
      <p:pic>
        <p:nvPicPr>
          <p:cNvPr id="19" name="图片 18"/>
          <p:cNvPicPr/>
          <p:nvPr/>
        </p:nvPicPr>
        <p:blipFill>
          <a:blip r:embed="rId5"/>
          <a:stretch>
            <a:fillRect/>
          </a:stretch>
        </p:blipFill>
        <p:spPr>
          <a:xfrm>
            <a:off x="10576560" y="2778125"/>
            <a:ext cx="388620" cy="388620"/>
          </a:xfrm>
          <a:prstGeom prst="rect">
            <a:avLst/>
          </a:prstGeom>
        </p:spPr>
      </p:pic>
      <p:sp>
        <p:nvSpPr>
          <p:cNvPr id="20" name="文本框 19"/>
          <p:cNvSpPr txBox="1"/>
          <p:nvPr/>
        </p:nvSpPr>
        <p:spPr>
          <a:xfrm>
            <a:off x="10231755" y="3061970"/>
            <a:ext cx="1147445" cy="274955"/>
          </a:xfrm>
          <a:prstGeom prst="rect">
            <a:avLst/>
          </a:prstGeom>
          <a:noFill/>
        </p:spPr>
        <p:txBody>
          <a:bodyPr wrap="square" rtlCol="0">
            <a:noAutofit/>
          </a:bodyPr>
          <a:p>
            <a:pPr>
              <a:lnSpc>
                <a:spcPct val="130000"/>
              </a:lnSpc>
            </a:pPr>
            <a:r>
              <a:rPr lang="zh-CN" altLang="en-US" sz="1400" dirty="0" smtClean="0">
                <a:latin typeface="Arial" panose="020B0604020202020204" pitchFamily="34" charset="0"/>
                <a:ea typeface="微软雅黑" panose="020B0503020204020204" pitchFamily="34" charset="-122"/>
              </a:rPr>
              <a:t>代码演化量</a:t>
            </a:r>
            <a:endParaRPr lang="zh-CN" altLang="en-US" sz="1400" dirty="0" smtClean="0">
              <a:latin typeface="Arial" panose="020B0604020202020204" pitchFamily="34" charset="0"/>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梯形 34"/>
          <p:cNvSpPr/>
          <p:nvPr/>
        </p:nvSpPr>
        <p:spPr>
          <a:xfrm rot="16200000">
            <a:off x="7446198" y="-451317"/>
            <a:ext cx="2291737" cy="7199871"/>
          </a:xfrm>
          <a:prstGeom prst="trapezoid">
            <a:avLst>
              <a:gd name="adj" fmla="val 16935"/>
            </a:avLst>
          </a:prstGeom>
          <a:solidFill>
            <a:srgbClr val="99010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srgbClr val="005825"/>
              </a:solidFill>
              <a:effectLst/>
              <a:uLnTx/>
              <a:uFillTx/>
              <a:latin typeface="Arial" panose="020B0604020202020204"/>
              <a:ea typeface="微软雅黑" panose="020B0503020204020204" pitchFamily="34" charset="-122"/>
              <a:cs typeface="+mn-cs"/>
            </a:endParaRPr>
          </a:p>
        </p:txBody>
      </p:sp>
      <p:sp>
        <p:nvSpPr>
          <p:cNvPr id="37" name="梯形 36"/>
          <p:cNvSpPr/>
          <p:nvPr/>
        </p:nvSpPr>
        <p:spPr>
          <a:xfrm rot="5400000">
            <a:off x="1331640" y="636804"/>
            <a:ext cx="2344067" cy="5007345"/>
          </a:xfrm>
          <a:prstGeom prst="trapezoid">
            <a:avLst>
              <a:gd name="adj" fmla="val 17865"/>
            </a:avLst>
          </a:prstGeom>
          <a:solidFill>
            <a:schemeClr val="bg1">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7" name="文本框 2"/>
          <p:cNvSpPr txBox="1"/>
          <p:nvPr/>
        </p:nvSpPr>
        <p:spPr>
          <a:xfrm>
            <a:off x="3729079" y="2556165"/>
            <a:ext cx="1164101" cy="1200329"/>
          </a:xfrm>
          <a:prstGeom prst="rect">
            <a:avLst/>
          </a:prstGeom>
          <a:noFill/>
        </p:spPr>
        <p:txBody>
          <a:bodyPr wrap="none" lIns="91440" tIns="45720" rIns="91440" bIns="4572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Part</a:t>
            </a:r>
            <a:r>
              <a:rPr kumimoji="0" lang="en-US" altLang="zh-CN"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4</a:t>
            </a:r>
            <a:endParaRPr kumimoji="0" lang="zh-CN" altLang="en-US"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29" name="矩形 28"/>
          <p:cNvSpPr/>
          <p:nvPr/>
        </p:nvSpPr>
        <p:spPr>
          <a:xfrm>
            <a:off x="5638798" y="2692405"/>
            <a:ext cx="4450080" cy="1568450"/>
          </a:xfrm>
          <a:prstGeom prst="rect">
            <a:avLst/>
          </a:prstGeom>
        </p:spPr>
        <p:txBody>
          <a:bodyPr wrap="none" lIns="91440" tIns="45720" rIns="91440" bIns="45720">
            <a:spAutoFit/>
          </a:bodyPr>
          <a:lstStyle/>
          <a:p>
            <a:pPr marL="0" marR="0" lvl="0" algn="l" defTabSz="457200" rtl="0" eaLnBrk="1" fontAlgn="auto" latinLnBrk="0" hangingPunct="1">
              <a:lnSpc>
                <a:spcPct val="100000"/>
              </a:lnSpc>
              <a:spcBef>
                <a:spcPts val="0"/>
              </a:spcBef>
              <a:spcAft>
                <a:spcPts val="0"/>
              </a:spcAft>
              <a:buClrTx/>
              <a:buSzTx/>
              <a:buFontTx/>
              <a:buNone/>
              <a:defRPr/>
            </a:pPr>
            <a:r>
              <a:rPr lang="zh-CN" altLang="en-US" sz="4800" b="1" noProof="0" dirty="0">
                <a:ln>
                  <a:noFill/>
                </a:ln>
                <a:solidFill>
                  <a:prstClr val="white"/>
                </a:solidFill>
                <a:effectLst/>
                <a:uLnTx/>
                <a:uFillTx/>
                <a:latin typeface="Arial" panose="020B0604020202020204"/>
                <a:ea typeface="微软雅黑" panose="020B0503020204020204" pitchFamily="34" charset="-122"/>
                <a:sym typeface="微软雅黑" panose="020B0503020204020204" pitchFamily="34" charset="-122"/>
              </a:rPr>
              <a:t>技术路线与方案</a:t>
            </a:r>
            <a:endParaRPr kumimoji="0" lang="zh-CN" altLang="en-US" sz="48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sym typeface="微软雅黑" panose="020B0503020204020204" pitchFamily="34" charset="-122"/>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48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22989" y="1235242"/>
            <a:ext cx="3251090" cy="326475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46"/>
          <p:cNvSpPr>
            <a:spLocks noChangeArrowheads="1"/>
          </p:cNvSpPr>
          <p:nvPr/>
        </p:nvSpPr>
        <p:spPr bwMode="auto">
          <a:xfrm>
            <a:off x="634918" y="237124"/>
            <a:ext cx="308737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cs"/>
                <a:sym typeface="Calibri" panose="020F0502020204030204" pitchFamily="34" charset="0"/>
              </a:rPr>
              <a:t>总体技术架构</a:t>
            </a:r>
            <a:r>
              <a:rPr kumimoji="0" lang="zh-CN" altLang="en-US" sz="32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cs"/>
                <a:sym typeface="Calibri" panose="020F0502020204030204" pitchFamily="34" charset="0"/>
              </a:rPr>
              <a:t>图</a:t>
            </a:r>
            <a:endParaRPr kumimoji="0" lang="zh-CN" altLang="en-US" sz="32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34" name="等腰三角形 47"/>
          <p:cNvSpPr>
            <a:spLocks noChangeArrowheads="1"/>
          </p:cNvSpPr>
          <p:nvPr/>
        </p:nvSpPr>
        <p:spPr bwMode="auto">
          <a:xfrm rot="5400000">
            <a:off x="-53049" y="209721"/>
            <a:ext cx="774879" cy="668780"/>
          </a:xfrm>
          <a:prstGeom prst="triangle">
            <a:avLst>
              <a:gd name="adj" fmla="val 50000"/>
            </a:avLst>
          </a:prstGeom>
          <a:solidFill>
            <a:srgbClr val="990100"/>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pic>
        <p:nvPicPr>
          <p:cNvPr id="53" name="图片 52"/>
          <p:cNvPicPr>
            <a:picLocks noChangeAspect="1"/>
          </p:cNvPicPr>
          <p:nvPr/>
        </p:nvPicPr>
        <p:blipFill>
          <a:blip r:embed="rId1" cstate="print">
            <a:biLevel thresh="75000"/>
            <a:extLst>
              <a:ext uri="{BEBA8EAE-BF5A-486C-A8C5-ECC9F3942E4B}">
                <a14:imgProps xmlns:a14="http://schemas.microsoft.com/office/drawing/2010/main">
                  <a14:imgLayer r:embed="rId2">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12465" y="6301220"/>
            <a:ext cx="1523493" cy="400109"/>
          </a:xfrm>
          <a:prstGeom prst="rect">
            <a:avLst/>
          </a:prstGeom>
        </p:spPr>
      </p:pic>
      <p:pic>
        <p:nvPicPr>
          <p:cNvPr id="4" name="图片 3" descr="logo红"/>
          <p:cNvPicPr>
            <a:picLocks noChangeAspect="1"/>
          </p:cNvPicPr>
          <p:nvPr/>
        </p:nvPicPr>
        <p:blipFill>
          <a:blip r:embed="rId3"/>
          <a:stretch>
            <a:fillRect/>
          </a:stretch>
        </p:blipFill>
        <p:spPr>
          <a:xfrm>
            <a:off x="8033385" y="297815"/>
            <a:ext cx="3755390" cy="494665"/>
          </a:xfrm>
          <a:prstGeom prst="rect">
            <a:avLst/>
          </a:prstGeom>
        </p:spPr>
      </p:pic>
      <p:grpSp>
        <p:nvGrpSpPr>
          <p:cNvPr id="135" name="组合 134"/>
          <p:cNvGrpSpPr/>
          <p:nvPr/>
        </p:nvGrpSpPr>
        <p:grpSpPr>
          <a:xfrm>
            <a:off x="379730" y="1094105"/>
            <a:ext cx="11494770" cy="5037455"/>
            <a:chOff x="598" y="1723"/>
            <a:chExt cx="18102" cy="7933"/>
          </a:xfrm>
        </p:grpSpPr>
        <p:sp>
          <p:nvSpPr>
            <p:cNvPr id="12" name="同侧圆角矩形 11"/>
            <p:cNvSpPr/>
            <p:nvPr/>
          </p:nvSpPr>
          <p:spPr>
            <a:xfrm>
              <a:off x="598" y="1723"/>
              <a:ext cx="2701" cy="839"/>
            </a:xfrm>
            <a:prstGeom prst="round2SameRect">
              <a:avLst>
                <a:gd name="adj1" fmla="val 39213"/>
                <a:gd name="adj2" fmla="val 0"/>
              </a:avLst>
            </a:prstGeom>
            <a:solidFill>
              <a:srgbClr val="3475B5"/>
            </a:solidFill>
            <a:ln>
              <a:solidFill>
                <a:srgbClr val="3475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600" b="1">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600" b="1">
                  <a:latin typeface="微软雅黑" panose="020B0503020204020204" pitchFamily="34" charset="-122"/>
                  <a:ea typeface="微软雅黑" panose="020B0503020204020204" pitchFamily="34" charset="-122"/>
                  <a:cs typeface="微软雅黑" panose="020B0503020204020204" pitchFamily="34" charset="-122"/>
                </a:rPr>
                <a:t>输入层</a:t>
              </a:r>
              <a:endParaRPr lang="zh-CN" altLang="en-US" sz="16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同侧圆角矩形 12"/>
            <p:cNvSpPr/>
            <p:nvPr/>
          </p:nvSpPr>
          <p:spPr>
            <a:xfrm rot="10800000">
              <a:off x="598" y="2562"/>
              <a:ext cx="2701" cy="7094"/>
            </a:xfrm>
            <a:prstGeom prst="round2SameRect">
              <a:avLst>
                <a:gd name="adj1" fmla="val 11486"/>
                <a:gd name="adj2" fmla="val 0"/>
              </a:avLst>
            </a:prstGeom>
            <a:solidFill>
              <a:srgbClr val="E7F0F5"/>
            </a:solidFill>
            <a:ln>
              <a:solidFill>
                <a:srgbClr val="3475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同侧圆角矩形 13"/>
            <p:cNvSpPr/>
            <p:nvPr/>
          </p:nvSpPr>
          <p:spPr>
            <a:xfrm>
              <a:off x="3675" y="1723"/>
              <a:ext cx="5953" cy="839"/>
            </a:xfrm>
            <a:prstGeom prst="round2SameRect">
              <a:avLst>
                <a:gd name="adj1" fmla="val 39213"/>
                <a:gd name="adj2" fmla="val 0"/>
              </a:avLst>
            </a:prstGeom>
            <a:solidFill>
              <a:srgbClr val="E77F36"/>
            </a:solidFill>
            <a:ln>
              <a:solidFill>
                <a:srgbClr val="E77F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600" b="1">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600" b="1">
                  <a:latin typeface="微软雅黑" panose="020B0503020204020204" pitchFamily="34" charset="-122"/>
                  <a:ea typeface="微软雅黑" panose="020B0503020204020204" pitchFamily="34" charset="-122"/>
                  <a:cs typeface="微软雅黑" panose="020B0503020204020204" pitchFamily="34" charset="-122"/>
                </a:rPr>
                <a:t>处理层：特征工程与双塔</a:t>
              </a:r>
              <a:r>
                <a:rPr lang="zh-CN" altLang="en-US" sz="1600" b="1">
                  <a:latin typeface="微软雅黑" panose="020B0503020204020204" pitchFamily="34" charset="-122"/>
                  <a:ea typeface="微软雅黑" panose="020B0503020204020204" pitchFamily="34" charset="-122"/>
                  <a:cs typeface="微软雅黑" panose="020B0503020204020204" pitchFamily="34" charset="-122"/>
                </a:rPr>
                <a:t>对齐</a:t>
              </a:r>
              <a:endParaRPr lang="zh-CN" altLang="en-US" sz="16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7" name="同侧圆角矩形 26"/>
            <p:cNvSpPr/>
            <p:nvPr/>
          </p:nvSpPr>
          <p:spPr>
            <a:xfrm rot="10800000">
              <a:off x="3675" y="2562"/>
              <a:ext cx="5953" cy="7094"/>
            </a:xfrm>
            <a:prstGeom prst="round2SameRect">
              <a:avLst>
                <a:gd name="adj1" fmla="val 11486"/>
                <a:gd name="adj2" fmla="val 0"/>
              </a:avLst>
            </a:prstGeom>
            <a:solidFill>
              <a:srgbClr val="FEF1E8"/>
            </a:solidFill>
            <a:ln>
              <a:solidFill>
                <a:srgbClr val="E77F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 name="同侧圆角矩形 27"/>
            <p:cNvSpPr/>
            <p:nvPr/>
          </p:nvSpPr>
          <p:spPr>
            <a:xfrm>
              <a:off x="9862" y="1723"/>
              <a:ext cx="5304" cy="839"/>
            </a:xfrm>
            <a:prstGeom prst="round2SameRect">
              <a:avLst>
                <a:gd name="adj1" fmla="val 39213"/>
                <a:gd name="adj2" fmla="val 0"/>
              </a:avLst>
            </a:prstGeom>
            <a:solidFill>
              <a:srgbClr val="71369F"/>
            </a:solidFill>
            <a:ln>
              <a:solidFill>
                <a:srgbClr val="7136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600" b="1">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600" b="1">
                  <a:latin typeface="微软雅黑" panose="020B0503020204020204" pitchFamily="34" charset="-122"/>
                  <a:ea typeface="微软雅黑" panose="020B0503020204020204" pitchFamily="34" charset="-122"/>
                  <a:cs typeface="微软雅黑" panose="020B0503020204020204" pitchFamily="34" charset="-122"/>
                </a:rPr>
                <a:t>处理层：大模型适配与生成</a:t>
              </a:r>
              <a:endParaRPr lang="zh-CN" altLang="en-US" sz="16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9" name="同侧圆角矩形 28"/>
            <p:cNvSpPr/>
            <p:nvPr/>
          </p:nvSpPr>
          <p:spPr>
            <a:xfrm rot="10800000">
              <a:off x="9862" y="2562"/>
              <a:ext cx="5304" cy="7094"/>
            </a:xfrm>
            <a:prstGeom prst="round2SameRect">
              <a:avLst>
                <a:gd name="adj1" fmla="val 11486"/>
                <a:gd name="adj2" fmla="val 0"/>
              </a:avLst>
            </a:prstGeom>
            <a:solidFill>
              <a:srgbClr val="F3EEF5"/>
            </a:solidFill>
            <a:ln>
              <a:solidFill>
                <a:srgbClr val="7136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0" name="同侧圆角矩形 29"/>
            <p:cNvSpPr/>
            <p:nvPr/>
          </p:nvSpPr>
          <p:spPr>
            <a:xfrm>
              <a:off x="15519" y="1723"/>
              <a:ext cx="3181" cy="839"/>
            </a:xfrm>
            <a:prstGeom prst="round2SameRect">
              <a:avLst>
                <a:gd name="adj1" fmla="val 39213"/>
                <a:gd name="adj2" fmla="val 0"/>
              </a:avLst>
            </a:prstGeom>
            <a:solidFill>
              <a:srgbClr val="75A34C"/>
            </a:solidFill>
            <a:ln>
              <a:solidFill>
                <a:srgbClr val="75A3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600" b="1">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600" b="1">
                  <a:latin typeface="微软雅黑" panose="020B0503020204020204" pitchFamily="34" charset="-122"/>
                  <a:ea typeface="微软雅黑" panose="020B0503020204020204" pitchFamily="34" charset="-122"/>
                  <a:cs typeface="微软雅黑" panose="020B0503020204020204" pitchFamily="34" charset="-122"/>
                </a:rPr>
                <a:t>输</a:t>
              </a:r>
              <a:r>
                <a:rPr lang="zh-CN" altLang="en-US" sz="1600" b="1">
                  <a:latin typeface="微软雅黑" panose="020B0503020204020204" pitchFamily="34" charset="-122"/>
                  <a:ea typeface="微软雅黑" panose="020B0503020204020204" pitchFamily="34" charset="-122"/>
                  <a:cs typeface="微软雅黑" panose="020B0503020204020204" pitchFamily="34" charset="-122"/>
                </a:rPr>
                <a:t>出层</a:t>
              </a:r>
              <a:endParaRPr lang="zh-CN" altLang="en-US" sz="16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5" name="同侧圆角矩形 34"/>
            <p:cNvSpPr/>
            <p:nvPr/>
          </p:nvSpPr>
          <p:spPr>
            <a:xfrm rot="10800000">
              <a:off x="15519" y="2562"/>
              <a:ext cx="3181" cy="7094"/>
            </a:xfrm>
            <a:prstGeom prst="round2SameRect">
              <a:avLst>
                <a:gd name="adj1" fmla="val 11486"/>
                <a:gd name="adj2" fmla="val 0"/>
              </a:avLst>
            </a:prstGeom>
            <a:solidFill>
              <a:srgbClr val="ECF0E2"/>
            </a:solidFill>
            <a:ln>
              <a:solidFill>
                <a:srgbClr val="75A3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8" name="圆角矩形 37"/>
            <p:cNvSpPr/>
            <p:nvPr/>
          </p:nvSpPr>
          <p:spPr>
            <a:xfrm>
              <a:off x="3953" y="3637"/>
              <a:ext cx="1890" cy="2430"/>
            </a:xfrm>
            <a:prstGeom prst="roundRect">
              <a:avLst/>
            </a:prstGeom>
            <a:solidFill>
              <a:srgbClr val="F9E5D7"/>
            </a:solidFill>
            <a:ln>
              <a:solidFill>
                <a:srgbClr val="E77F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9" name="圆角矩形 38"/>
            <p:cNvSpPr/>
            <p:nvPr/>
          </p:nvSpPr>
          <p:spPr>
            <a:xfrm>
              <a:off x="3971" y="6844"/>
              <a:ext cx="1890" cy="2430"/>
            </a:xfrm>
            <a:prstGeom prst="roundRect">
              <a:avLst/>
            </a:prstGeom>
            <a:solidFill>
              <a:srgbClr val="F9E5D7"/>
            </a:solidFill>
            <a:ln>
              <a:solidFill>
                <a:srgbClr val="E77F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0" name="圆角矩形 39"/>
            <p:cNvSpPr/>
            <p:nvPr/>
          </p:nvSpPr>
          <p:spPr>
            <a:xfrm>
              <a:off x="6663" y="3652"/>
              <a:ext cx="2773" cy="5637"/>
            </a:xfrm>
            <a:prstGeom prst="roundRect">
              <a:avLst/>
            </a:prstGeom>
            <a:solidFill>
              <a:srgbClr val="F9E5D7"/>
            </a:solidFill>
            <a:ln>
              <a:solidFill>
                <a:srgbClr val="E77F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1" name="圆角矩形 40"/>
            <p:cNvSpPr/>
            <p:nvPr/>
          </p:nvSpPr>
          <p:spPr>
            <a:xfrm>
              <a:off x="973" y="5132"/>
              <a:ext cx="2010" cy="4157"/>
            </a:xfrm>
            <a:prstGeom prst="roundRect">
              <a:avLst/>
            </a:prstGeom>
            <a:solidFill>
              <a:srgbClr val="E6EFF8"/>
            </a:solidFill>
            <a:ln>
              <a:solidFill>
                <a:srgbClr val="3475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8" name="圆角矩形 47"/>
            <p:cNvSpPr/>
            <p:nvPr/>
          </p:nvSpPr>
          <p:spPr>
            <a:xfrm>
              <a:off x="9983" y="3802"/>
              <a:ext cx="2001" cy="1050"/>
            </a:xfrm>
            <a:prstGeom prst="roundRect">
              <a:avLst/>
            </a:prstGeom>
            <a:solidFill>
              <a:srgbClr val="F9E5D7"/>
            </a:solidFill>
            <a:ln>
              <a:solidFill>
                <a:srgbClr val="E77F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solidFill>
                    <a:schemeClr val="tx1"/>
                  </a:solidFill>
                </a:rPr>
                <a:t>认知门控适配器</a:t>
              </a:r>
              <a:endParaRPr lang="zh-CN" altLang="en-US" sz="1400" b="1">
                <a:solidFill>
                  <a:schemeClr val="tx1"/>
                </a:solidFill>
              </a:endParaRPr>
            </a:p>
          </p:txBody>
        </p:sp>
        <p:sp>
          <p:nvSpPr>
            <p:cNvPr id="49" name="圆角矩形 48"/>
            <p:cNvSpPr/>
            <p:nvPr/>
          </p:nvSpPr>
          <p:spPr>
            <a:xfrm>
              <a:off x="12425" y="3220"/>
              <a:ext cx="2325" cy="3147"/>
            </a:xfrm>
            <a:prstGeom prst="roundRect">
              <a:avLst/>
            </a:prstGeom>
            <a:solidFill>
              <a:srgbClr val="E2D7E8"/>
            </a:solidFill>
            <a:ln>
              <a:solidFill>
                <a:srgbClr val="7136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50" name="图片 49"/>
            <p:cNvPicPr/>
            <p:nvPr/>
          </p:nvPicPr>
          <p:blipFill>
            <a:blip r:embed="rId4"/>
            <a:stretch>
              <a:fillRect/>
            </a:stretch>
          </p:blipFill>
          <p:spPr>
            <a:xfrm>
              <a:off x="16358" y="3220"/>
              <a:ext cx="1504" cy="1504"/>
            </a:xfrm>
            <a:prstGeom prst="rect">
              <a:avLst/>
            </a:prstGeom>
          </p:spPr>
        </p:pic>
        <p:sp>
          <p:nvSpPr>
            <p:cNvPr id="51" name="文本框 50"/>
            <p:cNvSpPr txBox="1"/>
            <p:nvPr/>
          </p:nvSpPr>
          <p:spPr>
            <a:xfrm>
              <a:off x="16034" y="4816"/>
              <a:ext cx="2337" cy="584"/>
            </a:xfrm>
            <a:prstGeom prst="rect">
              <a:avLst/>
            </a:prstGeom>
            <a:noFill/>
          </p:spPr>
          <p:txBody>
            <a:bodyPr wrap="square" rtlCol="0">
              <a:spAutoFit/>
            </a:bodyPr>
            <a:p>
              <a:pPr>
                <a:lnSpc>
                  <a:spcPct val="130000"/>
                </a:lnSpc>
              </a:pPr>
              <a:r>
                <a:rPr lang="zh-CN" altLang="en-US" sz="1400" b="1" dirty="0" smtClean="0">
                  <a:latin typeface="Arial" panose="020B0604020202020204" pitchFamily="34" charset="0"/>
                  <a:ea typeface="微软雅黑" panose="020B0503020204020204" pitchFamily="34" charset="-122"/>
                </a:rPr>
                <a:t>生成式诊断报告</a:t>
              </a:r>
              <a:endParaRPr lang="zh-CN" altLang="en-US" sz="1400" b="1" dirty="0" smtClean="0">
                <a:latin typeface="Arial" panose="020B0604020202020204" pitchFamily="34" charset="0"/>
                <a:ea typeface="微软雅黑" panose="020B0503020204020204" pitchFamily="34" charset="-122"/>
              </a:endParaRPr>
            </a:p>
          </p:txBody>
        </p:sp>
        <p:sp>
          <p:nvSpPr>
            <p:cNvPr id="52" name="文本框 51"/>
            <p:cNvSpPr txBox="1"/>
            <p:nvPr/>
          </p:nvSpPr>
          <p:spPr>
            <a:xfrm>
              <a:off x="16034" y="5714"/>
              <a:ext cx="2490" cy="2411"/>
            </a:xfrm>
            <a:prstGeom prst="rect">
              <a:avLst/>
            </a:prstGeom>
            <a:noFill/>
          </p:spPr>
          <p:txBody>
            <a:bodyPr wrap="square" rtlCol="0">
              <a:noAutofit/>
            </a:bodyPr>
            <a:p>
              <a:pPr algn="l"/>
              <a:r>
                <a:rPr lang="zh-CN" altLang="en-US" sz="1400">
                  <a:sym typeface="+mn-ea"/>
                </a:rPr>
                <a:t>【错误类型】</a:t>
              </a:r>
              <a:endParaRPr lang="zh-CN" altLang="en-US" sz="1400">
                <a:solidFill>
                  <a:schemeClr val="tx1"/>
                </a:solidFill>
              </a:endParaRPr>
            </a:p>
            <a:p>
              <a:pPr algn="l"/>
              <a:r>
                <a:rPr lang="en-US" altLang="zh-CN" sz="1400">
                  <a:sym typeface="+mn-ea"/>
                </a:rPr>
                <a:t>(Error Type)</a:t>
              </a:r>
              <a:endParaRPr lang="en-US" altLang="zh-CN" sz="1400">
                <a:sym typeface="+mn-ea"/>
              </a:endParaRPr>
            </a:p>
            <a:p>
              <a:pPr algn="l"/>
              <a:r>
                <a:rPr lang="zh-CN" altLang="en-US" sz="1400">
                  <a:sym typeface="+mn-ea"/>
                </a:rPr>
                <a:t>【深层归因】</a:t>
              </a:r>
              <a:endParaRPr lang="en-US" altLang="zh-CN" sz="1400">
                <a:solidFill>
                  <a:schemeClr val="tx1"/>
                </a:solidFill>
              </a:endParaRPr>
            </a:p>
            <a:p>
              <a:pPr algn="l"/>
              <a:r>
                <a:rPr lang="en-US" altLang="zh-CN" sz="1400">
                  <a:solidFill>
                    <a:schemeClr val="tx1"/>
                  </a:solidFill>
                </a:rPr>
                <a:t>(Root Cause)</a:t>
              </a:r>
              <a:endParaRPr lang="en-US" altLang="zh-CN" sz="1400">
                <a:solidFill>
                  <a:schemeClr val="tx1"/>
                </a:solidFill>
              </a:endParaRPr>
            </a:p>
            <a:p>
              <a:pPr algn="l"/>
              <a:r>
                <a:rPr lang="zh-CN" altLang="en-US" sz="1400">
                  <a:sym typeface="+mn-ea"/>
                </a:rPr>
                <a:t>【</a:t>
              </a:r>
              <a:r>
                <a:rPr lang="zh-CN" altLang="en-US" sz="1400">
                  <a:sym typeface="+mn-ea"/>
                </a:rPr>
                <a:t>修复建议】</a:t>
              </a:r>
              <a:endParaRPr lang="zh-CN" altLang="en-US" sz="1400">
                <a:solidFill>
                  <a:schemeClr val="tx1"/>
                </a:solidFill>
              </a:endParaRPr>
            </a:p>
            <a:p>
              <a:pPr algn="l"/>
              <a:r>
                <a:rPr lang="en-US" altLang="zh-CN" sz="1400">
                  <a:solidFill>
                    <a:schemeClr val="tx1"/>
                  </a:solidFill>
                </a:rPr>
                <a:t>(F</a:t>
              </a:r>
              <a:r>
                <a:rPr lang="en-US" altLang="zh-CN" sz="1400">
                  <a:solidFill>
                    <a:schemeClr val="tx1"/>
                  </a:solidFill>
                </a:rPr>
                <a:t>ix Suggestion)</a:t>
              </a:r>
              <a:endParaRPr lang="en-US" altLang="zh-CN" sz="1400">
                <a:solidFill>
                  <a:schemeClr val="tx1"/>
                </a:solidFill>
              </a:endParaRPr>
            </a:p>
            <a:p>
              <a:pPr>
                <a:lnSpc>
                  <a:spcPct val="130000"/>
                </a:lnSpc>
              </a:pPr>
              <a:endParaRPr lang="zh-CN" altLang="en-US" sz="1400" dirty="0" smtClean="0">
                <a:latin typeface="Arial" panose="020B0604020202020204" pitchFamily="34" charset="0"/>
                <a:ea typeface="微软雅黑" panose="020B0503020204020204" pitchFamily="34" charset="-122"/>
              </a:endParaRPr>
            </a:p>
          </p:txBody>
        </p:sp>
        <p:sp>
          <p:nvSpPr>
            <p:cNvPr id="54" name="文本框 53"/>
            <p:cNvSpPr txBox="1"/>
            <p:nvPr/>
          </p:nvSpPr>
          <p:spPr>
            <a:xfrm>
              <a:off x="12485" y="4957"/>
              <a:ext cx="2457" cy="584"/>
            </a:xfrm>
            <a:prstGeom prst="rect">
              <a:avLst/>
            </a:prstGeom>
            <a:noFill/>
          </p:spPr>
          <p:txBody>
            <a:bodyPr wrap="square" rtlCol="0">
              <a:spAutoFit/>
            </a:bodyPr>
            <a:p>
              <a:pPr>
                <a:lnSpc>
                  <a:spcPct val="130000"/>
                </a:lnSpc>
              </a:pPr>
              <a:r>
                <a:rPr lang="zh-CN" altLang="en-US" sz="1400" b="1" dirty="0" smtClean="0">
                  <a:latin typeface="Arial" panose="020B0604020202020204" pitchFamily="34" charset="0"/>
                  <a:ea typeface="微软雅黑" panose="020B0503020204020204" pitchFamily="34" charset="-122"/>
                </a:rPr>
                <a:t>冻结的基座</a:t>
              </a:r>
              <a:r>
                <a:rPr lang="en-US" altLang="zh-CN" sz="1400" b="1" dirty="0" smtClean="0">
                  <a:latin typeface="Arial" panose="020B0604020202020204" pitchFamily="34" charset="0"/>
                  <a:ea typeface="微软雅黑" panose="020B0503020204020204" pitchFamily="34" charset="-122"/>
                </a:rPr>
                <a:t>	LLM</a:t>
              </a:r>
              <a:endParaRPr lang="en-US" altLang="zh-CN" sz="1400" b="1" dirty="0" smtClean="0">
                <a:latin typeface="Arial" panose="020B0604020202020204" pitchFamily="34" charset="0"/>
                <a:ea typeface="微软雅黑" panose="020B0503020204020204" pitchFamily="34" charset="-122"/>
              </a:endParaRPr>
            </a:p>
          </p:txBody>
        </p:sp>
        <p:sp>
          <p:nvSpPr>
            <p:cNvPr id="55" name="文本框 54"/>
            <p:cNvSpPr txBox="1"/>
            <p:nvPr/>
          </p:nvSpPr>
          <p:spPr>
            <a:xfrm>
              <a:off x="10259" y="5343"/>
              <a:ext cx="1885" cy="1024"/>
            </a:xfrm>
            <a:prstGeom prst="rect">
              <a:avLst/>
            </a:prstGeom>
            <a:noFill/>
          </p:spPr>
          <p:txBody>
            <a:bodyPr wrap="square" rtlCol="0">
              <a:spAutoFit/>
            </a:bodyPr>
            <a:p>
              <a:pPr>
                <a:lnSpc>
                  <a:spcPct val="130000"/>
                </a:lnSpc>
              </a:pPr>
              <a:r>
                <a:rPr lang="zh-CN" altLang="en-US" sz="1400" b="1" dirty="0" smtClean="0">
                  <a:latin typeface="Arial" panose="020B0604020202020204" pitchFamily="34" charset="0"/>
                  <a:ea typeface="微软雅黑" panose="020B0503020204020204" pitchFamily="34" charset="-122"/>
                </a:rPr>
                <a:t>错误代码</a:t>
              </a:r>
              <a:endParaRPr lang="zh-CN" altLang="en-US" sz="1400" b="1" dirty="0" smtClean="0">
                <a:latin typeface="Arial" panose="020B0604020202020204" pitchFamily="34" charset="0"/>
                <a:ea typeface="微软雅黑" panose="020B0503020204020204" pitchFamily="34" charset="-122"/>
              </a:endParaRPr>
            </a:p>
            <a:p>
              <a:pPr>
                <a:lnSpc>
                  <a:spcPct val="130000"/>
                </a:lnSpc>
              </a:pPr>
              <a:r>
                <a:rPr lang="en-US" altLang="zh-CN" sz="1400" dirty="0" smtClean="0">
                  <a:latin typeface="Arial" panose="020B0604020202020204" pitchFamily="34" charset="0"/>
                  <a:ea typeface="微软雅黑" panose="020B0503020204020204" pitchFamily="34" charset="-122"/>
                </a:rPr>
                <a:t>(Error Code)</a:t>
              </a:r>
              <a:endParaRPr lang="en-US" altLang="zh-CN" sz="1400" dirty="0" smtClean="0">
                <a:latin typeface="Arial" panose="020B0604020202020204" pitchFamily="34" charset="0"/>
                <a:ea typeface="微软雅黑" panose="020B0503020204020204" pitchFamily="34" charset="-122"/>
              </a:endParaRPr>
            </a:p>
          </p:txBody>
        </p:sp>
        <p:grpSp>
          <p:nvGrpSpPr>
            <p:cNvPr id="136" name="组合 135"/>
            <p:cNvGrpSpPr/>
            <p:nvPr/>
          </p:nvGrpSpPr>
          <p:grpSpPr>
            <a:xfrm>
              <a:off x="10001" y="7204"/>
              <a:ext cx="5026" cy="1828"/>
              <a:chOff x="6300" y="8024"/>
              <a:chExt cx="7103" cy="1828"/>
            </a:xfrm>
          </p:grpSpPr>
          <p:grpSp>
            <p:nvGrpSpPr>
              <p:cNvPr id="118" name="组合 117"/>
              <p:cNvGrpSpPr/>
              <p:nvPr>
                <p:custDataLst>
                  <p:tags r:id="rId5"/>
                </p:custDataLst>
              </p:nvPr>
            </p:nvGrpSpPr>
            <p:grpSpPr>
              <a:xfrm>
                <a:off x="6300" y="8024"/>
                <a:ext cx="1966" cy="1125"/>
                <a:chOff x="6300" y="8137"/>
                <a:chExt cx="1966" cy="1125"/>
              </a:xfrm>
            </p:grpSpPr>
            <p:sp>
              <p:nvSpPr>
                <p:cNvPr id="113" name="云形标注 112"/>
                <p:cNvSpPr/>
                <p:nvPr>
                  <p:custDataLst>
                    <p:tags r:id="rId6"/>
                  </p:custDataLst>
                </p:nvPr>
              </p:nvSpPr>
              <p:spPr>
                <a:xfrm>
                  <a:off x="6300" y="8137"/>
                  <a:ext cx="1966" cy="1125"/>
                </a:xfrm>
                <a:prstGeom prst="cloudCallou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5" name="文本框 114"/>
                <p:cNvSpPr txBox="1"/>
                <p:nvPr>
                  <p:custDataLst>
                    <p:tags r:id="rId7"/>
                  </p:custDataLst>
                </p:nvPr>
              </p:nvSpPr>
              <p:spPr>
                <a:xfrm>
                  <a:off x="6651" y="8205"/>
                  <a:ext cx="1600" cy="774"/>
                </a:xfrm>
                <a:prstGeom prst="rect">
                  <a:avLst/>
                </a:prstGeom>
                <a:noFill/>
              </p:spPr>
              <p:txBody>
                <a:bodyPr wrap="square" rtlCol="0">
                  <a:spAutoFit/>
                </a:bodyPr>
                <a:p>
                  <a:pPr>
                    <a:lnSpc>
                      <a:spcPct val="130000"/>
                    </a:lnSpc>
                  </a:pPr>
                  <a:r>
                    <a:rPr lang="en-US" altLang="zh-CN" sz="1000" dirty="0" smtClean="0">
                      <a:latin typeface="Arial" panose="020B0604020202020204" pitchFamily="34" charset="0"/>
                      <a:ea typeface="微软雅黑" panose="020B0503020204020204" pitchFamily="34" charset="-122"/>
                    </a:rPr>
                    <a:t>Step 1:</a:t>
                  </a:r>
                  <a:endParaRPr lang="en-US" altLang="zh-CN" sz="1000" dirty="0" smtClean="0">
                    <a:latin typeface="Arial" panose="020B0604020202020204" pitchFamily="34" charset="0"/>
                    <a:ea typeface="微软雅黑" panose="020B0503020204020204" pitchFamily="34" charset="-122"/>
                  </a:endParaRPr>
                </a:p>
                <a:p>
                  <a:pPr>
                    <a:lnSpc>
                      <a:spcPct val="130000"/>
                    </a:lnSpc>
                  </a:pPr>
                  <a:r>
                    <a:rPr lang="zh-CN" altLang="en-US" sz="1000" b="1" dirty="0" smtClean="0">
                      <a:latin typeface="Arial" panose="020B0604020202020204" pitchFamily="34" charset="0"/>
                      <a:ea typeface="微软雅黑" panose="020B0503020204020204" pitchFamily="34" charset="-122"/>
                    </a:rPr>
                    <a:t>现象</a:t>
                  </a:r>
                  <a:endParaRPr lang="zh-CN" altLang="en-US" sz="1000" b="1" dirty="0" smtClean="0">
                    <a:latin typeface="Arial" panose="020B0604020202020204" pitchFamily="34" charset="0"/>
                    <a:ea typeface="微软雅黑" panose="020B0503020204020204" pitchFamily="34" charset="-122"/>
                  </a:endParaRPr>
                </a:p>
              </p:txBody>
            </p:sp>
          </p:grpSp>
          <p:grpSp>
            <p:nvGrpSpPr>
              <p:cNvPr id="119" name="组合 118"/>
              <p:cNvGrpSpPr/>
              <p:nvPr>
                <p:custDataLst>
                  <p:tags r:id="rId8"/>
                </p:custDataLst>
              </p:nvPr>
            </p:nvGrpSpPr>
            <p:grpSpPr>
              <a:xfrm>
                <a:off x="8817" y="8025"/>
                <a:ext cx="1966" cy="1125"/>
                <a:chOff x="5745" y="8137"/>
                <a:chExt cx="1966" cy="1125"/>
              </a:xfrm>
            </p:grpSpPr>
            <p:sp>
              <p:nvSpPr>
                <p:cNvPr id="120" name="云形标注 119"/>
                <p:cNvSpPr/>
                <p:nvPr>
                  <p:custDataLst>
                    <p:tags r:id="rId9"/>
                  </p:custDataLst>
                </p:nvPr>
              </p:nvSpPr>
              <p:spPr>
                <a:xfrm>
                  <a:off x="5745" y="8137"/>
                  <a:ext cx="1966" cy="1125"/>
                </a:xfrm>
                <a:prstGeom prst="cloudCallou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1" name="文本框 120"/>
                <p:cNvSpPr txBox="1"/>
                <p:nvPr>
                  <p:custDataLst>
                    <p:tags r:id="rId10"/>
                  </p:custDataLst>
                </p:nvPr>
              </p:nvSpPr>
              <p:spPr>
                <a:xfrm>
                  <a:off x="6066" y="8181"/>
                  <a:ext cx="1434" cy="774"/>
                </a:xfrm>
                <a:prstGeom prst="rect">
                  <a:avLst/>
                </a:prstGeom>
                <a:noFill/>
              </p:spPr>
              <p:txBody>
                <a:bodyPr wrap="square" rtlCol="0">
                  <a:spAutoFit/>
                </a:bodyPr>
                <a:p>
                  <a:pPr>
                    <a:lnSpc>
                      <a:spcPct val="130000"/>
                    </a:lnSpc>
                  </a:pPr>
                  <a:r>
                    <a:rPr lang="en-US" altLang="zh-CN" sz="1000" dirty="0" smtClean="0">
                      <a:latin typeface="Arial" panose="020B0604020202020204" pitchFamily="34" charset="0"/>
                      <a:ea typeface="微软雅黑" panose="020B0503020204020204" pitchFamily="34" charset="-122"/>
                    </a:rPr>
                    <a:t>Step 2:</a:t>
                  </a:r>
                  <a:endParaRPr lang="en-US" altLang="zh-CN" sz="1000" dirty="0" smtClean="0">
                    <a:latin typeface="Arial" panose="020B0604020202020204" pitchFamily="34" charset="0"/>
                    <a:ea typeface="微软雅黑" panose="020B0503020204020204" pitchFamily="34" charset="-122"/>
                  </a:endParaRPr>
                </a:p>
                <a:p>
                  <a:pPr>
                    <a:lnSpc>
                      <a:spcPct val="130000"/>
                    </a:lnSpc>
                  </a:pPr>
                  <a:r>
                    <a:rPr lang="zh-CN" altLang="en-US" sz="1000" b="1" dirty="0" smtClean="0">
                      <a:latin typeface="Arial" panose="020B0604020202020204" pitchFamily="34" charset="0"/>
                      <a:ea typeface="微软雅黑" panose="020B0503020204020204" pitchFamily="34" charset="-122"/>
                    </a:rPr>
                    <a:t>回溯</a:t>
                  </a:r>
                  <a:endParaRPr lang="zh-CN" altLang="en-US" sz="1000" b="1" dirty="0" smtClean="0">
                    <a:latin typeface="Arial" panose="020B0604020202020204" pitchFamily="34" charset="0"/>
                    <a:ea typeface="微软雅黑" panose="020B0503020204020204" pitchFamily="34" charset="-122"/>
                  </a:endParaRPr>
                </a:p>
              </p:txBody>
            </p:sp>
          </p:grpSp>
          <p:grpSp>
            <p:nvGrpSpPr>
              <p:cNvPr id="122" name="组合 121"/>
              <p:cNvGrpSpPr/>
              <p:nvPr>
                <p:custDataLst>
                  <p:tags r:id="rId11"/>
                </p:custDataLst>
              </p:nvPr>
            </p:nvGrpSpPr>
            <p:grpSpPr>
              <a:xfrm>
                <a:off x="11392" y="8024"/>
                <a:ext cx="2011" cy="1125"/>
                <a:chOff x="5370" y="8137"/>
                <a:chExt cx="2011" cy="1125"/>
              </a:xfrm>
            </p:grpSpPr>
            <p:sp>
              <p:nvSpPr>
                <p:cNvPr id="123" name="云形标注 122"/>
                <p:cNvSpPr/>
                <p:nvPr>
                  <p:custDataLst>
                    <p:tags r:id="rId12"/>
                  </p:custDataLst>
                </p:nvPr>
              </p:nvSpPr>
              <p:spPr>
                <a:xfrm>
                  <a:off x="5370" y="8137"/>
                  <a:ext cx="1966" cy="1125"/>
                </a:xfrm>
                <a:prstGeom prst="cloudCallou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4" name="文本框 123"/>
                <p:cNvSpPr txBox="1"/>
                <p:nvPr>
                  <p:custDataLst>
                    <p:tags r:id="rId13"/>
                  </p:custDataLst>
                </p:nvPr>
              </p:nvSpPr>
              <p:spPr>
                <a:xfrm>
                  <a:off x="5781" y="8175"/>
                  <a:ext cx="1600" cy="774"/>
                </a:xfrm>
                <a:prstGeom prst="rect">
                  <a:avLst/>
                </a:prstGeom>
                <a:noFill/>
              </p:spPr>
              <p:txBody>
                <a:bodyPr wrap="square" rtlCol="0">
                  <a:spAutoFit/>
                </a:bodyPr>
                <a:p>
                  <a:pPr>
                    <a:lnSpc>
                      <a:spcPct val="130000"/>
                    </a:lnSpc>
                  </a:pPr>
                  <a:r>
                    <a:rPr lang="en-US" altLang="zh-CN" sz="1000" dirty="0" smtClean="0">
                      <a:latin typeface="Arial" panose="020B0604020202020204" pitchFamily="34" charset="0"/>
                      <a:ea typeface="微软雅黑" panose="020B0503020204020204" pitchFamily="34" charset="-122"/>
                    </a:rPr>
                    <a:t>Step 3:</a:t>
                  </a:r>
                  <a:endParaRPr lang="en-US" altLang="zh-CN" sz="1000" dirty="0" smtClean="0">
                    <a:latin typeface="Arial" panose="020B0604020202020204" pitchFamily="34" charset="0"/>
                    <a:ea typeface="微软雅黑" panose="020B0503020204020204" pitchFamily="34" charset="-122"/>
                  </a:endParaRPr>
                </a:p>
                <a:p>
                  <a:pPr>
                    <a:lnSpc>
                      <a:spcPct val="130000"/>
                    </a:lnSpc>
                  </a:pPr>
                  <a:r>
                    <a:rPr lang="zh-CN" altLang="en-US" sz="1000" b="1" dirty="0" smtClean="0">
                      <a:latin typeface="Arial" panose="020B0604020202020204" pitchFamily="34" charset="0"/>
                      <a:ea typeface="微软雅黑" panose="020B0503020204020204" pitchFamily="34" charset="-122"/>
                    </a:rPr>
                    <a:t>根源</a:t>
                  </a:r>
                  <a:endParaRPr lang="zh-CN" altLang="en-US" sz="1000" b="1" dirty="0" smtClean="0">
                    <a:latin typeface="Arial" panose="020B0604020202020204" pitchFamily="34" charset="0"/>
                    <a:ea typeface="微软雅黑" panose="020B0503020204020204" pitchFamily="34" charset="-122"/>
                  </a:endParaRPr>
                </a:p>
              </p:txBody>
            </p:sp>
          </p:grpSp>
          <p:sp>
            <p:nvSpPr>
              <p:cNvPr id="125" name="文本框 124"/>
              <p:cNvSpPr txBox="1"/>
              <p:nvPr/>
            </p:nvSpPr>
            <p:spPr>
              <a:xfrm>
                <a:off x="7142" y="9369"/>
                <a:ext cx="5259" cy="483"/>
              </a:xfrm>
              <a:prstGeom prst="rect">
                <a:avLst/>
              </a:prstGeom>
              <a:noFill/>
            </p:spPr>
            <p:txBody>
              <a:bodyPr wrap="square" rtlCol="0" anchor="t">
                <a:spAutoFit/>
              </a:bodyPr>
              <a:p>
                <a:pPr algn="ctr"/>
                <a:r>
                  <a:rPr lang="zh-CN" altLang="en-US" sz="1400" b="1" dirty="0" smtClean="0">
                    <a:latin typeface="Arial" panose="020B0604020202020204" pitchFamily="34" charset="0"/>
                    <a:ea typeface="微软雅黑" panose="020B0503020204020204" pitchFamily="34" charset="-122"/>
                    <a:sym typeface="+mn-ea"/>
                  </a:rPr>
                  <a:t>反事实归因推理链推理过程</a:t>
                </a:r>
                <a:endParaRPr lang="zh-CN" altLang="en-US" sz="1400" b="1" dirty="0" smtClean="0">
                  <a:latin typeface="Arial" panose="020B0604020202020204" pitchFamily="34" charset="0"/>
                  <a:ea typeface="微软雅黑" panose="020B0503020204020204" pitchFamily="34" charset="-122"/>
                  <a:sym typeface="+mn-ea"/>
                </a:endParaRPr>
              </a:p>
            </p:txBody>
          </p:sp>
        </p:grpSp>
        <p:cxnSp>
          <p:nvCxnSpPr>
            <p:cNvPr id="56" name="直接箭头连接符 55"/>
            <p:cNvCxnSpPr/>
            <p:nvPr/>
          </p:nvCxnSpPr>
          <p:spPr>
            <a:xfrm flipV="1">
              <a:off x="11392" y="7766"/>
              <a:ext cx="366" cy="1"/>
            </a:xfrm>
            <a:prstGeom prst="straightConnector1">
              <a:avLst/>
            </a:prstGeom>
            <a:ln w="25400">
              <a:solidFill>
                <a:schemeClr val="tx1"/>
              </a:solidFill>
              <a:tailEnd type="triangle"/>
            </a:ln>
          </p:spPr>
          <p:style>
            <a:lnRef idx="2">
              <a:schemeClr val="accent1"/>
            </a:lnRef>
            <a:fillRef idx="0">
              <a:srgbClr val="FFFFFF"/>
            </a:fillRef>
            <a:effectRef idx="0">
              <a:srgbClr val="FFFFFF"/>
            </a:effectRef>
            <a:fontRef idx="minor">
              <a:schemeClr val="tx1"/>
            </a:fontRef>
          </p:style>
        </p:cxnSp>
        <p:cxnSp>
          <p:nvCxnSpPr>
            <p:cNvPr id="57" name="直接箭头连接符 56"/>
            <p:cNvCxnSpPr/>
            <p:nvPr/>
          </p:nvCxnSpPr>
          <p:spPr>
            <a:xfrm flipV="1">
              <a:off x="13197" y="7771"/>
              <a:ext cx="366" cy="1"/>
            </a:xfrm>
            <a:prstGeom prst="straightConnector1">
              <a:avLst/>
            </a:prstGeom>
            <a:ln w="25400">
              <a:solidFill>
                <a:schemeClr val="tx1"/>
              </a:solidFill>
              <a:tailEnd type="triangle"/>
            </a:ln>
          </p:spPr>
          <p:style>
            <a:lnRef idx="2">
              <a:schemeClr val="accent1"/>
            </a:lnRef>
            <a:fillRef idx="0">
              <a:srgbClr val="FFFFFF"/>
            </a:fillRef>
            <a:effectRef idx="0">
              <a:srgbClr val="FFFFFF"/>
            </a:effectRef>
            <a:fontRef idx="minor">
              <a:schemeClr val="tx1"/>
            </a:fontRef>
          </p:style>
        </p:cxnSp>
        <p:pic>
          <p:nvPicPr>
            <p:cNvPr id="58" name="图片 57"/>
            <p:cNvPicPr/>
            <p:nvPr/>
          </p:nvPicPr>
          <p:blipFill>
            <a:blip r:embed="rId14"/>
            <a:stretch>
              <a:fillRect/>
            </a:stretch>
          </p:blipFill>
          <p:spPr>
            <a:xfrm>
              <a:off x="13091" y="3852"/>
              <a:ext cx="1000" cy="1000"/>
            </a:xfrm>
            <a:prstGeom prst="rect">
              <a:avLst/>
            </a:prstGeom>
          </p:spPr>
        </p:pic>
        <p:sp>
          <p:nvSpPr>
            <p:cNvPr id="106" name="右箭头 105"/>
            <p:cNvSpPr/>
            <p:nvPr/>
          </p:nvSpPr>
          <p:spPr>
            <a:xfrm>
              <a:off x="15014" y="5133"/>
              <a:ext cx="579" cy="889"/>
            </a:xfrm>
            <a:prstGeom prst="rightArrow">
              <a:avLst/>
            </a:prstGeom>
            <a:solidFill>
              <a:srgbClr val="71369F"/>
            </a:solidFill>
            <a:ln>
              <a:solidFill>
                <a:srgbClr val="7136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9" name="右箭头 58"/>
            <p:cNvSpPr/>
            <p:nvPr/>
          </p:nvSpPr>
          <p:spPr>
            <a:xfrm rot="16200000">
              <a:off x="13317" y="6446"/>
              <a:ext cx="642" cy="514"/>
            </a:xfrm>
            <a:prstGeom prst="rightArrow">
              <a:avLst/>
            </a:prstGeom>
            <a:solidFill>
              <a:srgbClr val="71369F"/>
            </a:solidFill>
            <a:ln>
              <a:solidFill>
                <a:srgbClr val="7136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0" name="右箭头 59"/>
            <p:cNvSpPr/>
            <p:nvPr/>
          </p:nvSpPr>
          <p:spPr>
            <a:xfrm>
              <a:off x="11984" y="4038"/>
              <a:ext cx="434" cy="578"/>
            </a:xfrm>
            <a:prstGeom prst="rightArrow">
              <a:avLst/>
            </a:prstGeom>
            <a:solidFill>
              <a:srgbClr val="71369F"/>
            </a:solidFill>
            <a:ln>
              <a:solidFill>
                <a:srgbClr val="7136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61" name="直接箭头连接符 60"/>
            <p:cNvCxnSpPr/>
            <p:nvPr/>
          </p:nvCxnSpPr>
          <p:spPr>
            <a:xfrm flipV="1">
              <a:off x="11669" y="5714"/>
              <a:ext cx="694" cy="1"/>
            </a:xfrm>
            <a:prstGeom prst="straightConnector1">
              <a:avLst/>
            </a:prstGeom>
            <a:ln w="38100">
              <a:solidFill>
                <a:schemeClr val="tx1"/>
              </a:solidFill>
              <a:tailEnd type="triangle"/>
            </a:ln>
          </p:spPr>
          <p:style>
            <a:lnRef idx="2">
              <a:schemeClr val="accent1"/>
            </a:lnRef>
            <a:fillRef idx="0">
              <a:srgbClr val="FFFFFF"/>
            </a:fillRef>
            <a:effectRef idx="0">
              <a:srgbClr val="FFFFFF"/>
            </a:effectRef>
            <a:fontRef idx="minor">
              <a:schemeClr val="tx1"/>
            </a:fontRef>
          </p:style>
        </p:cxnSp>
        <p:sp>
          <p:nvSpPr>
            <p:cNvPr id="63" name="文本框 62"/>
            <p:cNvSpPr txBox="1"/>
            <p:nvPr/>
          </p:nvSpPr>
          <p:spPr>
            <a:xfrm>
              <a:off x="4262" y="2841"/>
              <a:ext cx="1482" cy="584"/>
            </a:xfrm>
            <a:prstGeom prst="rect">
              <a:avLst/>
            </a:prstGeom>
            <a:noFill/>
          </p:spPr>
          <p:txBody>
            <a:bodyPr wrap="square" rtlCol="0">
              <a:spAutoFit/>
            </a:bodyPr>
            <a:p>
              <a:pPr>
                <a:lnSpc>
                  <a:spcPct val="130000"/>
                </a:lnSpc>
              </a:pPr>
              <a:r>
                <a:rPr lang="zh-CN" altLang="en-US" sz="1400" b="1" dirty="0" smtClean="0">
                  <a:latin typeface="Arial" panose="020B0604020202020204" pitchFamily="34" charset="0"/>
                  <a:ea typeface="微软雅黑" panose="020B0503020204020204" pitchFamily="34" charset="-122"/>
                </a:rPr>
                <a:t>特征</a:t>
              </a:r>
              <a:r>
                <a:rPr lang="zh-CN" altLang="en-US" sz="1400" b="1" dirty="0" smtClean="0">
                  <a:latin typeface="Arial" panose="020B0604020202020204" pitchFamily="34" charset="0"/>
                  <a:ea typeface="微软雅黑" panose="020B0503020204020204" pitchFamily="34" charset="-122"/>
                </a:rPr>
                <a:t>工程</a:t>
              </a:r>
              <a:endParaRPr lang="zh-CN" altLang="en-US" sz="1400" b="1" dirty="0" smtClean="0">
                <a:latin typeface="Arial" panose="020B0604020202020204" pitchFamily="34" charset="0"/>
                <a:ea typeface="微软雅黑" panose="020B0503020204020204" pitchFamily="34" charset="-122"/>
              </a:endParaRPr>
            </a:p>
          </p:txBody>
        </p:sp>
        <p:sp>
          <p:nvSpPr>
            <p:cNvPr id="64" name="文本框 63"/>
            <p:cNvSpPr txBox="1"/>
            <p:nvPr/>
          </p:nvSpPr>
          <p:spPr>
            <a:xfrm>
              <a:off x="7094" y="2841"/>
              <a:ext cx="2015" cy="584"/>
            </a:xfrm>
            <a:prstGeom prst="rect">
              <a:avLst/>
            </a:prstGeom>
            <a:noFill/>
          </p:spPr>
          <p:txBody>
            <a:bodyPr wrap="square" rtlCol="0">
              <a:spAutoFit/>
            </a:bodyPr>
            <a:p>
              <a:pPr>
                <a:lnSpc>
                  <a:spcPct val="130000"/>
                </a:lnSpc>
              </a:pPr>
              <a:r>
                <a:rPr lang="zh-CN" altLang="en-US" sz="1400" b="1" dirty="0" smtClean="0">
                  <a:latin typeface="Arial" panose="020B0604020202020204" pitchFamily="34" charset="0"/>
                  <a:ea typeface="微软雅黑" panose="020B0503020204020204" pitchFamily="34" charset="-122"/>
                </a:rPr>
                <a:t>双塔对比</a:t>
              </a:r>
              <a:r>
                <a:rPr lang="zh-CN" altLang="en-US" sz="1400" b="1" dirty="0" smtClean="0">
                  <a:latin typeface="Arial" panose="020B0604020202020204" pitchFamily="34" charset="0"/>
                  <a:ea typeface="微软雅黑" panose="020B0503020204020204" pitchFamily="34" charset="-122"/>
                </a:rPr>
                <a:t>学习</a:t>
              </a:r>
              <a:endParaRPr lang="zh-CN" altLang="en-US" sz="1400" b="1" dirty="0" smtClean="0">
                <a:latin typeface="Arial" panose="020B0604020202020204" pitchFamily="34" charset="0"/>
                <a:ea typeface="微软雅黑" panose="020B0503020204020204" pitchFamily="34" charset="-122"/>
              </a:endParaRPr>
            </a:p>
          </p:txBody>
        </p:sp>
        <p:sp>
          <p:nvSpPr>
            <p:cNvPr id="65" name="圆角矩形 64"/>
            <p:cNvSpPr/>
            <p:nvPr/>
          </p:nvSpPr>
          <p:spPr>
            <a:xfrm>
              <a:off x="5958" y="5219"/>
              <a:ext cx="517" cy="2197"/>
            </a:xfrm>
            <a:prstGeom prst="roundRect">
              <a:avLst/>
            </a:prstGeom>
            <a:solidFill>
              <a:srgbClr val="E6EFF8"/>
            </a:solidFill>
            <a:ln>
              <a:solidFill>
                <a:srgbClr val="3475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600" b="1">
                  <a:solidFill>
                    <a:schemeClr val="tx1"/>
                  </a:solidFill>
                </a:rPr>
                <a:t>特征融合</a:t>
              </a:r>
              <a:endParaRPr lang="zh-CN" altLang="en-US" sz="1600" b="1">
                <a:solidFill>
                  <a:schemeClr val="tx1"/>
                </a:solidFill>
              </a:endParaRPr>
            </a:p>
          </p:txBody>
        </p:sp>
        <p:sp>
          <p:nvSpPr>
            <p:cNvPr id="67" name="文本框 66"/>
            <p:cNvSpPr txBox="1"/>
            <p:nvPr/>
          </p:nvSpPr>
          <p:spPr>
            <a:xfrm>
              <a:off x="6565" y="3802"/>
              <a:ext cx="1431" cy="899"/>
            </a:xfrm>
            <a:prstGeom prst="rect">
              <a:avLst/>
            </a:prstGeom>
            <a:noFill/>
          </p:spPr>
          <p:txBody>
            <a:bodyPr wrap="square" rtlCol="0">
              <a:spAutoFit/>
            </a:bodyPr>
            <a:p>
              <a:pPr algn="ctr">
                <a:lnSpc>
                  <a:spcPct val="130000"/>
                </a:lnSpc>
              </a:pPr>
              <a:r>
                <a:rPr lang="zh-CN" altLang="en-US" sz="1200" b="1" dirty="0" smtClean="0">
                  <a:latin typeface="Arial" panose="020B0604020202020204" pitchFamily="34" charset="0"/>
                  <a:ea typeface="微软雅黑" panose="020B0503020204020204" pitchFamily="34" charset="-122"/>
                </a:rPr>
                <a:t>学生向量</a:t>
              </a:r>
              <a:endParaRPr lang="zh-CN" altLang="en-US" sz="1200" b="1" dirty="0" smtClean="0">
                <a:latin typeface="Arial" panose="020B0604020202020204" pitchFamily="34" charset="0"/>
                <a:ea typeface="微软雅黑" panose="020B0503020204020204" pitchFamily="34" charset="-122"/>
              </a:endParaRPr>
            </a:p>
            <a:p>
              <a:pPr algn="ctr">
                <a:lnSpc>
                  <a:spcPct val="130000"/>
                </a:lnSpc>
              </a:pPr>
              <a:r>
                <a:rPr lang="en-US" altLang="zh-CN" sz="1200" dirty="0" smtClean="0">
                  <a:latin typeface="Arial" panose="020B0604020202020204" pitchFamily="34" charset="0"/>
                  <a:ea typeface="微软雅黑" panose="020B0503020204020204" pitchFamily="34" charset="-122"/>
                </a:rPr>
                <a:t>Vector</a:t>
              </a:r>
              <a:endParaRPr lang="en-US" altLang="zh-CN" sz="1200" dirty="0" smtClean="0">
                <a:latin typeface="Arial" panose="020B0604020202020204" pitchFamily="34" charset="0"/>
                <a:ea typeface="微软雅黑" panose="020B0503020204020204" pitchFamily="34" charset="-122"/>
              </a:endParaRPr>
            </a:p>
          </p:txBody>
        </p:sp>
        <p:sp>
          <p:nvSpPr>
            <p:cNvPr id="68" name="文本框 67"/>
            <p:cNvSpPr txBox="1"/>
            <p:nvPr/>
          </p:nvSpPr>
          <p:spPr>
            <a:xfrm>
              <a:off x="8197" y="3802"/>
              <a:ext cx="1431" cy="899"/>
            </a:xfrm>
            <a:prstGeom prst="rect">
              <a:avLst/>
            </a:prstGeom>
            <a:noFill/>
          </p:spPr>
          <p:txBody>
            <a:bodyPr wrap="square" rtlCol="0">
              <a:spAutoFit/>
            </a:bodyPr>
            <a:p>
              <a:pPr algn="ctr">
                <a:lnSpc>
                  <a:spcPct val="130000"/>
                </a:lnSpc>
              </a:pPr>
              <a:r>
                <a:rPr lang="zh-CN" altLang="en-US" sz="1200" b="1" dirty="0" smtClean="0">
                  <a:latin typeface="Arial" panose="020B0604020202020204" pitchFamily="34" charset="0"/>
                  <a:ea typeface="微软雅黑" panose="020B0503020204020204" pitchFamily="34" charset="-122"/>
                </a:rPr>
                <a:t>代码向量</a:t>
              </a:r>
              <a:endParaRPr lang="zh-CN" altLang="en-US" sz="1200" b="1" dirty="0" smtClean="0">
                <a:latin typeface="Arial" panose="020B0604020202020204" pitchFamily="34" charset="0"/>
                <a:ea typeface="微软雅黑" panose="020B0503020204020204" pitchFamily="34" charset="-122"/>
              </a:endParaRPr>
            </a:p>
            <a:p>
              <a:pPr algn="ctr">
                <a:lnSpc>
                  <a:spcPct val="130000"/>
                </a:lnSpc>
              </a:pPr>
              <a:r>
                <a:rPr lang="en-US" altLang="zh-CN" sz="1200" dirty="0" smtClean="0">
                  <a:latin typeface="Arial" panose="020B0604020202020204" pitchFamily="34" charset="0"/>
                  <a:ea typeface="微软雅黑" panose="020B0503020204020204" pitchFamily="34" charset="-122"/>
                </a:rPr>
                <a:t>Vector</a:t>
              </a:r>
              <a:endParaRPr lang="en-US" altLang="zh-CN" sz="1200" dirty="0" smtClean="0">
                <a:latin typeface="Arial" panose="020B0604020202020204" pitchFamily="34" charset="0"/>
                <a:ea typeface="微软雅黑" panose="020B0503020204020204" pitchFamily="34" charset="-122"/>
              </a:endParaRPr>
            </a:p>
          </p:txBody>
        </p:sp>
        <p:sp>
          <p:nvSpPr>
            <p:cNvPr id="70" name="文本框 69"/>
            <p:cNvSpPr txBox="1"/>
            <p:nvPr/>
          </p:nvSpPr>
          <p:spPr>
            <a:xfrm>
              <a:off x="7246" y="5155"/>
              <a:ext cx="1791" cy="521"/>
            </a:xfrm>
            <a:prstGeom prst="rect">
              <a:avLst/>
            </a:prstGeom>
            <a:noFill/>
          </p:spPr>
          <p:txBody>
            <a:bodyPr wrap="square" rtlCol="0">
              <a:spAutoFit/>
            </a:bodyPr>
            <a:p>
              <a:pPr>
                <a:lnSpc>
                  <a:spcPct val="130000"/>
                </a:lnSpc>
              </a:pPr>
              <a:r>
                <a:rPr lang="zh-CN" altLang="en-US" sz="1200" b="1" dirty="0" smtClean="0">
                  <a:latin typeface="Arial" panose="020B0604020202020204" pitchFamily="34" charset="0"/>
                  <a:ea typeface="微软雅黑" panose="020B0503020204020204" pitchFamily="34" charset="-122"/>
                </a:rPr>
                <a:t>对比损失函数</a:t>
              </a:r>
              <a:endParaRPr lang="zh-CN" altLang="en-US" sz="1200" b="1" dirty="0" smtClean="0">
                <a:latin typeface="Arial" panose="020B0604020202020204" pitchFamily="34" charset="0"/>
                <a:ea typeface="微软雅黑" panose="020B0503020204020204" pitchFamily="34" charset="-122"/>
              </a:endParaRPr>
            </a:p>
          </p:txBody>
        </p:sp>
        <p:sp>
          <p:nvSpPr>
            <p:cNvPr id="71" name="文本框 70"/>
            <p:cNvSpPr txBox="1"/>
            <p:nvPr/>
          </p:nvSpPr>
          <p:spPr>
            <a:xfrm>
              <a:off x="7263" y="6283"/>
              <a:ext cx="1868" cy="521"/>
            </a:xfrm>
            <a:prstGeom prst="rect">
              <a:avLst/>
            </a:prstGeom>
            <a:noFill/>
          </p:spPr>
          <p:txBody>
            <a:bodyPr wrap="square" rtlCol="0">
              <a:spAutoFit/>
            </a:bodyPr>
            <a:p>
              <a:pPr>
                <a:lnSpc>
                  <a:spcPct val="130000"/>
                </a:lnSpc>
              </a:pPr>
              <a:r>
                <a:rPr lang="zh-CN" altLang="en-US" sz="1200" b="1" dirty="0" smtClean="0">
                  <a:latin typeface="Arial" panose="020B0604020202020204" pitchFamily="34" charset="0"/>
                  <a:ea typeface="微软雅黑" panose="020B0503020204020204" pitchFamily="34" charset="-122"/>
                </a:rPr>
                <a:t>对齐特征</a:t>
              </a:r>
              <a:r>
                <a:rPr lang="zh-CN" altLang="en-US" sz="1200" b="1" dirty="0" smtClean="0">
                  <a:latin typeface="Arial" panose="020B0604020202020204" pitchFamily="34" charset="0"/>
                  <a:ea typeface="微软雅黑" panose="020B0503020204020204" pitchFamily="34" charset="-122"/>
                </a:rPr>
                <a:t>空间</a:t>
              </a:r>
              <a:endParaRPr lang="zh-CN" altLang="en-US" sz="1200" b="1" dirty="0" smtClean="0">
                <a:latin typeface="Arial" panose="020B0604020202020204" pitchFamily="34" charset="0"/>
                <a:ea typeface="微软雅黑" panose="020B0503020204020204" pitchFamily="34" charset="-122"/>
              </a:endParaRPr>
            </a:p>
          </p:txBody>
        </p:sp>
        <p:grpSp>
          <p:nvGrpSpPr>
            <p:cNvPr id="82" name="组合 81"/>
            <p:cNvGrpSpPr/>
            <p:nvPr/>
          </p:nvGrpSpPr>
          <p:grpSpPr>
            <a:xfrm>
              <a:off x="6995" y="5413"/>
              <a:ext cx="284" cy="1331"/>
              <a:chOff x="16975" y="-3528"/>
              <a:chExt cx="504" cy="2354"/>
            </a:xfrm>
          </p:grpSpPr>
          <p:sp>
            <p:nvSpPr>
              <p:cNvPr id="72" name="圆角矩形 71"/>
              <p:cNvSpPr/>
              <p:nvPr/>
            </p:nvSpPr>
            <p:spPr>
              <a:xfrm>
                <a:off x="16975" y="-3528"/>
                <a:ext cx="505" cy="2354"/>
              </a:xfrm>
              <a:prstGeom prst="roundRect">
                <a:avLst/>
              </a:prstGeom>
              <a:solidFill>
                <a:srgbClr val="F9E5D7"/>
              </a:solidFill>
              <a:ln>
                <a:solidFill>
                  <a:srgbClr val="E77F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3" name="椭圆 72"/>
              <p:cNvSpPr/>
              <p:nvPr/>
            </p:nvSpPr>
            <p:spPr>
              <a:xfrm>
                <a:off x="17045" y="-3348"/>
                <a:ext cx="375" cy="375"/>
              </a:xfrm>
              <a:prstGeom prst="ellipse">
                <a:avLst/>
              </a:prstGeom>
              <a:solidFill>
                <a:srgbClr val="F9BA8B"/>
              </a:solidFill>
              <a:ln>
                <a:solidFill>
                  <a:srgbClr val="E77F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4" name="椭圆 73"/>
              <p:cNvSpPr/>
              <p:nvPr/>
            </p:nvSpPr>
            <p:spPr>
              <a:xfrm>
                <a:off x="17045" y="-2826"/>
                <a:ext cx="375" cy="375"/>
              </a:xfrm>
              <a:prstGeom prst="ellipse">
                <a:avLst/>
              </a:prstGeom>
              <a:solidFill>
                <a:srgbClr val="F9BA8B"/>
              </a:solidFill>
              <a:ln>
                <a:solidFill>
                  <a:srgbClr val="E77F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5" name="椭圆 74"/>
              <p:cNvSpPr/>
              <p:nvPr/>
            </p:nvSpPr>
            <p:spPr>
              <a:xfrm>
                <a:off x="17045" y="-2291"/>
                <a:ext cx="375" cy="375"/>
              </a:xfrm>
              <a:prstGeom prst="ellipse">
                <a:avLst/>
              </a:prstGeom>
              <a:solidFill>
                <a:srgbClr val="F9BA8B"/>
              </a:solidFill>
              <a:ln>
                <a:solidFill>
                  <a:srgbClr val="E77F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6" name="椭圆 75"/>
              <p:cNvSpPr/>
              <p:nvPr/>
            </p:nvSpPr>
            <p:spPr>
              <a:xfrm>
                <a:off x="17045" y="-1773"/>
                <a:ext cx="375" cy="375"/>
              </a:xfrm>
              <a:prstGeom prst="ellipse">
                <a:avLst/>
              </a:prstGeom>
              <a:solidFill>
                <a:srgbClr val="F9BA8B"/>
              </a:solidFill>
              <a:ln>
                <a:solidFill>
                  <a:srgbClr val="E77F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83" name="组合 82"/>
            <p:cNvGrpSpPr/>
            <p:nvPr/>
          </p:nvGrpSpPr>
          <p:grpSpPr>
            <a:xfrm>
              <a:off x="8880" y="5443"/>
              <a:ext cx="284" cy="1331"/>
              <a:chOff x="16975" y="-3528"/>
              <a:chExt cx="504" cy="2354"/>
            </a:xfrm>
          </p:grpSpPr>
          <p:sp>
            <p:nvSpPr>
              <p:cNvPr id="84" name="圆角矩形 83"/>
              <p:cNvSpPr/>
              <p:nvPr/>
            </p:nvSpPr>
            <p:spPr>
              <a:xfrm>
                <a:off x="16975" y="-3528"/>
                <a:ext cx="505" cy="2354"/>
              </a:xfrm>
              <a:prstGeom prst="roundRect">
                <a:avLst/>
              </a:prstGeom>
              <a:solidFill>
                <a:srgbClr val="F9E5D7"/>
              </a:solidFill>
              <a:ln>
                <a:solidFill>
                  <a:srgbClr val="E77F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5" name="椭圆 84"/>
              <p:cNvSpPr/>
              <p:nvPr/>
            </p:nvSpPr>
            <p:spPr>
              <a:xfrm>
                <a:off x="17045" y="-3348"/>
                <a:ext cx="375" cy="375"/>
              </a:xfrm>
              <a:prstGeom prst="ellipse">
                <a:avLst/>
              </a:prstGeom>
              <a:solidFill>
                <a:srgbClr val="F9BA8B"/>
              </a:solidFill>
              <a:ln>
                <a:solidFill>
                  <a:srgbClr val="E77F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6" name="椭圆 85"/>
              <p:cNvSpPr/>
              <p:nvPr/>
            </p:nvSpPr>
            <p:spPr>
              <a:xfrm>
                <a:off x="17045" y="-2826"/>
                <a:ext cx="375" cy="375"/>
              </a:xfrm>
              <a:prstGeom prst="ellipse">
                <a:avLst/>
              </a:prstGeom>
              <a:solidFill>
                <a:srgbClr val="F9BA8B"/>
              </a:solidFill>
              <a:ln>
                <a:solidFill>
                  <a:srgbClr val="E77F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7" name="椭圆 86"/>
              <p:cNvSpPr/>
              <p:nvPr/>
            </p:nvSpPr>
            <p:spPr>
              <a:xfrm>
                <a:off x="17045" y="-2291"/>
                <a:ext cx="375" cy="375"/>
              </a:xfrm>
              <a:prstGeom prst="ellipse">
                <a:avLst/>
              </a:prstGeom>
              <a:solidFill>
                <a:srgbClr val="F9BA8B"/>
              </a:solidFill>
              <a:ln>
                <a:solidFill>
                  <a:srgbClr val="E77F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8" name="椭圆 87"/>
              <p:cNvSpPr/>
              <p:nvPr/>
            </p:nvSpPr>
            <p:spPr>
              <a:xfrm>
                <a:off x="17045" y="-1773"/>
                <a:ext cx="375" cy="375"/>
              </a:xfrm>
              <a:prstGeom prst="ellipse">
                <a:avLst/>
              </a:prstGeom>
              <a:solidFill>
                <a:srgbClr val="F9BA8B"/>
              </a:solidFill>
              <a:ln>
                <a:solidFill>
                  <a:srgbClr val="E77F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89" name="直接箭头连接符 88"/>
            <p:cNvCxnSpPr/>
            <p:nvPr/>
          </p:nvCxnSpPr>
          <p:spPr>
            <a:xfrm flipV="1">
              <a:off x="7576" y="5832"/>
              <a:ext cx="947" cy="2"/>
            </a:xfrm>
            <a:prstGeom prst="straightConnector1">
              <a:avLst/>
            </a:prstGeom>
            <a:ln w="38100">
              <a:solidFill>
                <a:schemeClr val="tx1"/>
              </a:solidFill>
              <a:tailEnd type="triangle"/>
            </a:ln>
          </p:spPr>
          <p:style>
            <a:lnRef idx="2">
              <a:schemeClr val="accent1"/>
            </a:lnRef>
            <a:fillRef idx="0">
              <a:srgbClr val="FFFFFF"/>
            </a:fillRef>
            <a:effectRef idx="0">
              <a:srgbClr val="FFFFFF"/>
            </a:effectRef>
            <a:fontRef idx="minor">
              <a:schemeClr val="tx1"/>
            </a:fontRef>
          </p:style>
        </p:cxnSp>
        <p:cxnSp>
          <p:nvCxnSpPr>
            <p:cNvPr id="90" name="直接箭头连接符 89"/>
            <p:cNvCxnSpPr/>
            <p:nvPr/>
          </p:nvCxnSpPr>
          <p:spPr>
            <a:xfrm flipH="1" flipV="1">
              <a:off x="7555" y="6079"/>
              <a:ext cx="968" cy="3"/>
            </a:xfrm>
            <a:prstGeom prst="straightConnector1">
              <a:avLst/>
            </a:prstGeom>
            <a:ln w="38100">
              <a:solidFill>
                <a:schemeClr val="tx1"/>
              </a:solidFill>
              <a:tailEnd type="triangle"/>
            </a:ln>
          </p:spPr>
          <p:style>
            <a:lnRef idx="2">
              <a:schemeClr val="accent1"/>
            </a:lnRef>
            <a:fillRef idx="0">
              <a:srgbClr val="FFFFFF"/>
            </a:fillRef>
            <a:effectRef idx="0">
              <a:srgbClr val="FFFFFF"/>
            </a:effectRef>
            <a:fontRef idx="minor">
              <a:schemeClr val="tx1"/>
            </a:fontRef>
          </p:style>
        </p:cxnSp>
        <p:cxnSp>
          <p:nvCxnSpPr>
            <p:cNvPr id="92" name="直接箭头连接符 91"/>
            <p:cNvCxnSpPr/>
            <p:nvPr/>
          </p:nvCxnSpPr>
          <p:spPr>
            <a:xfrm flipV="1">
              <a:off x="7151" y="4579"/>
              <a:ext cx="3" cy="764"/>
            </a:xfrm>
            <a:prstGeom prst="straightConnector1">
              <a:avLst/>
            </a:prstGeom>
            <a:ln w="38100">
              <a:solidFill>
                <a:schemeClr val="tx1"/>
              </a:solidFill>
              <a:tailEnd type="triangle"/>
            </a:ln>
          </p:spPr>
          <p:style>
            <a:lnRef idx="2">
              <a:schemeClr val="accent1"/>
            </a:lnRef>
            <a:fillRef idx="0">
              <a:srgbClr val="FFFFFF"/>
            </a:fillRef>
            <a:effectRef idx="0">
              <a:srgbClr val="FFFFFF"/>
            </a:effectRef>
            <a:fontRef idx="minor">
              <a:schemeClr val="tx1"/>
            </a:fontRef>
          </p:style>
        </p:cxnSp>
        <p:cxnSp>
          <p:nvCxnSpPr>
            <p:cNvPr id="93" name="直接箭头连接符 92"/>
            <p:cNvCxnSpPr/>
            <p:nvPr/>
          </p:nvCxnSpPr>
          <p:spPr>
            <a:xfrm flipV="1">
              <a:off x="9037" y="4579"/>
              <a:ext cx="3" cy="764"/>
            </a:xfrm>
            <a:prstGeom prst="straightConnector1">
              <a:avLst/>
            </a:prstGeom>
            <a:ln w="38100">
              <a:solidFill>
                <a:schemeClr val="tx1"/>
              </a:solidFill>
              <a:tailEnd type="triangle"/>
            </a:ln>
          </p:spPr>
          <p:style>
            <a:lnRef idx="2">
              <a:schemeClr val="accent1"/>
            </a:lnRef>
            <a:fillRef idx="0">
              <a:srgbClr val="FFFFFF"/>
            </a:fillRef>
            <a:effectRef idx="0">
              <a:srgbClr val="FFFFFF"/>
            </a:effectRef>
            <a:fontRef idx="minor">
              <a:schemeClr val="tx1"/>
            </a:fontRef>
          </p:style>
        </p:cxnSp>
        <p:pic>
          <p:nvPicPr>
            <p:cNvPr id="94" name="图片 93" descr="water-tower"/>
            <p:cNvPicPr>
              <a:picLocks noChangeAspect="1"/>
            </p:cNvPicPr>
            <p:nvPr/>
          </p:nvPicPr>
          <p:blipFill>
            <a:blip r:embed="rId15"/>
            <a:stretch>
              <a:fillRect/>
            </a:stretch>
          </p:blipFill>
          <p:spPr>
            <a:xfrm>
              <a:off x="6705" y="7257"/>
              <a:ext cx="971" cy="971"/>
            </a:xfrm>
            <a:prstGeom prst="rect">
              <a:avLst/>
            </a:prstGeom>
          </p:spPr>
        </p:pic>
        <p:pic>
          <p:nvPicPr>
            <p:cNvPr id="95" name="图片 94" descr="water-tower"/>
            <p:cNvPicPr>
              <a:picLocks noChangeAspect="1"/>
            </p:cNvPicPr>
            <p:nvPr/>
          </p:nvPicPr>
          <p:blipFill>
            <a:blip r:embed="rId15"/>
            <a:stretch>
              <a:fillRect/>
            </a:stretch>
          </p:blipFill>
          <p:spPr>
            <a:xfrm>
              <a:off x="8523" y="7242"/>
              <a:ext cx="971" cy="971"/>
            </a:xfrm>
            <a:prstGeom prst="rect">
              <a:avLst/>
            </a:prstGeom>
          </p:spPr>
        </p:pic>
        <p:cxnSp>
          <p:nvCxnSpPr>
            <p:cNvPr id="96" name="直接箭头连接符 95"/>
            <p:cNvCxnSpPr/>
            <p:nvPr/>
          </p:nvCxnSpPr>
          <p:spPr>
            <a:xfrm flipV="1">
              <a:off x="7173" y="6844"/>
              <a:ext cx="2" cy="302"/>
            </a:xfrm>
            <a:prstGeom prst="straightConnector1">
              <a:avLst/>
            </a:prstGeom>
            <a:ln w="38100">
              <a:solidFill>
                <a:schemeClr val="tx1"/>
              </a:solidFill>
              <a:tailEnd type="triangle"/>
            </a:ln>
          </p:spPr>
          <p:style>
            <a:lnRef idx="2">
              <a:schemeClr val="accent1"/>
            </a:lnRef>
            <a:fillRef idx="0">
              <a:srgbClr val="FFFFFF"/>
            </a:fillRef>
            <a:effectRef idx="0">
              <a:srgbClr val="FFFFFF"/>
            </a:effectRef>
            <a:fontRef idx="minor">
              <a:schemeClr val="tx1"/>
            </a:fontRef>
          </p:style>
        </p:cxnSp>
        <p:cxnSp>
          <p:nvCxnSpPr>
            <p:cNvPr id="97" name="直接箭头连接符 96"/>
            <p:cNvCxnSpPr/>
            <p:nvPr/>
          </p:nvCxnSpPr>
          <p:spPr>
            <a:xfrm flipV="1">
              <a:off x="9035" y="6844"/>
              <a:ext cx="2" cy="302"/>
            </a:xfrm>
            <a:prstGeom prst="straightConnector1">
              <a:avLst/>
            </a:prstGeom>
            <a:ln w="38100">
              <a:solidFill>
                <a:schemeClr val="tx1"/>
              </a:solidFill>
              <a:tailEnd type="triangle"/>
            </a:ln>
          </p:spPr>
          <p:style>
            <a:lnRef idx="2">
              <a:schemeClr val="accent1"/>
            </a:lnRef>
            <a:fillRef idx="0">
              <a:srgbClr val="FFFFFF"/>
            </a:fillRef>
            <a:effectRef idx="0">
              <a:srgbClr val="FFFFFF"/>
            </a:effectRef>
            <a:fontRef idx="minor">
              <a:schemeClr val="tx1"/>
            </a:fontRef>
          </p:style>
        </p:cxnSp>
        <p:sp>
          <p:nvSpPr>
            <p:cNvPr id="98" name="文本框 97"/>
            <p:cNvSpPr txBox="1"/>
            <p:nvPr/>
          </p:nvSpPr>
          <p:spPr>
            <a:xfrm>
              <a:off x="6565" y="8213"/>
              <a:ext cx="1333" cy="899"/>
            </a:xfrm>
            <a:prstGeom prst="rect">
              <a:avLst/>
            </a:prstGeom>
            <a:noFill/>
          </p:spPr>
          <p:txBody>
            <a:bodyPr wrap="square" rtlCol="0">
              <a:spAutoFit/>
            </a:bodyPr>
            <a:p>
              <a:pPr algn="ctr">
                <a:lnSpc>
                  <a:spcPct val="130000"/>
                </a:lnSpc>
              </a:pPr>
              <a:r>
                <a:rPr lang="zh-CN" altLang="en-US" sz="1200" b="1" dirty="0" smtClean="0">
                  <a:latin typeface="Arial" panose="020B0604020202020204" pitchFamily="34" charset="0"/>
                  <a:ea typeface="微软雅黑" panose="020B0503020204020204" pitchFamily="34" charset="-122"/>
                </a:rPr>
                <a:t>时序认知编码器</a:t>
              </a:r>
              <a:endParaRPr lang="zh-CN" altLang="en-US" sz="1200" b="1" dirty="0" smtClean="0">
                <a:latin typeface="Arial" panose="020B0604020202020204" pitchFamily="34" charset="0"/>
                <a:ea typeface="微软雅黑" panose="020B0503020204020204" pitchFamily="34" charset="-122"/>
              </a:endParaRPr>
            </a:p>
          </p:txBody>
        </p:sp>
        <p:sp>
          <p:nvSpPr>
            <p:cNvPr id="99" name="文本框 98"/>
            <p:cNvSpPr txBox="1"/>
            <p:nvPr/>
          </p:nvSpPr>
          <p:spPr>
            <a:xfrm>
              <a:off x="8370" y="8228"/>
              <a:ext cx="1214" cy="1089"/>
            </a:xfrm>
            <a:prstGeom prst="rect">
              <a:avLst/>
            </a:prstGeom>
            <a:noFill/>
          </p:spPr>
          <p:txBody>
            <a:bodyPr wrap="square" rtlCol="0">
              <a:spAutoFit/>
            </a:bodyPr>
            <a:p>
              <a:pPr algn="ctr">
                <a:lnSpc>
                  <a:spcPct val="130000"/>
                </a:lnSpc>
              </a:pPr>
              <a:r>
                <a:rPr lang="zh-CN" altLang="en-US" sz="1000" b="1" dirty="0" smtClean="0">
                  <a:latin typeface="Arial" panose="020B0604020202020204" pitchFamily="34" charset="0"/>
                  <a:ea typeface="微软雅黑" panose="020B0503020204020204" pitchFamily="34" charset="-122"/>
                </a:rPr>
                <a:t>语义感知代码编码器</a:t>
              </a:r>
              <a:endParaRPr lang="zh-CN" altLang="en-US" sz="1000" b="1" dirty="0" smtClean="0">
                <a:latin typeface="Arial" panose="020B0604020202020204" pitchFamily="34" charset="0"/>
                <a:ea typeface="微软雅黑" panose="020B0503020204020204" pitchFamily="34" charset="-122"/>
              </a:endParaRPr>
            </a:p>
          </p:txBody>
        </p:sp>
        <p:sp>
          <p:nvSpPr>
            <p:cNvPr id="100" name="右箭头 99"/>
            <p:cNvSpPr/>
            <p:nvPr/>
          </p:nvSpPr>
          <p:spPr>
            <a:xfrm>
              <a:off x="9428" y="4038"/>
              <a:ext cx="573" cy="578"/>
            </a:xfrm>
            <a:prstGeom prst="rightArrow">
              <a:avLst/>
            </a:prstGeom>
            <a:solidFill>
              <a:srgbClr val="EA863D"/>
            </a:solidFill>
            <a:ln>
              <a:solidFill>
                <a:srgbClr val="EA863D"/>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102" name="直接箭头连接符 101"/>
            <p:cNvCxnSpPr>
              <a:stCxn id="65" idx="3"/>
            </p:cNvCxnSpPr>
            <p:nvPr/>
          </p:nvCxnSpPr>
          <p:spPr>
            <a:xfrm>
              <a:off x="6475" y="6318"/>
              <a:ext cx="407" cy="2"/>
            </a:xfrm>
            <a:prstGeom prst="straightConnector1">
              <a:avLst/>
            </a:prstGeom>
            <a:ln w="38100">
              <a:solidFill>
                <a:schemeClr val="tx1"/>
              </a:solidFill>
              <a:tailEnd type="triangle"/>
            </a:ln>
          </p:spPr>
          <p:style>
            <a:lnRef idx="2">
              <a:schemeClr val="accent1"/>
            </a:lnRef>
            <a:fillRef idx="0">
              <a:srgbClr val="FFFFFF"/>
            </a:fillRef>
            <a:effectRef idx="0">
              <a:srgbClr val="FFFFFF"/>
            </a:effectRef>
            <a:fontRef idx="minor">
              <a:schemeClr val="tx1"/>
            </a:fontRef>
          </p:style>
        </p:cxnSp>
        <p:sp>
          <p:nvSpPr>
            <p:cNvPr id="104" name="文本框 103"/>
            <p:cNvSpPr txBox="1"/>
            <p:nvPr/>
          </p:nvSpPr>
          <p:spPr>
            <a:xfrm>
              <a:off x="4035" y="8125"/>
              <a:ext cx="1782" cy="899"/>
            </a:xfrm>
            <a:prstGeom prst="rect">
              <a:avLst/>
            </a:prstGeom>
            <a:noFill/>
          </p:spPr>
          <p:txBody>
            <a:bodyPr wrap="square" rtlCol="0">
              <a:spAutoFit/>
            </a:bodyPr>
            <a:p>
              <a:pPr algn="ctr">
                <a:lnSpc>
                  <a:spcPct val="130000"/>
                </a:lnSpc>
              </a:pPr>
              <a:r>
                <a:rPr lang="en-US" altLang="zh-CN" sz="1200" b="1" dirty="0" smtClean="0">
                  <a:latin typeface="Arial" panose="020B0604020202020204" pitchFamily="34" charset="0"/>
                  <a:ea typeface="微软雅黑" panose="020B0503020204020204" pitchFamily="34" charset="-122"/>
                </a:rPr>
                <a:t>DKT</a:t>
              </a:r>
              <a:r>
                <a:rPr lang="zh-CN" altLang="en-US" sz="1200" b="1" dirty="0" smtClean="0">
                  <a:latin typeface="Arial" panose="020B0604020202020204" pitchFamily="34" charset="0"/>
                  <a:ea typeface="微软雅黑" panose="020B0503020204020204" pitchFamily="34" charset="-122"/>
                </a:rPr>
                <a:t>知识建模</a:t>
              </a:r>
              <a:r>
                <a:rPr lang="en-US" altLang="zh-CN" sz="1200" b="1" dirty="0" smtClean="0">
                  <a:latin typeface="Arial" panose="020B0604020202020204" pitchFamily="34" charset="0"/>
                  <a:ea typeface="微软雅黑" panose="020B0503020204020204" pitchFamily="34" charset="-122"/>
                </a:rPr>
                <a:t> -&gt; </a:t>
              </a:r>
              <a:r>
                <a:rPr lang="zh-CN" altLang="en-US" sz="1200" b="1" dirty="0" smtClean="0">
                  <a:latin typeface="Arial" panose="020B0604020202020204" pitchFamily="34" charset="0"/>
                  <a:ea typeface="微软雅黑" panose="020B0503020204020204" pitchFamily="34" charset="-122"/>
                </a:rPr>
                <a:t>认知向量</a:t>
              </a:r>
              <a:endParaRPr lang="zh-CN" altLang="en-US" sz="1200" b="1" dirty="0" smtClean="0">
                <a:latin typeface="Arial" panose="020B0604020202020204" pitchFamily="34" charset="0"/>
                <a:ea typeface="微软雅黑" panose="020B0503020204020204" pitchFamily="34" charset="-122"/>
              </a:endParaRPr>
            </a:p>
          </p:txBody>
        </p:sp>
        <p:pic>
          <p:nvPicPr>
            <p:cNvPr id="105" name="图片 104"/>
            <p:cNvPicPr/>
            <p:nvPr/>
          </p:nvPicPr>
          <p:blipFill>
            <a:blip r:embed="rId16"/>
            <a:stretch>
              <a:fillRect/>
            </a:stretch>
          </p:blipFill>
          <p:spPr>
            <a:xfrm>
              <a:off x="4202" y="6946"/>
              <a:ext cx="1392" cy="1392"/>
            </a:xfrm>
            <a:prstGeom prst="rect">
              <a:avLst/>
            </a:prstGeom>
          </p:spPr>
        </p:pic>
        <p:cxnSp>
          <p:nvCxnSpPr>
            <p:cNvPr id="107" name="肘形连接符 106"/>
            <p:cNvCxnSpPr>
              <a:stCxn id="38" idx="3"/>
              <a:endCxn id="65" idx="0"/>
            </p:cNvCxnSpPr>
            <p:nvPr/>
          </p:nvCxnSpPr>
          <p:spPr>
            <a:xfrm>
              <a:off x="5843" y="4852"/>
              <a:ext cx="374" cy="367"/>
            </a:xfrm>
            <a:prstGeom prst="bentConnector2">
              <a:avLst/>
            </a:prstGeom>
            <a:ln w="38100">
              <a:solidFill>
                <a:schemeClr val="tx1"/>
              </a:solidFill>
              <a:tailEnd type="triangle"/>
            </a:ln>
          </p:spPr>
          <p:style>
            <a:lnRef idx="2">
              <a:schemeClr val="accent1"/>
            </a:lnRef>
            <a:fillRef idx="0">
              <a:srgbClr val="FFFFFF"/>
            </a:fillRef>
            <a:effectRef idx="0">
              <a:srgbClr val="FFFFFF"/>
            </a:effectRef>
            <a:fontRef idx="minor">
              <a:schemeClr val="tx1"/>
            </a:fontRef>
          </p:style>
        </p:cxnSp>
        <p:cxnSp>
          <p:nvCxnSpPr>
            <p:cNvPr id="108" name="肘形连接符 107"/>
            <p:cNvCxnSpPr>
              <a:stCxn id="104" idx="3"/>
              <a:endCxn id="65" idx="2"/>
            </p:cNvCxnSpPr>
            <p:nvPr/>
          </p:nvCxnSpPr>
          <p:spPr>
            <a:xfrm flipV="1">
              <a:off x="5817" y="7416"/>
              <a:ext cx="400" cy="1159"/>
            </a:xfrm>
            <a:prstGeom prst="bentConnector2">
              <a:avLst/>
            </a:prstGeom>
            <a:ln w="38100">
              <a:solidFill>
                <a:schemeClr val="tx1"/>
              </a:solidFill>
              <a:tailEnd type="triangle"/>
            </a:ln>
          </p:spPr>
          <p:style>
            <a:lnRef idx="2">
              <a:schemeClr val="accent1"/>
            </a:lnRef>
            <a:fillRef idx="0">
              <a:srgbClr val="FFFFFF"/>
            </a:fillRef>
            <a:effectRef idx="0">
              <a:srgbClr val="FFFFFF"/>
            </a:effectRef>
            <a:fontRef idx="minor">
              <a:schemeClr val="tx1"/>
            </a:fontRef>
          </p:style>
        </p:cxnSp>
        <p:sp>
          <p:nvSpPr>
            <p:cNvPr id="110" name="文本框 109"/>
            <p:cNvSpPr txBox="1"/>
            <p:nvPr/>
          </p:nvSpPr>
          <p:spPr>
            <a:xfrm>
              <a:off x="4035" y="4957"/>
              <a:ext cx="1782" cy="899"/>
            </a:xfrm>
            <a:prstGeom prst="rect">
              <a:avLst/>
            </a:prstGeom>
            <a:noFill/>
          </p:spPr>
          <p:txBody>
            <a:bodyPr wrap="square" rtlCol="0">
              <a:spAutoFit/>
            </a:bodyPr>
            <a:p>
              <a:pPr algn="ctr">
                <a:lnSpc>
                  <a:spcPct val="130000"/>
                </a:lnSpc>
              </a:pPr>
              <a:r>
                <a:rPr lang="zh-CN" altLang="en-US" sz="1200" b="1" dirty="0" smtClean="0">
                  <a:latin typeface="Arial" panose="020B0604020202020204" pitchFamily="34" charset="0"/>
                  <a:ea typeface="微软雅黑" panose="020B0503020204020204" pitchFamily="34" charset="-122"/>
                </a:rPr>
                <a:t>纵向</a:t>
              </a:r>
              <a:r>
                <a:rPr lang="zh-CN" altLang="en-US" sz="1200" b="1" dirty="0" smtClean="0">
                  <a:latin typeface="Arial" panose="020B0604020202020204" pitchFamily="34" charset="0"/>
                  <a:ea typeface="微软雅黑" panose="020B0503020204020204" pitchFamily="34" charset="-122"/>
                </a:rPr>
                <a:t>轨迹挖掘</a:t>
              </a:r>
              <a:r>
                <a:rPr lang="en-US" altLang="zh-CN" sz="1200" b="1" dirty="0" smtClean="0">
                  <a:latin typeface="Arial" panose="020B0604020202020204" pitchFamily="34" charset="0"/>
                  <a:ea typeface="微软雅黑" panose="020B0503020204020204" pitchFamily="34" charset="-122"/>
                </a:rPr>
                <a:t>-&gt;</a:t>
              </a:r>
              <a:r>
                <a:rPr lang="zh-CN" altLang="en-US" sz="1200" b="1" dirty="0" smtClean="0">
                  <a:latin typeface="Arial" panose="020B0604020202020204" pitchFamily="34" charset="0"/>
                  <a:ea typeface="微软雅黑" panose="020B0503020204020204" pitchFamily="34" charset="-122"/>
                </a:rPr>
                <a:t>行为</a:t>
              </a:r>
              <a:r>
                <a:rPr lang="zh-CN" altLang="en-US" sz="1200" b="1" dirty="0" smtClean="0">
                  <a:latin typeface="Arial" panose="020B0604020202020204" pitchFamily="34" charset="0"/>
                  <a:ea typeface="微软雅黑" panose="020B0503020204020204" pitchFamily="34" charset="-122"/>
                </a:rPr>
                <a:t>向量</a:t>
              </a:r>
              <a:endParaRPr lang="zh-CN" altLang="en-US" sz="1200" b="1" dirty="0" smtClean="0">
                <a:latin typeface="Arial" panose="020B0604020202020204" pitchFamily="34" charset="0"/>
                <a:ea typeface="微软雅黑" panose="020B0503020204020204" pitchFamily="34" charset="-122"/>
              </a:endParaRPr>
            </a:p>
          </p:txBody>
        </p:sp>
        <p:pic>
          <p:nvPicPr>
            <p:cNvPr id="111" name="图片 110"/>
            <p:cNvPicPr/>
            <p:nvPr/>
          </p:nvPicPr>
          <p:blipFill>
            <a:blip r:embed="rId17"/>
            <a:stretch>
              <a:fillRect/>
            </a:stretch>
          </p:blipFill>
          <p:spPr>
            <a:xfrm>
              <a:off x="4202" y="4107"/>
              <a:ext cx="594" cy="594"/>
            </a:xfrm>
            <a:prstGeom prst="rect">
              <a:avLst/>
            </a:prstGeom>
          </p:spPr>
        </p:pic>
        <p:pic>
          <p:nvPicPr>
            <p:cNvPr id="112" name="图片 111"/>
            <p:cNvPicPr/>
            <p:nvPr/>
          </p:nvPicPr>
          <p:blipFill>
            <a:blip r:embed="rId18"/>
            <a:stretch>
              <a:fillRect/>
            </a:stretch>
          </p:blipFill>
          <p:spPr>
            <a:xfrm>
              <a:off x="4970" y="4037"/>
              <a:ext cx="709" cy="709"/>
            </a:xfrm>
            <a:prstGeom prst="rect">
              <a:avLst/>
            </a:prstGeom>
          </p:spPr>
        </p:pic>
        <p:pic>
          <p:nvPicPr>
            <p:cNvPr id="114" name="图片 113"/>
            <p:cNvPicPr/>
            <p:nvPr/>
          </p:nvPicPr>
          <p:blipFill>
            <a:blip r:embed="rId19"/>
            <a:stretch>
              <a:fillRect/>
            </a:stretch>
          </p:blipFill>
          <p:spPr>
            <a:xfrm>
              <a:off x="1252" y="2841"/>
              <a:ext cx="1392" cy="1392"/>
            </a:xfrm>
            <a:prstGeom prst="rect">
              <a:avLst/>
            </a:prstGeom>
          </p:spPr>
        </p:pic>
        <p:sp>
          <p:nvSpPr>
            <p:cNvPr id="116" name="文本框 115"/>
            <p:cNvSpPr txBox="1"/>
            <p:nvPr/>
          </p:nvSpPr>
          <p:spPr>
            <a:xfrm>
              <a:off x="1222" y="4268"/>
              <a:ext cx="1482" cy="584"/>
            </a:xfrm>
            <a:prstGeom prst="rect">
              <a:avLst/>
            </a:prstGeom>
            <a:noFill/>
          </p:spPr>
          <p:txBody>
            <a:bodyPr wrap="square" rtlCol="0">
              <a:spAutoFit/>
            </a:bodyPr>
            <a:p>
              <a:pPr>
                <a:lnSpc>
                  <a:spcPct val="130000"/>
                </a:lnSpc>
              </a:pPr>
              <a:r>
                <a:rPr lang="en-US" altLang="zh-CN" sz="1400" b="1" dirty="0" smtClean="0">
                  <a:latin typeface="Arial" panose="020B0604020202020204" pitchFamily="34" charset="0"/>
                  <a:ea typeface="微软雅黑" panose="020B0503020204020204" pitchFamily="34" charset="-122"/>
                </a:rPr>
                <a:t>Datasets</a:t>
              </a:r>
              <a:endParaRPr lang="en-US" altLang="zh-CN" sz="1400" b="1" dirty="0" smtClean="0">
                <a:latin typeface="Arial" panose="020B0604020202020204" pitchFamily="34" charset="0"/>
                <a:ea typeface="微软雅黑" panose="020B0503020204020204" pitchFamily="34" charset="-122"/>
              </a:endParaRPr>
            </a:p>
          </p:txBody>
        </p:sp>
        <p:sp>
          <p:nvSpPr>
            <p:cNvPr id="117" name="文本框 116"/>
            <p:cNvSpPr txBox="1"/>
            <p:nvPr/>
          </p:nvSpPr>
          <p:spPr>
            <a:xfrm>
              <a:off x="1252" y="5248"/>
              <a:ext cx="1482" cy="584"/>
            </a:xfrm>
            <a:prstGeom prst="rect">
              <a:avLst/>
            </a:prstGeom>
            <a:noFill/>
          </p:spPr>
          <p:txBody>
            <a:bodyPr wrap="square" rtlCol="0">
              <a:spAutoFit/>
            </a:bodyPr>
            <a:p>
              <a:pPr>
                <a:lnSpc>
                  <a:spcPct val="130000"/>
                </a:lnSpc>
              </a:pPr>
              <a:r>
                <a:rPr lang="zh-CN" altLang="en-US" sz="1400" b="1" dirty="0" smtClean="0">
                  <a:latin typeface="Arial" panose="020B0604020202020204" pitchFamily="34" charset="0"/>
                  <a:ea typeface="微软雅黑" panose="020B0503020204020204" pitchFamily="34" charset="-122"/>
                </a:rPr>
                <a:t>提交</a:t>
              </a:r>
              <a:r>
                <a:rPr lang="zh-CN" altLang="en-US" sz="1400" b="1" dirty="0" smtClean="0">
                  <a:latin typeface="Arial" panose="020B0604020202020204" pitchFamily="34" charset="0"/>
                  <a:ea typeface="微软雅黑" panose="020B0503020204020204" pitchFamily="34" charset="-122"/>
                </a:rPr>
                <a:t>序列</a:t>
              </a:r>
              <a:endParaRPr lang="zh-CN" altLang="en-US" sz="1400" b="1" dirty="0" smtClean="0">
                <a:latin typeface="Arial" panose="020B0604020202020204" pitchFamily="34" charset="0"/>
                <a:ea typeface="微软雅黑" panose="020B0503020204020204" pitchFamily="34" charset="-122"/>
              </a:endParaRPr>
            </a:p>
          </p:txBody>
        </p:sp>
        <p:sp>
          <p:nvSpPr>
            <p:cNvPr id="126" name="文本框 125"/>
            <p:cNvSpPr txBox="1"/>
            <p:nvPr/>
          </p:nvSpPr>
          <p:spPr>
            <a:xfrm>
              <a:off x="1409" y="6405"/>
              <a:ext cx="1482" cy="584"/>
            </a:xfrm>
            <a:prstGeom prst="rect">
              <a:avLst/>
            </a:prstGeom>
            <a:noFill/>
          </p:spPr>
          <p:txBody>
            <a:bodyPr wrap="square" rtlCol="0">
              <a:spAutoFit/>
            </a:bodyPr>
            <a:p>
              <a:pPr>
                <a:lnSpc>
                  <a:spcPct val="130000"/>
                </a:lnSpc>
              </a:pPr>
              <a:r>
                <a:rPr lang="zh-CN" altLang="en-US" sz="1400" b="1" dirty="0" smtClean="0">
                  <a:latin typeface="Arial" panose="020B0604020202020204" pitchFamily="34" charset="0"/>
                  <a:ea typeface="微软雅黑" panose="020B0503020204020204" pitchFamily="34" charset="-122"/>
                </a:rPr>
                <a:t>时间戳</a:t>
              </a:r>
              <a:endParaRPr lang="zh-CN" altLang="en-US" sz="1400" b="1" dirty="0" smtClean="0">
                <a:latin typeface="Arial" panose="020B0604020202020204" pitchFamily="34" charset="0"/>
                <a:ea typeface="微软雅黑" panose="020B0503020204020204" pitchFamily="34" charset="-122"/>
              </a:endParaRPr>
            </a:p>
          </p:txBody>
        </p:sp>
        <p:sp>
          <p:nvSpPr>
            <p:cNvPr id="127" name="文本框 126"/>
            <p:cNvSpPr txBox="1"/>
            <p:nvPr/>
          </p:nvSpPr>
          <p:spPr>
            <a:xfrm>
              <a:off x="1297" y="7674"/>
              <a:ext cx="1482" cy="584"/>
            </a:xfrm>
            <a:prstGeom prst="rect">
              <a:avLst/>
            </a:prstGeom>
            <a:noFill/>
          </p:spPr>
          <p:txBody>
            <a:bodyPr wrap="square" rtlCol="0">
              <a:spAutoFit/>
            </a:bodyPr>
            <a:p>
              <a:pPr>
                <a:lnSpc>
                  <a:spcPct val="130000"/>
                </a:lnSpc>
              </a:pPr>
              <a:r>
                <a:rPr lang="zh-CN" altLang="en-US" sz="1400" b="1" dirty="0" smtClean="0">
                  <a:latin typeface="Arial" panose="020B0604020202020204" pitchFamily="34" charset="0"/>
                  <a:ea typeface="微软雅黑" panose="020B0503020204020204" pitchFamily="34" charset="-122"/>
                </a:rPr>
                <a:t>代码</a:t>
              </a:r>
              <a:r>
                <a:rPr lang="zh-CN" altLang="en-US" sz="1400" b="1" dirty="0" smtClean="0">
                  <a:latin typeface="Arial" panose="020B0604020202020204" pitchFamily="34" charset="0"/>
                  <a:ea typeface="微软雅黑" panose="020B0503020204020204" pitchFamily="34" charset="-122"/>
                </a:rPr>
                <a:t>快照</a:t>
              </a:r>
              <a:endParaRPr lang="zh-CN" altLang="en-US" sz="1400" b="1" dirty="0" smtClean="0">
                <a:latin typeface="Arial" panose="020B0604020202020204" pitchFamily="34" charset="0"/>
                <a:ea typeface="微软雅黑" panose="020B0503020204020204" pitchFamily="34" charset="-122"/>
              </a:endParaRPr>
            </a:p>
          </p:txBody>
        </p:sp>
        <p:sp>
          <p:nvSpPr>
            <p:cNvPr id="128" name="文本框 127"/>
            <p:cNvSpPr txBox="1"/>
            <p:nvPr/>
          </p:nvSpPr>
          <p:spPr>
            <a:xfrm>
              <a:off x="1409" y="8749"/>
              <a:ext cx="1482" cy="584"/>
            </a:xfrm>
            <a:prstGeom prst="rect">
              <a:avLst/>
            </a:prstGeom>
            <a:noFill/>
          </p:spPr>
          <p:txBody>
            <a:bodyPr wrap="square" rtlCol="0">
              <a:spAutoFit/>
            </a:bodyPr>
            <a:p>
              <a:pPr>
                <a:lnSpc>
                  <a:spcPct val="130000"/>
                </a:lnSpc>
              </a:pPr>
              <a:r>
                <a:rPr lang="zh-CN" altLang="en-US" sz="1400" b="1" dirty="0" smtClean="0">
                  <a:latin typeface="Arial" panose="020B0604020202020204" pitchFamily="34" charset="0"/>
                  <a:ea typeface="微软雅黑" panose="020B0503020204020204" pitchFamily="34" charset="-122"/>
                </a:rPr>
                <a:t>状态码</a:t>
              </a:r>
              <a:endParaRPr lang="zh-CN" altLang="en-US" sz="1400" b="1" dirty="0" smtClean="0">
                <a:latin typeface="Arial" panose="020B0604020202020204" pitchFamily="34" charset="0"/>
                <a:ea typeface="微软雅黑" panose="020B0503020204020204" pitchFamily="34" charset="-122"/>
              </a:endParaRPr>
            </a:p>
          </p:txBody>
        </p:sp>
        <p:pic>
          <p:nvPicPr>
            <p:cNvPr id="129" name="图片 128"/>
            <p:cNvPicPr/>
            <p:nvPr/>
          </p:nvPicPr>
          <p:blipFill>
            <a:blip r:embed="rId17"/>
            <a:stretch>
              <a:fillRect/>
            </a:stretch>
          </p:blipFill>
          <p:spPr>
            <a:xfrm>
              <a:off x="1696" y="5856"/>
              <a:ext cx="594" cy="594"/>
            </a:xfrm>
            <a:prstGeom prst="rect">
              <a:avLst/>
            </a:prstGeom>
          </p:spPr>
        </p:pic>
        <p:pic>
          <p:nvPicPr>
            <p:cNvPr id="130" name="图片 129"/>
            <p:cNvPicPr/>
            <p:nvPr/>
          </p:nvPicPr>
          <p:blipFill>
            <a:blip r:embed="rId20"/>
            <a:stretch>
              <a:fillRect/>
            </a:stretch>
          </p:blipFill>
          <p:spPr>
            <a:xfrm>
              <a:off x="1651" y="6976"/>
              <a:ext cx="773" cy="773"/>
            </a:xfrm>
            <a:prstGeom prst="rect">
              <a:avLst/>
            </a:prstGeom>
          </p:spPr>
        </p:pic>
        <p:pic>
          <p:nvPicPr>
            <p:cNvPr id="131" name="图片 130"/>
            <p:cNvPicPr/>
            <p:nvPr/>
          </p:nvPicPr>
          <p:blipFill>
            <a:blip r:embed="rId21"/>
            <a:stretch>
              <a:fillRect/>
            </a:stretch>
          </p:blipFill>
          <p:spPr>
            <a:xfrm>
              <a:off x="1666" y="8228"/>
              <a:ext cx="699" cy="699"/>
            </a:xfrm>
            <a:prstGeom prst="rect">
              <a:avLst/>
            </a:prstGeom>
          </p:spPr>
        </p:pic>
        <p:sp>
          <p:nvSpPr>
            <p:cNvPr id="134" name="右箭头 133"/>
            <p:cNvSpPr/>
            <p:nvPr/>
          </p:nvSpPr>
          <p:spPr>
            <a:xfrm>
              <a:off x="3153" y="5333"/>
              <a:ext cx="579" cy="889"/>
            </a:xfrm>
            <a:prstGeom prst="rightArrow">
              <a:avLst/>
            </a:prstGeom>
            <a:solidFill>
              <a:srgbClr val="3475B5"/>
            </a:solidFill>
            <a:ln>
              <a:solidFill>
                <a:srgbClr val="3475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46"/>
          <p:cNvSpPr>
            <a:spLocks noChangeArrowheads="1"/>
          </p:cNvSpPr>
          <p:nvPr/>
        </p:nvSpPr>
        <p:spPr bwMode="auto">
          <a:xfrm>
            <a:off x="634918" y="237124"/>
            <a:ext cx="390017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cs"/>
                <a:sym typeface="Calibri" panose="020F0502020204030204" pitchFamily="34" charset="0"/>
              </a:rPr>
              <a:t>实验设计与验证</a:t>
            </a:r>
            <a:r>
              <a:rPr kumimoji="0" lang="zh-CN" altLang="en-US" sz="32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cs"/>
                <a:sym typeface="Calibri" panose="020F0502020204030204" pitchFamily="34" charset="0"/>
              </a:rPr>
              <a:t>方案</a:t>
            </a:r>
            <a:endParaRPr kumimoji="0" lang="zh-CN" altLang="en-US" sz="32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16" name="等腰三角形 47"/>
          <p:cNvSpPr>
            <a:spLocks noChangeArrowheads="1"/>
          </p:cNvSpPr>
          <p:nvPr/>
        </p:nvSpPr>
        <p:spPr bwMode="auto">
          <a:xfrm rot="5400000">
            <a:off x="-53049" y="209721"/>
            <a:ext cx="774879" cy="668780"/>
          </a:xfrm>
          <a:prstGeom prst="triangle">
            <a:avLst>
              <a:gd name="adj" fmla="val 50000"/>
            </a:avLst>
          </a:prstGeom>
          <a:solidFill>
            <a:srgbClr val="990100"/>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pic>
        <p:nvPicPr>
          <p:cNvPr id="38" name="图片 37"/>
          <p:cNvPicPr>
            <a:picLocks noChangeAspect="1"/>
          </p:cNvPicPr>
          <p:nvPr/>
        </p:nvPicPr>
        <p:blipFill>
          <a:blip r:embed="rId1" cstate="print">
            <a:biLevel thresh="75000"/>
            <a:extLst>
              <a:ext uri="{BEBA8EAE-BF5A-486C-A8C5-ECC9F3942E4B}">
                <a14:imgProps xmlns:a14="http://schemas.microsoft.com/office/drawing/2010/main">
                  <a14:imgLayer r:embed="rId2">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12465" y="6301220"/>
            <a:ext cx="1523493" cy="400109"/>
          </a:xfrm>
          <a:prstGeom prst="rect">
            <a:avLst/>
          </a:prstGeom>
        </p:spPr>
      </p:pic>
      <p:pic>
        <p:nvPicPr>
          <p:cNvPr id="3" name="图片 2" descr="logo红"/>
          <p:cNvPicPr>
            <a:picLocks noChangeAspect="1"/>
          </p:cNvPicPr>
          <p:nvPr/>
        </p:nvPicPr>
        <p:blipFill>
          <a:blip r:embed="rId3"/>
          <a:stretch>
            <a:fillRect/>
          </a:stretch>
        </p:blipFill>
        <p:spPr>
          <a:xfrm>
            <a:off x="8033385" y="297815"/>
            <a:ext cx="3755390" cy="494665"/>
          </a:xfrm>
          <a:prstGeom prst="rect">
            <a:avLst/>
          </a:prstGeom>
        </p:spPr>
      </p:pic>
      <p:sp>
        <p:nvSpPr>
          <p:cNvPr id="4" name="同侧圆角矩形 3"/>
          <p:cNvSpPr/>
          <p:nvPr/>
        </p:nvSpPr>
        <p:spPr>
          <a:xfrm>
            <a:off x="712470" y="1152525"/>
            <a:ext cx="3168650" cy="532765"/>
          </a:xfrm>
          <a:prstGeom prst="round2SameRect">
            <a:avLst>
              <a:gd name="adj1" fmla="val 39213"/>
              <a:gd name="adj2" fmla="val 0"/>
            </a:avLst>
          </a:prstGeom>
          <a:solidFill>
            <a:srgbClr val="990100"/>
          </a:solidFill>
          <a:ln>
            <a:solidFill>
              <a:srgbClr val="9901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600" b="1">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600" b="1">
                <a:latin typeface="微软雅黑" panose="020B0503020204020204" pitchFamily="34" charset="-122"/>
                <a:ea typeface="微软雅黑" panose="020B0503020204020204" pitchFamily="34" charset="-122"/>
                <a:cs typeface="微软雅黑" panose="020B0503020204020204" pitchFamily="34" charset="-122"/>
              </a:rPr>
              <a:t>对比基线</a:t>
            </a:r>
            <a:r>
              <a:rPr lang="zh-CN" altLang="en-US" sz="1600" b="1">
                <a:latin typeface="微软雅黑" panose="020B0503020204020204" pitchFamily="34" charset="-122"/>
                <a:ea typeface="微软雅黑" panose="020B0503020204020204" pitchFamily="34" charset="-122"/>
                <a:cs typeface="微软雅黑" panose="020B0503020204020204" pitchFamily="34" charset="-122"/>
              </a:rPr>
              <a:t>模型</a:t>
            </a:r>
            <a:endParaRPr lang="zh-CN" altLang="en-US" sz="16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同侧圆角矩形 4"/>
          <p:cNvSpPr/>
          <p:nvPr/>
        </p:nvSpPr>
        <p:spPr>
          <a:xfrm rot="10800000">
            <a:off x="712470" y="1685290"/>
            <a:ext cx="3168650" cy="4504690"/>
          </a:xfrm>
          <a:prstGeom prst="round2SameRect">
            <a:avLst>
              <a:gd name="adj1" fmla="val 11486"/>
              <a:gd name="adj2" fmla="val 0"/>
            </a:avLst>
          </a:prstGeom>
          <a:noFill/>
          <a:ln>
            <a:solidFill>
              <a:srgbClr val="990100"/>
            </a:solidFill>
          </a:ln>
          <a:extLst>
            <a:ext uri="{909E8E84-426E-40DD-AFC4-6F175D3DCCD1}">
              <a14:hiddenFill xmlns:a14="http://schemas.microsoft.com/office/drawing/2010/main">
                <a:solidFill>
                  <a:srgbClr val="E7F0F5"/>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同侧圆角矩形 5"/>
          <p:cNvSpPr/>
          <p:nvPr/>
        </p:nvSpPr>
        <p:spPr>
          <a:xfrm>
            <a:off x="4535170" y="1152525"/>
            <a:ext cx="3168650" cy="532765"/>
          </a:xfrm>
          <a:prstGeom prst="round2SameRect">
            <a:avLst>
              <a:gd name="adj1" fmla="val 39213"/>
              <a:gd name="adj2" fmla="val 0"/>
            </a:avLst>
          </a:prstGeom>
          <a:solidFill>
            <a:srgbClr val="990100"/>
          </a:solidFill>
          <a:ln>
            <a:solidFill>
              <a:srgbClr val="9901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600" b="1">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600" b="1">
                <a:latin typeface="微软雅黑" panose="020B0503020204020204" pitchFamily="34" charset="-122"/>
                <a:ea typeface="微软雅黑" panose="020B0503020204020204" pitchFamily="34" charset="-122"/>
                <a:cs typeface="微软雅黑" panose="020B0503020204020204" pitchFamily="34" charset="-122"/>
              </a:rPr>
              <a:t>消融实验</a:t>
            </a:r>
            <a:r>
              <a:rPr lang="zh-CN" altLang="en-US" sz="1600" b="1">
                <a:latin typeface="微软雅黑" panose="020B0503020204020204" pitchFamily="34" charset="-122"/>
                <a:ea typeface="微软雅黑" panose="020B0503020204020204" pitchFamily="34" charset="-122"/>
                <a:cs typeface="微软雅黑" panose="020B0503020204020204" pitchFamily="34" charset="-122"/>
              </a:rPr>
              <a:t>设计</a:t>
            </a:r>
            <a:endParaRPr lang="zh-CN" altLang="en-US" sz="16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同侧圆角矩形 6"/>
          <p:cNvSpPr/>
          <p:nvPr/>
        </p:nvSpPr>
        <p:spPr>
          <a:xfrm rot="10800000">
            <a:off x="4535170" y="1685290"/>
            <a:ext cx="3168650" cy="4504690"/>
          </a:xfrm>
          <a:prstGeom prst="round2SameRect">
            <a:avLst>
              <a:gd name="adj1" fmla="val 11486"/>
              <a:gd name="adj2" fmla="val 0"/>
            </a:avLst>
          </a:prstGeom>
          <a:noFill/>
          <a:ln>
            <a:solidFill>
              <a:srgbClr val="990100"/>
            </a:solidFill>
          </a:ln>
          <a:extLst>
            <a:ext uri="{909E8E84-426E-40DD-AFC4-6F175D3DCCD1}">
              <a14:hiddenFill xmlns:a14="http://schemas.microsoft.com/office/drawing/2010/main">
                <a:solidFill>
                  <a:srgbClr val="E7F0F5"/>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同侧圆角矩形 7"/>
          <p:cNvSpPr/>
          <p:nvPr/>
        </p:nvSpPr>
        <p:spPr>
          <a:xfrm>
            <a:off x="8357870" y="1152525"/>
            <a:ext cx="3168650" cy="532765"/>
          </a:xfrm>
          <a:prstGeom prst="round2SameRect">
            <a:avLst>
              <a:gd name="adj1" fmla="val 39213"/>
              <a:gd name="adj2" fmla="val 0"/>
            </a:avLst>
          </a:prstGeom>
          <a:solidFill>
            <a:srgbClr val="990100"/>
          </a:solidFill>
          <a:ln>
            <a:solidFill>
              <a:srgbClr val="9901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600" b="1">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600" b="1">
                <a:latin typeface="微软雅黑" panose="020B0503020204020204" pitchFamily="34" charset="-122"/>
                <a:ea typeface="微软雅黑" panose="020B0503020204020204" pitchFamily="34" charset="-122"/>
                <a:cs typeface="微软雅黑" panose="020B0503020204020204" pitchFamily="34" charset="-122"/>
              </a:rPr>
              <a:t>多维评价</a:t>
            </a:r>
            <a:r>
              <a:rPr lang="zh-CN" altLang="en-US" sz="1600" b="1">
                <a:latin typeface="微软雅黑" panose="020B0503020204020204" pitchFamily="34" charset="-122"/>
                <a:ea typeface="微软雅黑" panose="020B0503020204020204" pitchFamily="34" charset="-122"/>
                <a:cs typeface="微软雅黑" panose="020B0503020204020204" pitchFamily="34" charset="-122"/>
              </a:rPr>
              <a:t>指标</a:t>
            </a:r>
            <a:endParaRPr lang="zh-CN" altLang="en-US" sz="16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同侧圆角矩形 8"/>
          <p:cNvSpPr/>
          <p:nvPr/>
        </p:nvSpPr>
        <p:spPr>
          <a:xfrm rot="10800000">
            <a:off x="8357870" y="1685290"/>
            <a:ext cx="3168650" cy="4504690"/>
          </a:xfrm>
          <a:prstGeom prst="round2SameRect">
            <a:avLst>
              <a:gd name="adj1" fmla="val 11486"/>
              <a:gd name="adj2" fmla="val 0"/>
            </a:avLst>
          </a:prstGeom>
          <a:noFill/>
          <a:ln>
            <a:solidFill>
              <a:srgbClr val="990100"/>
            </a:solidFill>
          </a:ln>
          <a:extLst>
            <a:ext uri="{909E8E84-426E-40DD-AFC4-6F175D3DCCD1}">
              <a14:hiddenFill xmlns:a14="http://schemas.microsoft.com/office/drawing/2010/main">
                <a:solidFill>
                  <a:srgbClr val="E7F0F5"/>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文本框 9"/>
          <p:cNvSpPr txBox="1"/>
          <p:nvPr/>
        </p:nvSpPr>
        <p:spPr>
          <a:xfrm>
            <a:off x="929640" y="1988185"/>
            <a:ext cx="2755265" cy="3688080"/>
          </a:xfrm>
          <a:prstGeom prst="rect">
            <a:avLst/>
          </a:prstGeom>
          <a:noFill/>
        </p:spPr>
        <p:txBody>
          <a:bodyPr wrap="square" rtlCol="0">
            <a:spAutoFit/>
          </a:bodyPr>
          <a:p>
            <a:pPr>
              <a:lnSpc>
                <a:spcPct val="130000"/>
              </a:lnSpc>
            </a:pPr>
            <a:r>
              <a:rPr lang="zh-CN" altLang="en-US" b="1" dirty="0" smtClean="0">
                <a:latin typeface="Arial" panose="020B0604020202020204" pitchFamily="34" charset="0"/>
                <a:ea typeface="微软雅黑" panose="020B0503020204020204" pitchFamily="34" charset="-122"/>
              </a:rPr>
              <a:t>传统判别式</a:t>
            </a:r>
            <a:r>
              <a:rPr lang="en-US" altLang="zh-CN" b="1" dirty="0" smtClean="0">
                <a:latin typeface="Arial" panose="020B0604020202020204" pitchFamily="34" charset="0"/>
                <a:ea typeface="微软雅黑" panose="020B0503020204020204" pitchFamily="34" charset="-122"/>
              </a:rPr>
              <a:t>SOTA</a:t>
            </a:r>
            <a:endParaRPr lang="en-US" altLang="zh-CN" b="1" dirty="0" smtClean="0">
              <a:latin typeface="Arial" panose="020B0604020202020204" pitchFamily="34" charset="0"/>
              <a:ea typeface="微软雅黑" panose="020B0503020204020204" pitchFamily="34" charset="-122"/>
            </a:endParaRPr>
          </a:p>
          <a:p>
            <a:pPr>
              <a:lnSpc>
                <a:spcPct val="130000"/>
              </a:lnSpc>
            </a:pPr>
            <a:r>
              <a:rPr lang="en-US" altLang="zh-CN" dirty="0" smtClean="0">
                <a:latin typeface="Arial" panose="020B0604020202020204" pitchFamily="34" charset="0"/>
                <a:ea typeface="微软雅黑" panose="020B0503020204020204" pitchFamily="34" charset="-122"/>
              </a:rPr>
              <a:t>CodeBERT(</a:t>
            </a:r>
            <a:r>
              <a:rPr lang="zh-CN" altLang="en-US" dirty="0" smtClean="0">
                <a:latin typeface="Arial" panose="020B0604020202020204" pitchFamily="34" charset="0"/>
                <a:ea typeface="微软雅黑" panose="020B0503020204020204" pitchFamily="34" charset="-122"/>
              </a:rPr>
              <a:t>微调</a:t>
            </a:r>
            <a:r>
              <a:rPr lang="en-US" altLang="zh-CN" dirty="0" smtClean="0">
                <a:latin typeface="Arial" panose="020B0604020202020204" pitchFamily="34" charset="0"/>
                <a:ea typeface="微软雅黑" panose="020B0503020204020204" pitchFamily="34" charset="-122"/>
              </a:rPr>
              <a:t>)</a:t>
            </a:r>
            <a:endParaRPr lang="en-US" altLang="zh-CN" dirty="0" smtClean="0">
              <a:latin typeface="Arial" panose="020B0604020202020204" pitchFamily="34" charset="0"/>
              <a:ea typeface="微软雅黑" panose="020B0503020204020204" pitchFamily="34" charset="-122"/>
            </a:endParaRPr>
          </a:p>
          <a:p>
            <a:pPr>
              <a:lnSpc>
                <a:spcPct val="130000"/>
              </a:lnSpc>
            </a:pPr>
            <a:r>
              <a:rPr lang="zh-CN" altLang="en-US" dirty="0" smtClean="0">
                <a:latin typeface="Arial" panose="020B0604020202020204" pitchFamily="34" charset="0"/>
                <a:ea typeface="微软雅黑" panose="020B0503020204020204" pitchFamily="34" charset="-122"/>
              </a:rPr>
              <a:t>用于错误分类任务的强基</a:t>
            </a:r>
            <a:endParaRPr lang="zh-CN" altLang="en-US" dirty="0" smtClean="0">
              <a:latin typeface="Arial" panose="020B0604020202020204" pitchFamily="34" charset="0"/>
              <a:ea typeface="微软雅黑" panose="020B0503020204020204" pitchFamily="34" charset="-122"/>
            </a:endParaRPr>
          </a:p>
          <a:p>
            <a:pPr>
              <a:lnSpc>
                <a:spcPct val="130000"/>
              </a:lnSpc>
            </a:pPr>
            <a:r>
              <a:rPr lang="zh-CN" altLang="en-US" dirty="0" smtClean="0">
                <a:latin typeface="Arial" panose="020B0604020202020204" pitchFamily="34" charset="0"/>
                <a:ea typeface="微软雅黑" panose="020B0503020204020204" pitchFamily="34" charset="-122"/>
              </a:rPr>
              <a:t>线，缺乏生成能力。</a:t>
            </a:r>
            <a:endParaRPr lang="zh-CN" altLang="en-US" dirty="0" smtClean="0">
              <a:latin typeface="Arial" panose="020B0604020202020204" pitchFamily="34" charset="0"/>
              <a:ea typeface="微软雅黑" panose="020B0503020204020204" pitchFamily="34" charset="-122"/>
            </a:endParaRPr>
          </a:p>
          <a:p>
            <a:pPr>
              <a:lnSpc>
                <a:spcPct val="130000"/>
              </a:lnSpc>
            </a:pPr>
            <a:endParaRPr lang="zh-CN" altLang="en-US" dirty="0" smtClean="0">
              <a:latin typeface="Arial" panose="020B0604020202020204" pitchFamily="34" charset="0"/>
              <a:ea typeface="微软雅黑" panose="020B0503020204020204" pitchFamily="34" charset="-122"/>
            </a:endParaRPr>
          </a:p>
          <a:p>
            <a:pPr>
              <a:lnSpc>
                <a:spcPct val="130000"/>
              </a:lnSpc>
            </a:pPr>
            <a:endParaRPr lang="zh-CN" altLang="en-US" dirty="0" smtClean="0">
              <a:latin typeface="Arial" panose="020B0604020202020204" pitchFamily="34" charset="0"/>
              <a:ea typeface="微软雅黑" panose="020B0503020204020204" pitchFamily="34" charset="-122"/>
            </a:endParaRPr>
          </a:p>
          <a:p>
            <a:pPr>
              <a:lnSpc>
                <a:spcPct val="130000"/>
              </a:lnSpc>
            </a:pPr>
            <a:r>
              <a:rPr lang="zh-CN" altLang="en-US" b="1" dirty="0" smtClean="0">
                <a:latin typeface="Arial" panose="020B0604020202020204" pitchFamily="34" charset="0"/>
                <a:ea typeface="微软雅黑" panose="020B0503020204020204" pitchFamily="34" charset="-122"/>
              </a:rPr>
              <a:t>通用生成式</a:t>
            </a:r>
            <a:r>
              <a:rPr lang="en-US" altLang="zh-CN" b="1" dirty="0" smtClean="0">
                <a:latin typeface="Arial" panose="020B0604020202020204" pitchFamily="34" charset="0"/>
                <a:ea typeface="微软雅黑" panose="020B0503020204020204" pitchFamily="34" charset="-122"/>
              </a:rPr>
              <a:t>LLM</a:t>
            </a:r>
            <a:r>
              <a:rPr lang="en-US" altLang="zh-CN" dirty="0" smtClean="0">
                <a:latin typeface="Arial" panose="020B0604020202020204" pitchFamily="34" charset="0"/>
                <a:ea typeface="微软雅黑" panose="020B0503020204020204" pitchFamily="34" charset="-122"/>
              </a:rPr>
              <a:t> (Zero-shot)</a:t>
            </a:r>
            <a:endParaRPr lang="en-US" altLang="zh-CN" dirty="0" smtClean="0">
              <a:latin typeface="Arial" panose="020B0604020202020204" pitchFamily="34" charset="0"/>
              <a:ea typeface="微软雅黑" panose="020B0503020204020204" pitchFamily="34" charset="-122"/>
            </a:endParaRPr>
          </a:p>
          <a:p>
            <a:pPr>
              <a:lnSpc>
                <a:spcPct val="130000"/>
              </a:lnSpc>
            </a:pPr>
            <a:r>
              <a:rPr lang="zh-CN" altLang="en-US" dirty="0" smtClean="0">
                <a:latin typeface="Arial" panose="020B0604020202020204" pitchFamily="34" charset="0"/>
                <a:ea typeface="微软雅黑" panose="020B0503020204020204" pitchFamily="34" charset="-122"/>
              </a:rPr>
              <a:t>无特定领域适配的通用推</a:t>
            </a:r>
            <a:endParaRPr lang="zh-CN" altLang="en-US" dirty="0" smtClean="0">
              <a:latin typeface="Arial" panose="020B0604020202020204" pitchFamily="34" charset="0"/>
              <a:ea typeface="微软雅黑" panose="020B0503020204020204" pitchFamily="34" charset="-122"/>
            </a:endParaRPr>
          </a:p>
          <a:p>
            <a:pPr>
              <a:lnSpc>
                <a:spcPct val="130000"/>
              </a:lnSpc>
            </a:pPr>
            <a:r>
              <a:rPr lang="zh-CN" altLang="en-US" dirty="0" smtClean="0">
                <a:latin typeface="Arial" panose="020B0604020202020204" pitchFamily="34" charset="0"/>
                <a:ea typeface="微软雅黑" panose="020B0503020204020204" pitchFamily="34" charset="-122"/>
              </a:rPr>
              <a:t>理基线。</a:t>
            </a:r>
            <a:endParaRPr lang="zh-CN" altLang="en-US" dirty="0" smtClean="0">
              <a:latin typeface="Arial" panose="020B0604020202020204" pitchFamily="34" charset="0"/>
              <a:ea typeface="微软雅黑" panose="020B0503020204020204" pitchFamily="34" charset="-122"/>
            </a:endParaRPr>
          </a:p>
        </p:txBody>
      </p:sp>
      <p:sp>
        <p:nvSpPr>
          <p:cNvPr id="11" name="文本框 10"/>
          <p:cNvSpPr txBox="1"/>
          <p:nvPr/>
        </p:nvSpPr>
        <p:spPr>
          <a:xfrm>
            <a:off x="8463915" y="2045335"/>
            <a:ext cx="2955925" cy="3688080"/>
          </a:xfrm>
          <a:prstGeom prst="rect">
            <a:avLst/>
          </a:prstGeom>
          <a:noFill/>
        </p:spPr>
        <p:txBody>
          <a:bodyPr wrap="square" rtlCol="0" anchor="t">
            <a:spAutoFit/>
          </a:bodyPr>
          <a:p>
            <a:pPr algn="l">
              <a:lnSpc>
                <a:spcPct val="130000"/>
              </a:lnSpc>
              <a:buClrTx/>
              <a:buSzTx/>
              <a:buFontTx/>
            </a:pPr>
            <a:r>
              <a:rPr lang="zh-CN" altLang="en-US" sz="1800" b="1" dirty="0" smtClean="0">
                <a:latin typeface="Arial" panose="020B0604020202020204" pitchFamily="34" charset="0"/>
                <a:ea typeface="微软雅黑" panose="020B0503020204020204" pitchFamily="34" charset="-122"/>
              </a:rPr>
              <a:t>任务一：错误类型预测</a:t>
            </a:r>
            <a:endParaRPr lang="zh-CN" altLang="en-US" sz="1800" b="1" dirty="0" smtClean="0">
              <a:latin typeface="Arial" panose="020B0604020202020204" pitchFamily="34" charset="0"/>
              <a:ea typeface="微软雅黑" panose="020B0503020204020204" pitchFamily="34" charset="-122"/>
            </a:endParaRPr>
          </a:p>
          <a:p>
            <a:pPr algn="l">
              <a:lnSpc>
                <a:spcPct val="130000"/>
              </a:lnSpc>
              <a:buClrTx/>
              <a:buSzTx/>
              <a:buFontTx/>
            </a:pPr>
            <a:r>
              <a:rPr lang="zh-CN" altLang="en-US" sz="1800" dirty="0" smtClean="0">
                <a:latin typeface="Arial" panose="020B0604020202020204" pitchFamily="34" charset="0"/>
                <a:ea typeface="微软雅黑" panose="020B0503020204020204" pitchFamily="34" charset="-122"/>
              </a:rPr>
              <a:t>Multi-class F1-Score</a:t>
            </a:r>
            <a:endParaRPr lang="zh-CN" altLang="en-US" sz="1800" dirty="0" smtClean="0">
              <a:latin typeface="Arial" panose="020B0604020202020204" pitchFamily="34" charset="0"/>
              <a:ea typeface="微软雅黑" panose="020B0503020204020204" pitchFamily="34" charset="-122"/>
            </a:endParaRPr>
          </a:p>
          <a:p>
            <a:pPr algn="l">
              <a:lnSpc>
                <a:spcPct val="130000"/>
              </a:lnSpc>
              <a:buClrTx/>
              <a:buSzTx/>
              <a:buFontTx/>
            </a:pPr>
            <a:r>
              <a:rPr lang="zh-CN" altLang="en-US" sz="1800" dirty="0" smtClean="0">
                <a:latin typeface="Arial" panose="020B0604020202020204" pitchFamily="34" charset="0"/>
                <a:ea typeface="微软雅黑" panose="020B0503020204020204" pitchFamily="34" charset="-122"/>
              </a:rPr>
              <a:t>评估类别不平衡下的分类性</a:t>
            </a:r>
            <a:endParaRPr lang="zh-CN" altLang="en-US" sz="1800" dirty="0" smtClean="0">
              <a:latin typeface="Arial" panose="020B0604020202020204" pitchFamily="34" charset="0"/>
              <a:ea typeface="微软雅黑" panose="020B0503020204020204" pitchFamily="34" charset="-122"/>
            </a:endParaRPr>
          </a:p>
          <a:p>
            <a:pPr algn="l">
              <a:lnSpc>
                <a:spcPct val="130000"/>
              </a:lnSpc>
              <a:buClrTx/>
              <a:buSzTx/>
              <a:buFontTx/>
            </a:pPr>
            <a:r>
              <a:rPr lang="zh-CN" altLang="en-US" sz="1800" dirty="0" smtClean="0">
                <a:latin typeface="Arial" panose="020B0604020202020204" pitchFamily="34" charset="0"/>
                <a:ea typeface="微软雅黑" panose="020B0503020204020204" pitchFamily="34" charset="-122"/>
              </a:rPr>
              <a:t>能。</a:t>
            </a:r>
            <a:endParaRPr lang="zh-CN" altLang="en-US" sz="1800" dirty="0" smtClean="0">
              <a:latin typeface="Arial" panose="020B0604020202020204" pitchFamily="34" charset="0"/>
              <a:ea typeface="微软雅黑" panose="020B0503020204020204" pitchFamily="34" charset="-122"/>
            </a:endParaRPr>
          </a:p>
          <a:p>
            <a:pPr algn="l">
              <a:lnSpc>
                <a:spcPct val="130000"/>
              </a:lnSpc>
              <a:buClrTx/>
              <a:buSzTx/>
              <a:buFontTx/>
            </a:pPr>
            <a:endParaRPr lang="zh-CN" altLang="en-US" sz="1800" dirty="0" smtClean="0">
              <a:latin typeface="Arial" panose="020B0604020202020204" pitchFamily="34" charset="0"/>
              <a:ea typeface="微软雅黑" panose="020B0503020204020204" pitchFamily="34" charset="-122"/>
            </a:endParaRPr>
          </a:p>
          <a:p>
            <a:pPr algn="l">
              <a:lnSpc>
                <a:spcPct val="130000"/>
              </a:lnSpc>
              <a:buClrTx/>
              <a:buSzTx/>
              <a:buFontTx/>
            </a:pPr>
            <a:endParaRPr lang="zh-CN" altLang="en-US" sz="1800" dirty="0" smtClean="0">
              <a:latin typeface="Arial" panose="020B0604020202020204" pitchFamily="34" charset="0"/>
              <a:ea typeface="微软雅黑" panose="020B0503020204020204" pitchFamily="34" charset="-122"/>
            </a:endParaRPr>
          </a:p>
          <a:p>
            <a:pPr algn="l">
              <a:lnSpc>
                <a:spcPct val="130000"/>
              </a:lnSpc>
              <a:buClrTx/>
              <a:buSzTx/>
              <a:buFontTx/>
            </a:pPr>
            <a:r>
              <a:rPr lang="zh-CN" altLang="en-US" sz="1800" b="1" dirty="0" smtClean="0">
                <a:latin typeface="Arial" panose="020B0604020202020204" pitchFamily="34" charset="0"/>
                <a:ea typeface="微软雅黑" panose="020B0503020204020204" pitchFamily="34" charset="-122"/>
              </a:rPr>
              <a:t>任务二：诊断报告生成</a:t>
            </a:r>
            <a:endParaRPr lang="zh-CN" altLang="en-US" sz="1800" b="1" dirty="0" smtClean="0">
              <a:latin typeface="Arial" panose="020B0604020202020204" pitchFamily="34" charset="0"/>
              <a:ea typeface="微软雅黑" panose="020B0503020204020204" pitchFamily="34" charset="-122"/>
            </a:endParaRPr>
          </a:p>
          <a:p>
            <a:pPr algn="l">
              <a:lnSpc>
                <a:spcPct val="130000"/>
              </a:lnSpc>
              <a:buClrTx/>
              <a:buSzTx/>
              <a:buFontTx/>
            </a:pPr>
            <a:r>
              <a:rPr lang="zh-CN" altLang="en-US" sz="1800" dirty="0" smtClean="0">
                <a:latin typeface="Arial" panose="020B0604020202020204" pitchFamily="34" charset="0"/>
                <a:ea typeface="微软雅黑" panose="020B0503020204020204" pitchFamily="34" charset="-122"/>
              </a:rPr>
              <a:t>BLEU-4/Rouge-L</a:t>
            </a:r>
            <a:endParaRPr lang="zh-CN" altLang="en-US" sz="1800" dirty="0" smtClean="0">
              <a:latin typeface="Arial" panose="020B0604020202020204" pitchFamily="34" charset="0"/>
              <a:ea typeface="微软雅黑" panose="020B0503020204020204" pitchFamily="34" charset="-122"/>
            </a:endParaRPr>
          </a:p>
          <a:p>
            <a:pPr algn="l">
              <a:lnSpc>
                <a:spcPct val="130000"/>
              </a:lnSpc>
              <a:buClrTx/>
              <a:buSzTx/>
              <a:buFontTx/>
            </a:pPr>
            <a:r>
              <a:rPr lang="zh-CN" altLang="en-US" sz="1800" dirty="0" smtClean="0">
                <a:latin typeface="Arial" panose="020B0604020202020204" pitchFamily="34" charset="0"/>
                <a:ea typeface="微软雅黑" panose="020B0503020204020204" pitchFamily="34" charset="-122"/>
              </a:rPr>
              <a:t>评估文本流畅度与语义覆盖</a:t>
            </a:r>
            <a:endParaRPr lang="zh-CN" altLang="en-US" sz="1800" dirty="0" smtClean="0">
              <a:latin typeface="Arial" panose="020B0604020202020204" pitchFamily="34" charset="0"/>
              <a:ea typeface="微软雅黑" panose="020B0503020204020204" pitchFamily="34" charset="-122"/>
            </a:endParaRPr>
          </a:p>
          <a:p>
            <a:pPr algn="l">
              <a:lnSpc>
                <a:spcPct val="130000"/>
              </a:lnSpc>
              <a:buClrTx/>
              <a:buSzTx/>
              <a:buFontTx/>
            </a:pPr>
            <a:r>
              <a:rPr lang="zh-CN" altLang="en-US" sz="1800" dirty="0" smtClean="0">
                <a:latin typeface="Arial" panose="020B0604020202020204" pitchFamily="34" charset="0"/>
                <a:ea typeface="微软雅黑" panose="020B0503020204020204" pitchFamily="34" charset="-122"/>
              </a:rPr>
              <a:t>度。</a:t>
            </a:r>
            <a:endParaRPr lang="zh-CN" altLang="en-US" sz="1800" dirty="0" smtClean="0">
              <a:latin typeface="Arial" panose="020B0604020202020204" pitchFamily="34" charset="0"/>
              <a:ea typeface="微软雅黑" panose="020B0503020204020204" pitchFamily="34" charset="-122"/>
            </a:endParaRPr>
          </a:p>
        </p:txBody>
      </p:sp>
      <p:sp>
        <p:nvSpPr>
          <p:cNvPr id="27" name="文本框 26"/>
          <p:cNvSpPr txBox="1"/>
          <p:nvPr/>
        </p:nvSpPr>
        <p:spPr>
          <a:xfrm>
            <a:off x="4585335" y="1798955"/>
            <a:ext cx="3068955" cy="4307840"/>
          </a:xfrm>
          <a:prstGeom prst="rect">
            <a:avLst/>
          </a:prstGeom>
        </p:spPr>
        <p:txBody>
          <a:bodyPr wrap="square">
            <a:spAutoFit/>
          </a:bodyPr>
          <a:p>
            <a:r>
              <a:rPr lang="zh-CN" altLang="en-US" b="1"/>
              <a:t>验证核心模块有效性：</a:t>
            </a:r>
            <a:endParaRPr lang="zh-CN" altLang="en-US" b="1"/>
          </a:p>
          <a:p>
            <a:endParaRPr lang="zh-CN" altLang="en-US" sz="1600" b="1"/>
          </a:p>
          <a:p>
            <a:r>
              <a:rPr lang="zh-CN" altLang="en-US" sz="1600" b="1"/>
              <a:t>【实验一：完整模型基准】</a:t>
            </a:r>
            <a:endParaRPr lang="zh-CN" altLang="en-US" sz="1600" b="1"/>
          </a:p>
          <a:p>
            <a:pPr indent="0">
              <a:buFont typeface="Arial" panose="020B0604020202020204"/>
              <a:buNone/>
            </a:pPr>
            <a:r>
              <a:rPr lang="zh-CN" altLang="en-US" sz="1600" b="1"/>
              <a:t>配置</a:t>
            </a:r>
            <a:r>
              <a:rPr lang="zh-CN" altLang="en-US" sz="1600"/>
              <a:t>：</a:t>
            </a:r>
            <a:r>
              <a:rPr lang="en-US" altLang="zh-CN" sz="1600"/>
              <a:t>[√] </a:t>
            </a:r>
            <a:r>
              <a:rPr lang="zh-CN" altLang="en-US" sz="1600"/>
              <a:t>包含轨迹特征 </a:t>
            </a:r>
            <a:r>
              <a:rPr lang="en-US" altLang="zh-CN" sz="1600"/>
              <a:t>+ [√] </a:t>
            </a:r>
            <a:r>
              <a:rPr lang="zh-CN" altLang="en-US" sz="1600"/>
              <a:t>使用双塔对齐 </a:t>
            </a:r>
            <a:r>
              <a:rPr lang="en-US" altLang="zh-CN" sz="1600"/>
              <a:t>+ [√] </a:t>
            </a:r>
            <a:r>
              <a:rPr lang="zh-CN" altLang="en-US" sz="1600"/>
              <a:t>采用软提示</a:t>
            </a:r>
            <a:r>
              <a:rPr lang="en-US" altLang="zh-CN" sz="1600"/>
              <a:t>(Soft Prompt)</a:t>
            </a:r>
            <a:endParaRPr lang="en-US" altLang="zh-CN" sz="1600"/>
          </a:p>
          <a:p>
            <a:pPr indent="0">
              <a:buFont typeface="Arial" panose="020B0604020202020204"/>
              <a:buNone/>
            </a:pPr>
            <a:endParaRPr lang="en-US" altLang="zh-CN" sz="1600"/>
          </a:p>
          <a:p>
            <a:pPr indent="0">
              <a:buFont typeface="Arial" panose="020B0604020202020204"/>
              <a:buNone/>
            </a:pPr>
            <a:endParaRPr lang="en-US" altLang="zh-CN" sz="1600"/>
          </a:p>
          <a:p>
            <a:r>
              <a:rPr lang="zh-CN" altLang="en-US" sz="1600" b="1"/>
              <a:t>【实验二：移除轨迹特征】</a:t>
            </a:r>
            <a:endParaRPr lang="zh-CN" altLang="en-US" sz="1600" b="1"/>
          </a:p>
          <a:p>
            <a:pPr indent="0">
              <a:buFont typeface="Arial" panose="020B0604020202020204"/>
              <a:buNone/>
            </a:pPr>
            <a:r>
              <a:rPr lang="zh-CN" altLang="en-US" sz="1600" b="1"/>
              <a:t>配置</a:t>
            </a:r>
            <a:r>
              <a:rPr lang="zh-CN" altLang="en-US" sz="1600"/>
              <a:t>：</a:t>
            </a:r>
            <a:r>
              <a:rPr lang="en-US" altLang="zh-CN" sz="1600"/>
              <a:t>[X] </a:t>
            </a:r>
            <a:r>
              <a:rPr lang="zh-CN" altLang="en-US" sz="1600"/>
              <a:t>仅使用静态代码快照 </a:t>
            </a:r>
            <a:r>
              <a:rPr lang="en-US" altLang="zh-CN" sz="1600"/>
              <a:t>+ [√] </a:t>
            </a:r>
            <a:r>
              <a:rPr lang="zh-CN" altLang="en-US" sz="1600"/>
              <a:t>使用双塔对齐 </a:t>
            </a:r>
            <a:r>
              <a:rPr lang="en-US" altLang="zh-CN" sz="1600"/>
              <a:t>+ [√] </a:t>
            </a:r>
            <a:r>
              <a:rPr lang="zh-CN" altLang="en-US" sz="1600"/>
              <a:t>采用软提示</a:t>
            </a:r>
            <a:endParaRPr lang="zh-CN" altLang="en-US" sz="1600"/>
          </a:p>
          <a:p>
            <a:pPr indent="0">
              <a:buFont typeface="Arial" panose="020B0604020202020204"/>
              <a:buNone/>
            </a:pPr>
            <a:endParaRPr lang="zh-CN" altLang="en-US" sz="1600"/>
          </a:p>
          <a:p>
            <a:pPr indent="0">
              <a:buFont typeface="Arial" panose="020B0604020202020204"/>
              <a:buNone/>
            </a:pPr>
            <a:endParaRPr lang="zh-CN" altLang="en-US" sz="1600"/>
          </a:p>
          <a:p>
            <a:r>
              <a:rPr lang="zh-CN" altLang="en-US" sz="1600" b="1"/>
              <a:t>【实验三：移除对齐与软提示】</a:t>
            </a:r>
            <a:endParaRPr lang="zh-CN" altLang="en-US" sz="1600" b="1"/>
          </a:p>
          <a:p>
            <a:pPr indent="0">
              <a:buFont typeface="Arial" panose="020B0604020202020204"/>
              <a:buNone/>
            </a:pPr>
            <a:r>
              <a:rPr lang="zh-CN" altLang="en-US" sz="1600" b="1"/>
              <a:t>配置</a:t>
            </a:r>
            <a:r>
              <a:rPr lang="zh-CN" altLang="en-US" sz="1600"/>
              <a:t>：</a:t>
            </a:r>
            <a:r>
              <a:rPr lang="en-US" altLang="zh-CN" sz="1600"/>
              <a:t>[√] </a:t>
            </a:r>
            <a:r>
              <a:rPr lang="zh-CN" altLang="en-US" sz="1600"/>
              <a:t>包含轨迹特征 </a:t>
            </a:r>
            <a:r>
              <a:rPr lang="en-US" altLang="zh-CN" sz="1600"/>
              <a:t>+ [X] </a:t>
            </a:r>
            <a:r>
              <a:rPr lang="zh-CN" altLang="en-US" sz="1600"/>
              <a:t>采用直接硬拼接</a:t>
            </a:r>
            <a:r>
              <a:rPr lang="en-US" altLang="zh-CN" sz="1600"/>
              <a:t>(Hard Prompt)</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梯形 34"/>
          <p:cNvSpPr/>
          <p:nvPr/>
        </p:nvSpPr>
        <p:spPr>
          <a:xfrm rot="16200000">
            <a:off x="7446198" y="-451317"/>
            <a:ext cx="2291737" cy="7199871"/>
          </a:xfrm>
          <a:prstGeom prst="trapezoid">
            <a:avLst>
              <a:gd name="adj" fmla="val 16935"/>
            </a:avLst>
          </a:prstGeom>
          <a:solidFill>
            <a:srgbClr val="99010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37" name="梯形 36"/>
          <p:cNvSpPr/>
          <p:nvPr/>
        </p:nvSpPr>
        <p:spPr>
          <a:xfrm rot="5400000">
            <a:off x="1331640" y="636804"/>
            <a:ext cx="2344067" cy="5007345"/>
          </a:xfrm>
          <a:prstGeom prst="trapezoid">
            <a:avLst>
              <a:gd name="adj" fmla="val 17865"/>
            </a:avLst>
          </a:prstGeom>
          <a:solidFill>
            <a:schemeClr val="bg1">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7" name="文本框 2"/>
          <p:cNvSpPr txBox="1"/>
          <p:nvPr/>
        </p:nvSpPr>
        <p:spPr>
          <a:xfrm>
            <a:off x="3729079" y="2556165"/>
            <a:ext cx="1164101" cy="1200329"/>
          </a:xfrm>
          <a:prstGeom prst="rect">
            <a:avLst/>
          </a:prstGeom>
          <a:noFill/>
        </p:spPr>
        <p:txBody>
          <a:bodyPr wrap="none" lIns="91440" tIns="45720" rIns="91440" bIns="4572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Part</a:t>
            </a:r>
            <a:r>
              <a:rPr kumimoji="0" lang="en-US" altLang="zh-CN"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5</a:t>
            </a:r>
            <a:endParaRPr kumimoji="0" lang="zh-CN" altLang="en-US"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29" name="矩形 28"/>
          <p:cNvSpPr/>
          <p:nvPr/>
        </p:nvSpPr>
        <p:spPr>
          <a:xfrm>
            <a:off x="5638798" y="2692405"/>
            <a:ext cx="3840480" cy="1568450"/>
          </a:xfrm>
          <a:prstGeom prst="rect">
            <a:avLst/>
          </a:prstGeom>
        </p:spPr>
        <p:txBody>
          <a:bodyPr wrap="non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4800" b="1" noProof="0" dirty="0">
                <a:ln>
                  <a:noFill/>
                </a:ln>
                <a:solidFill>
                  <a:prstClr val="white"/>
                </a:solidFill>
                <a:effectLst/>
                <a:uLnTx/>
                <a:uFillTx/>
                <a:latin typeface="Arial" panose="020B0604020202020204"/>
                <a:ea typeface="微软雅黑" panose="020B0503020204020204" pitchFamily="34" charset="-122"/>
                <a:sym typeface="微软雅黑" panose="020B0503020204020204" pitchFamily="34" charset="-122"/>
              </a:rPr>
              <a:t>难点与创新点</a:t>
            </a:r>
            <a:endParaRPr kumimoji="0" lang="zh-CN" altLang="en-US" sz="4800" b="1" i="0" u="none" strike="noStrike" kern="1200" cap="none" spc="0" normalizeH="0" baseline="0" noProof="0" dirty="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0" marR="0" lvl="0" algn="l" defTabSz="457200" rtl="0" eaLnBrk="1" fontAlgn="auto" latinLnBrk="0" hangingPunct="1">
              <a:lnSpc>
                <a:spcPct val="100000"/>
              </a:lnSpc>
              <a:spcBef>
                <a:spcPts val="0"/>
              </a:spcBef>
              <a:spcAft>
                <a:spcPts val="0"/>
              </a:spcAft>
              <a:buClrTx/>
              <a:buSzTx/>
              <a:buFontTx/>
              <a:buNone/>
              <a:defRPr/>
            </a:pPr>
            <a:endParaRPr kumimoji="0" lang="zh-CN" altLang="en-US" sz="48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22989" y="1235242"/>
            <a:ext cx="3251090" cy="326475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7"/>
          <p:cNvSpPr txBox="1"/>
          <p:nvPr>
            <p:custDataLst>
              <p:tags r:id="rId1"/>
            </p:custDataLst>
          </p:nvPr>
        </p:nvSpPr>
        <p:spPr>
          <a:xfrm>
            <a:off x="1614208" y="1613402"/>
            <a:ext cx="8896371" cy="1050925"/>
          </a:xfrm>
          <a:prstGeom prst="rect">
            <a:avLst/>
          </a:prstGeom>
          <a:solidFill>
            <a:schemeClr val="bg1">
              <a:lumMod val="95000"/>
            </a:schemeClr>
          </a:solidFill>
          <a:ln w="12700">
            <a:solidFill>
              <a:srgbClr val="990100"/>
            </a:solidFill>
          </a:ln>
        </p:spPr>
        <p:txBody>
          <a:bodyPr wrap="square" lIns="91440" tIns="45720" rIns="91440" bIns="45720" rtlCol="0">
            <a:spAutoFit/>
          </a:bodyPr>
          <a:lstStyle/>
          <a:p>
            <a:pPr marR="0" lvl="0" indent="0" algn="l" defTabSz="457200" rtl="0" fontAlgn="auto">
              <a:lnSpc>
                <a:spcPct val="13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核心问题：</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CodeNet</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提交元数据（时间戳、状态码）是离散数值型，而代码是结构化文本。</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R="0" lvl="0" indent="0" algn="l" defTabSz="457200" rtl="0" fontAlgn="auto">
              <a:lnSpc>
                <a:spcPct val="13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技术难点：</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如何将低层次的行为统计特征有效映射到高维语义向量空间，且不丢失关键认知状态信息（如</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焦虑</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概念混淆</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矩形 6"/>
          <p:cNvSpPr/>
          <p:nvPr>
            <p:custDataLst>
              <p:tags r:id="rId2"/>
            </p:custDataLst>
          </p:nvPr>
        </p:nvSpPr>
        <p:spPr bwMode="auto">
          <a:xfrm>
            <a:off x="1193165" y="1195070"/>
            <a:ext cx="6087110" cy="424815"/>
          </a:xfrm>
          <a:prstGeom prst="rect">
            <a:avLst/>
          </a:prstGeom>
          <a:solidFill>
            <a:srgbClr val="990100"/>
          </a:solidFill>
          <a:ln>
            <a:noFill/>
          </a:ln>
        </p:spPr>
        <p:txBody>
          <a:bodyPr vert="horz" wrap="square" lIns="91440" tIns="45720" rIns="91440" bIns="45720" numCol="1" rtlCol="0" anchor="t" anchorCtr="0" compatLnSpc="1"/>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难题一：异构特征空间的</a:t>
            </a:r>
            <a:r>
              <a:rPr kumimoji="0" lang="en-US" altLang="zh-CN"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语义鸿沟</a:t>
            </a:r>
            <a:r>
              <a:rPr kumimoji="0" lang="en-US" altLang="zh-CN"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对齐</a:t>
            </a:r>
            <a:endPar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文本框 15"/>
          <p:cNvSpPr txBox="1"/>
          <p:nvPr>
            <p:custDataLst>
              <p:tags r:id="rId3"/>
            </p:custDataLst>
          </p:nvPr>
        </p:nvSpPr>
        <p:spPr>
          <a:xfrm>
            <a:off x="1614208" y="3070823"/>
            <a:ext cx="8896371" cy="1370965"/>
          </a:xfrm>
          <a:prstGeom prst="rect">
            <a:avLst/>
          </a:prstGeom>
          <a:solidFill>
            <a:schemeClr val="bg1">
              <a:lumMod val="95000"/>
            </a:schemeClr>
          </a:solidFill>
          <a:ln w="12700">
            <a:solidFill>
              <a:srgbClr val="990100"/>
            </a:solidFill>
          </a:ln>
        </p:spPr>
        <p:txBody>
          <a:bodyPr wrap="square" lIns="91440" tIns="45720" rIns="91440" bIns="45720" rtlCol="0">
            <a:spAutoFit/>
          </a:bodyPr>
          <a:lstStyle/>
          <a:p>
            <a:pPr marL="0" marR="0" lvl="0" algn="l" defTabSz="457200" rtl="0" eaLnBrk="1" fontAlgn="auto" latinLnBrk="0" hangingPunct="1">
              <a:lnSpc>
                <a:spcPct val="13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核心问题：</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并非所有提交都反映真实的认知过程。</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L="0" marR="0" lvl="0" algn="l" defTabSz="457200" rtl="0" eaLnBrk="1" fontAlgn="auto" latinLnBrk="0" hangingPunct="1">
              <a:lnSpc>
                <a:spcPct val="13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噪声示例：</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网络波动导致的重复提交；直接复制粘贴他人代码。</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L="0" marR="0" lvl="0" algn="l" defTabSz="457200" rtl="0" eaLnBrk="1" fontAlgn="auto" latinLnBrk="0" hangingPunct="1">
              <a:lnSpc>
                <a:spcPct val="13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技术难点：</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如何从海量</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submission_id序列中清洗出有效的调试会话(DebuggingSession)，剔除除噪声数据，构建高质量训练样本。</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9" name="矩形 8"/>
          <p:cNvSpPr/>
          <p:nvPr>
            <p:custDataLst>
              <p:tags r:id="rId4"/>
            </p:custDataLst>
          </p:nvPr>
        </p:nvSpPr>
        <p:spPr bwMode="auto">
          <a:xfrm>
            <a:off x="1193165" y="2652395"/>
            <a:ext cx="6087745" cy="424815"/>
          </a:xfrm>
          <a:prstGeom prst="rect">
            <a:avLst/>
          </a:prstGeom>
          <a:solidFill>
            <a:srgbClr val="990100"/>
          </a:solidFill>
          <a:ln>
            <a:noFill/>
          </a:ln>
        </p:spPr>
        <p:txBody>
          <a:bodyPr vert="horz" wrap="square" lIns="91440" tIns="45720" rIns="91440" bIns="45720" numCol="1" rtlCol="0" anchor="t" anchorCtr="0" compatLnSpc="1"/>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难题二：基于元数据的</a:t>
            </a:r>
            <a:r>
              <a:rPr kumimoji="0" lang="en-US" altLang="zh-CN"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伪过程</a:t>
            </a:r>
            <a:r>
              <a:rPr kumimoji="0" lang="en-US" altLang="zh-CN"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特征去噪</a:t>
            </a:r>
            <a:endPar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0" name="文本框 24"/>
          <p:cNvSpPr txBox="1"/>
          <p:nvPr>
            <p:custDataLst>
              <p:tags r:id="rId5"/>
            </p:custDataLst>
          </p:nvPr>
        </p:nvSpPr>
        <p:spPr>
          <a:xfrm>
            <a:off x="1614208" y="4843092"/>
            <a:ext cx="8896371" cy="1370965"/>
          </a:xfrm>
          <a:prstGeom prst="rect">
            <a:avLst/>
          </a:prstGeom>
          <a:solidFill>
            <a:schemeClr val="bg1">
              <a:lumMod val="95000"/>
            </a:schemeClr>
          </a:solidFill>
          <a:ln w="12700">
            <a:solidFill>
              <a:srgbClr val="990100"/>
            </a:solidFill>
          </a:ln>
        </p:spPr>
        <p:txBody>
          <a:bodyPr wrap="square" lIns="91440" tIns="45720" rIns="91440" bIns="45720" rtlCol="0">
            <a:spAutoFit/>
          </a:bodyPr>
          <a:lstStyle/>
          <a:p>
            <a:pPr marL="0" marR="0" lvl="0" algn="l" defTabSz="457200" rtl="0" eaLnBrk="1" fontAlgn="auto" latinLnBrk="0" hangingPunct="1">
              <a:lnSpc>
                <a:spcPct val="13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核心问题：</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逻辑错误（如TLE，</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WA)缺乏显式的编译器报错信息。</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L="0" marR="0" lvl="0" algn="l" defTabSz="457200" rtl="0" eaLnBrk="1" fontAlgn="auto" latinLnBrk="0" hangingPunct="1">
              <a:lnSpc>
                <a:spcPct val="13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错误类型：</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死循环(TLE)、边界溢出（</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WA)等长距离依赖错误。</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L="0" marR="0" lvl="0" algn="l" defTabSz="457200" rtl="0" eaLnBrk="1" fontAlgn="auto" latinLnBrk="0" hangingPunct="1">
              <a:lnSpc>
                <a:spcPct val="13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技术难点：</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如何利用</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LLM推理能力，结合历史提交轨迹，精准定位成因，并生成具教学意义的解释。</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11" name="矩形 10"/>
          <p:cNvSpPr/>
          <p:nvPr>
            <p:custDataLst>
              <p:tags r:id="rId6"/>
            </p:custDataLst>
          </p:nvPr>
        </p:nvSpPr>
        <p:spPr bwMode="auto">
          <a:xfrm>
            <a:off x="1193165" y="4429125"/>
            <a:ext cx="6086475" cy="424815"/>
          </a:xfrm>
          <a:prstGeom prst="rect">
            <a:avLst/>
          </a:prstGeom>
          <a:solidFill>
            <a:srgbClr val="990100"/>
          </a:solidFill>
          <a:ln>
            <a:noFill/>
          </a:ln>
        </p:spPr>
        <p:txBody>
          <a:bodyPr vert="horz" wrap="square" lIns="91440" tIns="45720" rIns="91440" bIns="45720" numCol="1" rtlCol="0" anchor="t" anchorCtr="0" compatLnSpc="1"/>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难题三：隐性长距离逻辑错误的归因诊断</a:t>
            </a:r>
            <a:endPar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4" name="矩形 13"/>
          <p:cNvSpPr>
            <a:spLocks noChangeArrowheads="1"/>
          </p:cNvSpPr>
          <p:nvPr/>
        </p:nvSpPr>
        <p:spPr bwMode="auto">
          <a:xfrm>
            <a:off x="634918" y="237124"/>
            <a:ext cx="552577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lang="zh-CN" altLang="en-US" b="1" noProof="0" dirty="0">
                <a:ln>
                  <a:noFill/>
                </a:ln>
                <a:effectLst/>
                <a:uLnTx/>
                <a:uFillTx/>
                <a:latin typeface="Arial" panose="020B0604020202020204" pitchFamily="34" charset="0"/>
                <a:sym typeface="Calibri" panose="020F0502020204030204" pitchFamily="34" charset="0"/>
              </a:rPr>
              <a:t>拟解决的关键难题与技术挑战</a:t>
            </a:r>
            <a:endParaRPr kumimoji="0" lang="zh-CN" altLang="en-US" sz="32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15" name="等腰三角形 14"/>
          <p:cNvSpPr>
            <a:spLocks noChangeArrowheads="1"/>
          </p:cNvSpPr>
          <p:nvPr/>
        </p:nvSpPr>
        <p:spPr bwMode="auto">
          <a:xfrm rot="5400000">
            <a:off x="-53049" y="209721"/>
            <a:ext cx="774879" cy="668780"/>
          </a:xfrm>
          <a:prstGeom prst="triangle">
            <a:avLst>
              <a:gd name="adj" fmla="val 50000"/>
            </a:avLst>
          </a:prstGeom>
          <a:solidFill>
            <a:srgbClr val="990100"/>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pic>
        <p:nvPicPr>
          <p:cNvPr id="24" name="图片 23"/>
          <p:cNvPicPr>
            <a:picLocks noChangeAspect="1"/>
          </p:cNvPicPr>
          <p:nvPr/>
        </p:nvPicPr>
        <p:blipFill>
          <a:blip r:embed="rId7" cstate="print">
            <a:biLevel thresh="75000"/>
            <a:extLst>
              <a:ext uri="{BEBA8EAE-BF5A-486C-A8C5-ECC9F3942E4B}">
                <a14:imgProps xmlns:a14="http://schemas.microsoft.com/office/drawing/2010/main">
                  <a14:imgLayer r:embed="rId8">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12465" y="6301220"/>
            <a:ext cx="1523493" cy="400109"/>
          </a:xfrm>
          <a:prstGeom prst="rect">
            <a:avLst/>
          </a:prstGeom>
        </p:spPr>
      </p:pic>
      <p:pic>
        <p:nvPicPr>
          <p:cNvPr id="3" name="图片 2" descr="logo红"/>
          <p:cNvPicPr>
            <a:picLocks noChangeAspect="1"/>
          </p:cNvPicPr>
          <p:nvPr/>
        </p:nvPicPr>
        <p:blipFill>
          <a:blip r:embed="rId9"/>
          <a:stretch>
            <a:fillRect/>
          </a:stretch>
        </p:blipFill>
        <p:spPr>
          <a:xfrm>
            <a:off x="8033385" y="297815"/>
            <a:ext cx="3755390" cy="4946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46"/>
          <p:cNvSpPr>
            <a:spLocks noChangeArrowheads="1"/>
          </p:cNvSpPr>
          <p:nvPr/>
        </p:nvSpPr>
        <p:spPr bwMode="auto">
          <a:xfrm>
            <a:off x="634918" y="237124"/>
            <a:ext cx="227457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cs"/>
                <a:sym typeface="Calibri" panose="020F0502020204030204" pitchFamily="34" charset="0"/>
              </a:rPr>
              <a:t>特色与创新</a:t>
            </a:r>
            <a:endParaRPr kumimoji="0" lang="zh-CN" altLang="en-US" sz="32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34" name="等腰三角形 47"/>
          <p:cNvSpPr>
            <a:spLocks noChangeArrowheads="1"/>
          </p:cNvSpPr>
          <p:nvPr/>
        </p:nvSpPr>
        <p:spPr bwMode="auto">
          <a:xfrm rot="5400000">
            <a:off x="-53049" y="209721"/>
            <a:ext cx="774879" cy="668780"/>
          </a:xfrm>
          <a:prstGeom prst="triangle">
            <a:avLst>
              <a:gd name="adj" fmla="val 50000"/>
            </a:avLst>
          </a:prstGeom>
          <a:solidFill>
            <a:srgbClr val="990100"/>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0" name="文本1"/>
          <p:cNvSpPr>
            <a:spLocks noChangeArrowheads="1"/>
          </p:cNvSpPr>
          <p:nvPr>
            <p:custDataLst>
              <p:tags r:id="rId1"/>
            </p:custDataLst>
          </p:nvPr>
        </p:nvSpPr>
        <p:spPr bwMode="gray">
          <a:xfrm>
            <a:off x="2659264" y="1428177"/>
            <a:ext cx="8109701" cy="1276270"/>
          </a:xfrm>
          <a:prstGeom prst="roundRect">
            <a:avLst>
              <a:gd name="adj" fmla="val 11505"/>
            </a:avLst>
          </a:prstGeom>
          <a:noFill/>
          <a:ln w="15875" cap="flat" cmpd="sng" algn="ctr">
            <a:solidFill>
              <a:srgbClr val="990100"/>
            </a:solid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00" rtl="0" eaLnBrk="1" fontAlgn="base" latinLnBrk="0" hangingPunct="1">
              <a:lnSpc>
                <a:spcPct val="120000"/>
              </a:lnSpc>
              <a:spcBef>
                <a:spcPct val="0"/>
              </a:spcBef>
              <a:spcAft>
                <a:spcPct val="0"/>
              </a:spcAft>
              <a:buClrTx/>
              <a:buSzTx/>
              <a:buFontTx/>
              <a:buNone/>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架构创新：时序认知增强的非对称双塔</a:t>
            </a:r>
            <a:endParaRPr kumimoji="0" lang="zh-CN" altLang="en-US" sz="14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1219200" rtl="0" eaLnBrk="1" fontAlgn="base" latinLnBrk="0" hangingPunct="1">
              <a:lnSpc>
                <a:spcPct val="120000"/>
              </a:lnSpc>
              <a:spcBef>
                <a:spcPct val="0"/>
              </a:spcBef>
              <a:spcAft>
                <a:spcPct val="0"/>
              </a:spcAft>
              <a:buClrTx/>
              <a:buSzTx/>
              <a:buFontTx/>
              <a:buNone/>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传统模型：</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传统静态双塔无法捕捉学生</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知识遗忘</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与</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技能累积</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的动态波动。</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1219200" rtl="0" eaLnBrk="1" fontAlgn="base" latinLnBrk="0" hangingPunct="1">
              <a:lnSpc>
                <a:spcPct val="120000"/>
              </a:lnSpc>
              <a:spcBef>
                <a:spcPct val="0"/>
              </a:spcBef>
              <a:spcAft>
                <a:spcPct val="0"/>
              </a:spcAft>
              <a:buClrTx/>
              <a:buSzTx/>
              <a:buFontTx/>
              <a:buNone/>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本研究突破</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：提出</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时序认知编码器</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，内置艾宾浩斯遗忘加权机制，实现对异构轨迹流的动态建模。</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1219200" rtl="0" eaLnBrk="1" fontAlgn="base" latinLnBrk="0" hangingPunct="1">
              <a:lnSpc>
                <a:spcPct val="120000"/>
              </a:lnSpc>
              <a:spcBef>
                <a:spcPct val="0"/>
              </a:spcBef>
              <a:spcAft>
                <a:spcPct val="0"/>
              </a:spcAft>
              <a:buClrTx/>
              <a:buSzTx/>
              <a:buFontTx/>
              <a:buNone/>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核心价值：</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动态感知认知状态，区分</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粗心高手</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与</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概念新手</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21" name="标题1"/>
          <p:cNvSpPr>
            <a:spLocks noChangeArrowheads="1"/>
          </p:cNvSpPr>
          <p:nvPr>
            <p:custDataLst>
              <p:tags r:id="rId2"/>
            </p:custDataLst>
          </p:nvPr>
        </p:nvSpPr>
        <p:spPr bwMode="gray">
          <a:xfrm>
            <a:off x="1333256" y="1421832"/>
            <a:ext cx="1326330" cy="1283109"/>
          </a:xfrm>
          <a:prstGeom prst="roundRect">
            <a:avLst>
              <a:gd name="adj" fmla="val 11921"/>
            </a:avLst>
          </a:prstGeom>
          <a:solidFill>
            <a:srgbClr val="990100"/>
          </a:solidFill>
          <a:ln w="25400" cap="flat" cmpd="sng" algn="ctr">
            <a:no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200" rtl="0" eaLnBrk="1" fontAlgn="base" latinLnBrk="0" hangingPunct="1">
              <a:lnSpc>
                <a:spcPct val="12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ysClr val="window" lastClr="FFFFFF">
                    <a:lumMod val="95000"/>
                  </a:sysClr>
                </a:solidFill>
                <a:effectLst/>
                <a:uLnTx/>
                <a:uFillTx/>
                <a:latin typeface="微软雅黑" panose="020B0503020204020204" pitchFamily="34" charset="-122"/>
                <a:ea typeface="微软雅黑" panose="020B0503020204020204" pitchFamily="34" charset="-122"/>
                <a:cs typeface="+mn-cs"/>
              </a:rPr>
              <a:t>数据建模升维</a:t>
            </a:r>
            <a:endParaRPr kumimoji="0" lang="zh-CN" altLang="en-US" sz="1600" b="1" i="0" u="none" strike="noStrike" kern="1200" cap="none" spc="0" normalizeH="0" baseline="0" noProof="0" dirty="0">
              <a:ln>
                <a:noFill/>
              </a:ln>
              <a:solidFill>
                <a:sysClr val="window" lastClr="FFFFFF">
                  <a:lumMod val="95000"/>
                </a:sysClr>
              </a:solidFill>
              <a:effectLst/>
              <a:uLnTx/>
              <a:uFillTx/>
              <a:latin typeface="微软雅黑" panose="020B0503020204020204" pitchFamily="34" charset="-122"/>
              <a:ea typeface="微软雅黑" panose="020B0503020204020204" pitchFamily="34" charset="-122"/>
              <a:cs typeface="+mn-cs"/>
            </a:endParaRPr>
          </a:p>
        </p:txBody>
      </p:sp>
      <p:sp>
        <p:nvSpPr>
          <p:cNvPr id="22" name="文本2"/>
          <p:cNvSpPr>
            <a:spLocks noChangeArrowheads="1"/>
          </p:cNvSpPr>
          <p:nvPr>
            <p:custDataLst>
              <p:tags r:id="rId3"/>
            </p:custDataLst>
          </p:nvPr>
        </p:nvSpPr>
        <p:spPr bwMode="gray">
          <a:xfrm>
            <a:off x="2659264" y="2979628"/>
            <a:ext cx="8109701" cy="1272203"/>
          </a:xfrm>
          <a:prstGeom prst="roundRect">
            <a:avLst>
              <a:gd name="adj" fmla="val 11505"/>
            </a:avLst>
          </a:prstGeom>
          <a:noFill/>
          <a:ln w="15875" cap="flat" cmpd="sng" algn="ctr">
            <a:solidFill>
              <a:srgbClr val="990100"/>
            </a:solid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00" rtl="0" eaLnBrk="1" fontAlgn="base" latinLnBrk="0" hangingPunct="1">
              <a:lnSpc>
                <a:spcPct val="120000"/>
              </a:lnSpc>
              <a:spcBef>
                <a:spcPct val="0"/>
              </a:spcBef>
              <a:spcAft>
                <a:spcPct val="0"/>
              </a:spcAft>
              <a:buClrTx/>
              <a:buSzTx/>
              <a:buFontTx/>
              <a:buNone/>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范式创新：基于</a:t>
            </a:r>
            <a:r>
              <a:rPr kumimoji="0" lang="en-US" altLang="zh-CN" sz="14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4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反事实推理</a:t>
            </a:r>
            <a:r>
              <a:rPr kumimoji="0" lang="en-US" altLang="zh-CN" sz="14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4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的白盒归因范式</a:t>
            </a:r>
            <a:endParaRPr kumimoji="0" lang="zh-CN" altLang="en-US" sz="14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1219200" rtl="0" eaLnBrk="1" fontAlgn="base" latinLnBrk="0" hangingPunct="1">
              <a:lnSpc>
                <a:spcPct val="120000"/>
              </a:lnSpc>
              <a:spcBef>
                <a:spcPct val="0"/>
              </a:spcBef>
              <a:spcAft>
                <a:spcPct val="0"/>
              </a:spcAft>
              <a:buClrTx/>
              <a:buSzTx/>
              <a:buFontTx/>
              <a:buNone/>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传统方式：</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现有</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CoT</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仅能做正向推导，难以区分</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表象语法错误</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与</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深层逻辑根因</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1219200" rtl="0" eaLnBrk="1" fontAlgn="base" latinLnBrk="0" hangingPunct="1">
              <a:lnSpc>
                <a:spcPct val="120000"/>
              </a:lnSpc>
              <a:spcBef>
                <a:spcPct val="0"/>
              </a:spcBef>
              <a:spcAft>
                <a:spcPct val="0"/>
              </a:spcAft>
              <a:buClrTx/>
              <a:buSzTx/>
              <a:buFontTx/>
              <a:buNone/>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突破：</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引入反事实推理信号，通过正反例对比微调，强制模型回溯错误根因</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1219200" rtl="0" eaLnBrk="1" fontAlgn="base" latinLnBrk="0" hangingPunct="1">
              <a:lnSpc>
                <a:spcPct val="120000"/>
              </a:lnSpc>
              <a:spcBef>
                <a:spcPct val="0"/>
              </a:spcBef>
              <a:spcAft>
                <a:spcPct val="0"/>
              </a:spcAft>
              <a:buClrTx/>
              <a:buSzTx/>
              <a:buFontTx/>
              <a:buNone/>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核心价值：</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解释深层逻辑成因，实现从</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黑盒</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到</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白盒教学</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的跨越。</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23" name="标题2"/>
          <p:cNvSpPr>
            <a:spLocks noChangeArrowheads="1"/>
          </p:cNvSpPr>
          <p:nvPr>
            <p:custDataLst>
              <p:tags r:id="rId4"/>
            </p:custDataLst>
          </p:nvPr>
        </p:nvSpPr>
        <p:spPr bwMode="gray">
          <a:xfrm>
            <a:off x="1333256" y="2979668"/>
            <a:ext cx="1326332" cy="1272353"/>
          </a:xfrm>
          <a:prstGeom prst="roundRect">
            <a:avLst>
              <a:gd name="adj" fmla="val 11921"/>
            </a:avLst>
          </a:prstGeom>
          <a:solidFill>
            <a:srgbClr val="990100"/>
          </a:solidFill>
          <a:ln w="25400" cap="flat" cmpd="sng" algn="ctr">
            <a:no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200" rtl="0" eaLnBrk="1" fontAlgn="base" latinLnBrk="0" hangingPunct="1">
              <a:lnSpc>
                <a:spcPct val="120000"/>
              </a:lnSpc>
              <a:spcBef>
                <a:spcPct val="0"/>
              </a:spcBef>
              <a:spcAft>
                <a:spcPct val="0"/>
              </a:spcAft>
              <a:buClrTx/>
              <a:buSzTx/>
              <a:buFontTx/>
              <a:buNone/>
              <a:defRPr/>
            </a:pPr>
            <a:r>
              <a:rPr kumimoji="0" lang="zh-CN" altLang="zh-CN" sz="1600" b="1" i="0" u="none" strike="noStrike" kern="1200" cap="none" spc="0" normalizeH="0" baseline="0" noProof="0" dirty="0">
                <a:ln>
                  <a:noFill/>
                </a:ln>
                <a:solidFill>
                  <a:sysClr val="window" lastClr="FFFFFF">
                    <a:lumMod val="95000"/>
                  </a:sysClr>
                </a:solidFill>
                <a:effectLst/>
                <a:uLnTx/>
                <a:uFillTx/>
                <a:latin typeface="微软雅黑" panose="020B0503020204020204" pitchFamily="34" charset="-122"/>
                <a:ea typeface="微软雅黑" panose="020B0503020204020204" pitchFamily="34" charset="-122"/>
                <a:cs typeface="+mn-cs"/>
              </a:rPr>
              <a:t>预测方式革新</a:t>
            </a:r>
            <a:endParaRPr kumimoji="0" lang="zh-CN" altLang="zh-CN" sz="1600" b="1" i="0" u="none" strike="noStrike" kern="1200" cap="none" spc="0" normalizeH="0" baseline="0" noProof="0" dirty="0">
              <a:ln>
                <a:noFill/>
              </a:ln>
              <a:solidFill>
                <a:sysClr val="window" lastClr="FFFFFF">
                  <a:lumMod val="95000"/>
                </a:sysClr>
              </a:solidFill>
              <a:effectLst/>
              <a:uLnTx/>
              <a:uFillTx/>
              <a:latin typeface="微软雅黑" panose="020B0503020204020204" pitchFamily="34" charset="-122"/>
              <a:ea typeface="微软雅黑" panose="020B0503020204020204" pitchFamily="34" charset="-122"/>
              <a:cs typeface="+mn-cs"/>
            </a:endParaRPr>
          </a:p>
        </p:txBody>
      </p:sp>
      <p:sp>
        <p:nvSpPr>
          <p:cNvPr id="24" name="文本3"/>
          <p:cNvSpPr>
            <a:spLocks noChangeArrowheads="1"/>
          </p:cNvSpPr>
          <p:nvPr>
            <p:custDataLst>
              <p:tags r:id="rId5"/>
            </p:custDataLst>
          </p:nvPr>
        </p:nvSpPr>
        <p:spPr bwMode="ltGray">
          <a:xfrm>
            <a:off x="2659264" y="4517522"/>
            <a:ext cx="8109701" cy="1260681"/>
          </a:xfrm>
          <a:prstGeom prst="roundRect">
            <a:avLst>
              <a:gd name="adj" fmla="val 11505"/>
            </a:avLst>
          </a:prstGeom>
          <a:noFill/>
          <a:ln w="15875" cap="flat" cmpd="sng" algn="ctr">
            <a:solidFill>
              <a:srgbClr val="990100"/>
            </a:solid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00" rtl="0" eaLnBrk="1" fontAlgn="base" latinLnBrk="0" hangingPunct="1">
              <a:lnSpc>
                <a:spcPct val="120000"/>
              </a:lnSpc>
              <a:spcBef>
                <a:spcPct val="0"/>
              </a:spcBef>
              <a:spcAft>
                <a:spcPct val="0"/>
              </a:spcAft>
              <a:buClrTx/>
              <a:buSzTx/>
              <a:buFontTx/>
              <a:buNone/>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认知状态引导的门控适配器</a:t>
            </a:r>
            <a:endParaRPr kumimoji="0" lang="zh-CN" altLang="en-US" sz="14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1219200" rtl="0" eaLnBrk="1" fontAlgn="base" latinLnBrk="0" hangingPunct="1">
              <a:lnSpc>
                <a:spcPct val="120000"/>
              </a:lnSpc>
              <a:spcBef>
                <a:spcPct val="0"/>
              </a:spcBef>
              <a:spcAft>
                <a:spcPct val="0"/>
              </a:spcAft>
              <a:buClrTx/>
              <a:buSzTx/>
              <a:buFontTx/>
              <a:buNone/>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痛点：</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编程过程存在大量盲目试错（</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Trial-and-Error</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）噪音，干扰大模型诊断</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1219200" rtl="0" eaLnBrk="1" fontAlgn="base" latinLnBrk="0" hangingPunct="1">
              <a:lnSpc>
                <a:spcPct val="120000"/>
              </a:lnSpc>
              <a:spcBef>
                <a:spcPct val="0"/>
              </a:spcBef>
              <a:spcAft>
                <a:spcPct val="0"/>
              </a:spcAft>
              <a:buClrTx/>
              <a:buSzTx/>
              <a:buFontTx/>
              <a:buNone/>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突破：</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设计</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DKT</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引导的门控融合策略，利用认知状态动态过滤无效行为，仅映射高价值逻辑修正特征</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1219200" rtl="0" eaLnBrk="1" fontAlgn="base" latinLnBrk="0" hangingPunct="1">
              <a:lnSpc>
                <a:spcPct val="120000"/>
              </a:lnSpc>
              <a:spcBef>
                <a:spcPct val="0"/>
              </a:spcBef>
              <a:spcAft>
                <a:spcPct val="0"/>
              </a:spcAft>
              <a:buClrTx/>
              <a:buSzTx/>
              <a:buFontTx/>
              <a:buNone/>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核心价值：</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突破了通用</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Projector</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线性映射的局限，显著提升了高噪数据下的特征纯度</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25" name="标题3"/>
          <p:cNvSpPr>
            <a:spLocks noChangeArrowheads="1"/>
          </p:cNvSpPr>
          <p:nvPr>
            <p:custDataLst>
              <p:tags r:id="rId6"/>
            </p:custDataLst>
          </p:nvPr>
        </p:nvSpPr>
        <p:spPr bwMode="gray">
          <a:xfrm>
            <a:off x="1333256" y="4517837"/>
            <a:ext cx="1326330" cy="1261002"/>
          </a:xfrm>
          <a:prstGeom prst="roundRect">
            <a:avLst>
              <a:gd name="adj" fmla="val 11921"/>
            </a:avLst>
          </a:prstGeom>
          <a:solidFill>
            <a:srgbClr val="990100"/>
          </a:solidFill>
          <a:ln w="25400" cap="flat" cmpd="sng" algn="ctr">
            <a:no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200" rtl="0" eaLnBrk="1" fontAlgn="base" latinLnBrk="0" hangingPunct="1">
              <a:lnSpc>
                <a:spcPct val="12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ysClr val="window" lastClr="FFFFFF">
                    <a:lumMod val="95000"/>
                  </a:sysClr>
                </a:solidFill>
                <a:effectLst/>
                <a:uLnTx/>
                <a:uFillTx/>
                <a:latin typeface="微软雅黑" panose="020B0503020204020204" pitchFamily="34" charset="-122"/>
                <a:ea typeface="微软雅黑" panose="020B0503020204020204" pitchFamily="34" charset="-122"/>
                <a:cs typeface="+mn-cs"/>
              </a:rPr>
              <a:t>架构设计突破</a:t>
            </a:r>
            <a:endParaRPr kumimoji="0" lang="zh-CN" altLang="en-US" sz="1600" b="1" i="0" u="none" strike="noStrike" kern="1200" cap="none" spc="0" normalizeH="0" baseline="0" noProof="0" dirty="0">
              <a:ln>
                <a:noFill/>
              </a:ln>
              <a:solidFill>
                <a:sysClr val="window" lastClr="FFFFFF">
                  <a:lumMod val="95000"/>
                </a:sysClr>
              </a:solidFill>
              <a:effectLst/>
              <a:uLnTx/>
              <a:uFillTx/>
              <a:latin typeface="微软雅黑" panose="020B0503020204020204" pitchFamily="34" charset="-122"/>
              <a:ea typeface="微软雅黑" panose="020B0503020204020204" pitchFamily="34" charset="-122"/>
              <a:cs typeface="+mn-cs"/>
            </a:endParaRPr>
          </a:p>
        </p:txBody>
      </p:sp>
      <p:pic>
        <p:nvPicPr>
          <p:cNvPr id="2" name="图片 1"/>
          <p:cNvPicPr>
            <a:picLocks noChangeAspect="1"/>
          </p:cNvPicPr>
          <p:nvPr/>
        </p:nvPicPr>
        <p:blipFill>
          <a:blip r:embed="rId7" cstate="print">
            <a:biLevel thresh="75000"/>
            <a:extLst>
              <a:ext uri="{BEBA8EAE-BF5A-486C-A8C5-ECC9F3942E4B}">
                <a14:imgProps xmlns:a14="http://schemas.microsoft.com/office/drawing/2010/main">
                  <a14:imgLayer r:embed="rId8">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12465" y="6301220"/>
            <a:ext cx="1523493" cy="400109"/>
          </a:xfrm>
          <a:prstGeom prst="rect">
            <a:avLst/>
          </a:prstGeom>
        </p:spPr>
      </p:pic>
      <p:pic>
        <p:nvPicPr>
          <p:cNvPr id="3" name="图片 2" descr="logo红"/>
          <p:cNvPicPr>
            <a:picLocks noChangeAspect="1"/>
          </p:cNvPicPr>
          <p:nvPr/>
        </p:nvPicPr>
        <p:blipFill>
          <a:blip r:embed="rId9"/>
          <a:stretch>
            <a:fillRect/>
          </a:stretch>
        </p:blipFill>
        <p:spPr>
          <a:xfrm>
            <a:off x="8033385" y="297815"/>
            <a:ext cx="3755390" cy="4946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5"/>
          <p:cNvSpPr txBox="1"/>
          <p:nvPr/>
        </p:nvSpPr>
        <p:spPr>
          <a:xfrm>
            <a:off x="5515816" y="4515025"/>
            <a:ext cx="1370330" cy="378460"/>
          </a:xfrm>
          <a:prstGeom prst="rect">
            <a:avLst/>
          </a:prstGeom>
          <a:noFill/>
        </p:spPr>
        <p:txBody>
          <a:bodyPr wrap="none" lIns="91440" tIns="45720" rIns="91440" bIns="4572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65" b="1" i="0" u="none" strike="noStrike" kern="1200" cap="none" spc="0" normalizeH="0" baseline="0" noProof="0" dirty="0">
                <a:ln>
                  <a:noFill/>
                </a:ln>
                <a:solidFill>
                  <a:srgbClr val="9901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导师：</a:t>
            </a:r>
            <a:r>
              <a:rPr kumimoji="0" lang="zh-CN" altLang="en-US" sz="1865" b="1" i="0" u="none" strike="noStrike" kern="1200" cap="none" spc="0" normalizeH="0" baseline="0" noProof="0" dirty="0">
                <a:ln>
                  <a:noFill/>
                </a:ln>
                <a:solidFill>
                  <a:srgbClr val="9901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覃飙</a:t>
            </a:r>
            <a:endParaRPr kumimoji="0" lang="zh-CN" altLang="en-US" sz="1865" b="1" i="0" u="none" strike="noStrike" kern="1200" cap="none" spc="0" normalizeH="0" baseline="0" noProof="0" dirty="0">
              <a:ln>
                <a:noFill/>
              </a:ln>
              <a:solidFill>
                <a:srgbClr val="9901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6" name="矩形 25"/>
          <p:cNvSpPr/>
          <p:nvPr/>
        </p:nvSpPr>
        <p:spPr>
          <a:xfrm>
            <a:off x="3390108" y="4515025"/>
            <a:ext cx="1845310" cy="378460"/>
          </a:xfrm>
          <a:prstGeom prst="rect">
            <a:avLst/>
          </a:prstGeom>
        </p:spPr>
        <p:txBody>
          <a:bodyPr wrap="non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865" b="1" i="0" u="none" strike="noStrike" kern="1200" cap="none" spc="0" normalizeH="0" baseline="0" noProof="0" dirty="0">
                <a:ln>
                  <a:noFill/>
                </a:ln>
                <a:solidFill>
                  <a:srgbClr val="9901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答辩人：</a:t>
            </a:r>
            <a:r>
              <a:rPr kumimoji="1" lang="zh-CN" altLang="en-US" sz="1865" b="1" i="0" u="none" strike="noStrike" kern="1200" cap="none" spc="0" normalizeH="0" baseline="0" noProof="0" dirty="0">
                <a:ln>
                  <a:noFill/>
                </a:ln>
                <a:solidFill>
                  <a:srgbClr val="9901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李岱轩</a:t>
            </a:r>
            <a:endParaRPr kumimoji="1" lang="zh-CN" altLang="en-US" sz="1865" b="1" i="0" u="none" strike="noStrike" kern="1200" cap="none" spc="0" normalizeH="0" baseline="0" noProof="0" dirty="0">
              <a:ln>
                <a:noFill/>
              </a:ln>
              <a:solidFill>
                <a:srgbClr val="9901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7" name="矩形 26"/>
          <p:cNvSpPr/>
          <p:nvPr/>
        </p:nvSpPr>
        <p:spPr>
          <a:xfrm>
            <a:off x="3278655" y="3135644"/>
            <a:ext cx="7785980" cy="1118319"/>
          </a:xfrm>
          <a:prstGeom prst="rect">
            <a:avLst/>
          </a:prstGeom>
        </p:spPr>
        <p:txBody>
          <a:bodyPr wrap="squar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6665" b="1" i="0" u="none" strike="noStrike" kern="1200" cap="none" spc="0" normalizeH="0" baseline="0" noProof="0" dirty="0">
                <a:ln>
                  <a:noFill/>
                </a:ln>
                <a:solidFill>
                  <a:srgbClr val="990100"/>
                </a:solidFill>
                <a:effectLst/>
                <a:uLnTx/>
                <a:uFillTx/>
                <a:latin typeface="微软雅黑" panose="020B0503020204020204" pitchFamily="34" charset="-122"/>
                <a:ea typeface="微软雅黑" panose="020B0503020204020204" pitchFamily="34" charset="-122"/>
                <a:cs typeface="+mn-cs"/>
              </a:rPr>
              <a:t>演示完毕 感谢聆听</a:t>
            </a:r>
            <a:r>
              <a:rPr kumimoji="0" lang="zh-CN" altLang="en-US" sz="6665" b="1" i="1" u="none" strike="noStrike" kern="1200" cap="none" spc="0" normalizeH="0" baseline="0" noProof="0" dirty="0">
                <a:ln>
                  <a:noFill/>
                </a:ln>
                <a:solidFill>
                  <a:srgbClr val="990100"/>
                </a:solidFill>
                <a:effectLst/>
                <a:uLnTx/>
                <a:uFillTx/>
                <a:latin typeface="微软雅黑" panose="020B0503020204020204" pitchFamily="34" charset="-122"/>
                <a:ea typeface="微软雅黑" panose="020B0503020204020204" pitchFamily="34" charset="-122"/>
                <a:cs typeface="+mn-cs"/>
              </a:rPr>
              <a:t>！</a:t>
            </a:r>
            <a:endParaRPr kumimoji="0" lang="zh-CN" altLang="en-US" sz="6665" b="1" i="1" u="none" strike="noStrike" kern="1200" cap="none" spc="0" normalizeH="0" baseline="0" noProof="0" dirty="0">
              <a:ln>
                <a:noFill/>
              </a:ln>
              <a:solidFill>
                <a:srgbClr val="990100"/>
              </a:solidFill>
              <a:effectLst/>
              <a:uLnTx/>
              <a:uFillTx/>
              <a:latin typeface="微软雅黑" panose="020B0503020204020204" pitchFamily="34" charset="-122"/>
              <a:ea typeface="微软雅黑" panose="020B0503020204020204" pitchFamily="34" charset="-122"/>
              <a:cs typeface="+mn-cs"/>
            </a:endParaRPr>
          </a:p>
        </p:txBody>
      </p:sp>
      <p:cxnSp>
        <p:nvCxnSpPr>
          <p:cNvPr id="28" name="直接连接符 27"/>
          <p:cNvCxnSpPr/>
          <p:nvPr/>
        </p:nvCxnSpPr>
        <p:spPr>
          <a:xfrm flipH="1">
            <a:off x="3390108" y="4369884"/>
            <a:ext cx="67090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矩形 29"/>
          <p:cNvSpPr/>
          <p:nvPr/>
        </p:nvSpPr>
        <p:spPr>
          <a:xfrm>
            <a:off x="3372002" y="2680769"/>
            <a:ext cx="5162398" cy="378460"/>
          </a:xfrm>
          <a:prstGeom prst="rect">
            <a:avLst/>
          </a:prstGeom>
        </p:spPr>
        <p:txBody>
          <a:bodyPr wrap="squar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中国人民大学</a:t>
            </a:r>
            <a:r>
              <a:rPr kumimoji="0" lang="en-US" altLang="zh-CN"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2024</a:t>
            </a:r>
            <a:r>
              <a:rPr kumimoji="0" lang="zh-CN" altLang="en-US"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级</a:t>
            </a:r>
            <a:endParaRPr kumimoji="0" lang="zh-CN" altLang="en-US"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 name="Freeform 5"/>
          <p:cNvSpPr>
            <a:spLocks noEditPoints="1"/>
          </p:cNvSpPr>
          <p:nvPr/>
        </p:nvSpPr>
        <p:spPr bwMode="auto">
          <a:xfrm>
            <a:off x="1" y="1552169"/>
            <a:ext cx="2387969" cy="3826419"/>
          </a:xfrm>
          <a:custGeom>
            <a:avLst/>
            <a:gdLst>
              <a:gd name="T0" fmla="*/ 0 w 7449"/>
              <a:gd name="T1" fmla="*/ 0 h 11906"/>
              <a:gd name="T2" fmla="*/ 7449 w 7449"/>
              <a:gd name="T3" fmla="*/ 4223 h 11906"/>
              <a:gd name="T4" fmla="*/ 0 w 7449"/>
              <a:gd name="T5" fmla="*/ 4223 h 11906"/>
              <a:gd name="T6" fmla="*/ 0 w 7449"/>
              <a:gd name="T7" fmla="*/ 0 h 11906"/>
              <a:gd name="T8" fmla="*/ 7449 w 7449"/>
              <a:gd name="T9" fmla="*/ 4302 h 11906"/>
              <a:gd name="T10" fmla="*/ 0 w 7449"/>
              <a:gd name="T11" fmla="*/ 8525 h 11906"/>
              <a:gd name="T12" fmla="*/ 0 w 7449"/>
              <a:gd name="T13" fmla="*/ 4302 h 11906"/>
              <a:gd name="T14" fmla="*/ 7449 w 7449"/>
              <a:gd name="T15" fmla="*/ 4302 h 11906"/>
              <a:gd name="T16" fmla="*/ 2857 w 7449"/>
              <a:gd name="T17" fmla="*/ 10038 h 11906"/>
              <a:gd name="T18" fmla="*/ 5 w 7449"/>
              <a:gd name="T19" fmla="*/ 11903 h 11906"/>
              <a:gd name="T20" fmla="*/ 0 w 7449"/>
              <a:gd name="T21" fmla="*/ 11906 h 11906"/>
              <a:gd name="T22" fmla="*/ 0 w 7449"/>
              <a:gd name="T23" fmla="*/ 8789 h 11906"/>
              <a:gd name="T24" fmla="*/ 2857 w 7449"/>
              <a:gd name="T25" fmla="*/ 7136 h 11906"/>
              <a:gd name="T26" fmla="*/ 2857 w 7449"/>
              <a:gd name="T27" fmla="*/ 10038 h 119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449" h="11906">
                <a:moveTo>
                  <a:pt x="0" y="0"/>
                </a:moveTo>
                <a:lnTo>
                  <a:pt x="7449" y="4223"/>
                </a:lnTo>
                <a:lnTo>
                  <a:pt x="0" y="4223"/>
                </a:lnTo>
                <a:lnTo>
                  <a:pt x="0" y="0"/>
                </a:lnTo>
                <a:close/>
                <a:moveTo>
                  <a:pt x="7449" y="4302"/>
                </a:moveTo>
                <a:lnTo>
                  <a:pt x="0" y="8525"/>
                </a:lnTo>
                <a:lnTo>
                  <a:pt x="0" y="4302"/>
                </a:lnTo>
                <a:lnTo>
                  <a:pt x="7449" y="4302"/>
                </a:lnTo>
                <a:close/>
                <a:moveTo>
                  <a:pt x="2857" y="10038"/>
                </a:moveTo>
                <a:cubicBezTo>
                  <a:pt x="2537" y="11326"/>
                  <a:pt x="721" y="11825"/>
                  <a:pt x="5" y="11903"/>
                </a:cubicBezTo>
                <a:lnTo>
                  <a:pt x="0" y="11906"/>
                </a:lnTo>
                <a:lnTo>
                  <a:pt x="0" y="8789"/>
                </a:lnTo>
                <a:lnTo>
                  <a:pt x="2857" y="7136"/>
                </a:lnTo>
                <a:lnTo>
                  <a:pt x="2857" y="10038"/>
                </a:lnTo>
                <a:close/>
              </a:path>
            </a:pathLst>
          </a:custGeom>
          <a:solidFill>
            <a:srgbClr val="990100"/>
          </a:solidFill>
          <a:ln w="5" cap="flat">
            <a:solidFill>
              <a:srgbClr val="990100"/>
            </a:solidFill>
            <a:prstDash val="solid"/>
            <a:miter lim="800000"/>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5" name="Freeform 6"/>
          <p:cNvSpPr>
            <a:spLocks noEditPoints="1"/>
          </p:cNvSpPr>
          <p:nvPr/>
        </p:nvSpPr>
        <p:spPr bwMode="auto">
          <a:xfrm>
            <a:off x="2296560" y="2937549"/>
            <a:ext cx="182819" cy="2259004"/>
          </a:xfrm>
          <a:custGeom>
            <a:avLst/>
            <a:gdLst>
              <a:gd name="T0" fmla="*/ 246 w 571"/>
              <a:gd name="T1" fmla="*/ 0 h 7028"/>
              <a:gd name="T2" fmla="*/ 246 w 571"/>
              <a:gd name="T3" fmla="*/ 2716 h 7028"/>
              <a:gd name="T4" fmla="*/ 178 w 571"/>
              <a:gd name="T5" fmla="*/ 2816 h 7028"/>
              <a:gd name="T6" fmla="*/ 286 w 571"/>
              <a:gd name="T7" fmla="*/ 2924 h 7028"/>
              <a:gd name="T8" fmla="*/ 394 w 571"/>
              <a:gd name="T9" fmla="*/ 2816 h 7028"/>
              <a:gd name="T10" fmla="*/ 325 w 571"/>
              <a:gd name="T11" fmla="*/ 2716 h 7028"/>
              <a:gd name="T12" fmla="*/ 325 w 571"/>
              <a:gd name="T13" fmla="*/ 0 h 7028"/>
              <a:gd name="T14" fmla="*/ 246 w 571"/>
              <a:gd name="T15" fmla="*/ 0 h 7028"/>
              <a:gd name="T16" fmla="*/ 0 w 571"/>
              <a:gd name="T17" fmla="*/ 3749 h 7028"/>
              <a:gd name="T18" fmla="*/ 571 w 571"/>
              <a:gd name="T19" fmla="*/ 3749 h 7028"/>
              <a:gd name="T20" fmla="*/ 571 w 571"/>
              <a:gd name="T21" fmla="*/ 3790 h 7028"/>
              <a:gd name="T22" fmla="*/ 0 w 571"/>
              <a:gd name="T23" fmla="*/ 3790 h 7028"/>
              <a:gd name="T24" fmla="*/ 0 w 571"/>
              <a:gd name="T25" fmla="*/ 3749 h 7028"/>
              <a:gd name="T26" fmla="*/ 0 w 571"/>
              <a:gd name="T27" fmla="*/ 3323 h 7028"/>
              <a:gd name="T28" fmla="*/ 0 w 571"/>
              <a:gd name="T29" fmla="*/ 3323 h 7028"/>
              <a:gd name="T30" fmla="*/ 0 w 571"/>
              <a:gd name="T31" fmla="*/ 3323 h 7028"/>
              <a:gd name="T32" fmla="*/ 286 w 571"/>
              <a:gd name="T33" fmla="*/ 3037 h 7028"/>
              <a:gd name="T34" fmla="*/ 571 w 571"/>
              <a:gd name="T35" fmla="*/ 3323 h 7028"/>
              <a:gd name="T36" fmla="*/ 571 w 571"/>
              <a:gd name="T37" fmla="*/ 3323 h 7028"/>
              <a:gd name="T38" fmla="*/ 571 w 571"/>
              <a:gd name="T39" fmla="*/ 3323 h 7028"/>
              <a:gd name="T40" fmla="*/ 571 w 571"/>
              <a:gd name="T41" fmla="*/ 3683 h 7028"/>
              <a:gd name="T42" fmla="*/ 0 w 571"/>
              <a:gd name="T43" fmla="*/ 3683 h 7028"/>
              <a:gd name="T44" fmla="*/ 0 w 571"/>
              <a:gd name="T45" fmla="*/ 3323 h 7028"/>
              <a:gd name="T46" fmla="*/ 37 w 571"/>
              <a:gd name="T47" fmla="*/ 3885 h 7028"/>
              <a:gd name="T48" fmla="*/ 0 w 571"/>
              <a:gd name="T49" fmla="*/ 3885 h 7028"/>
              <a:gd name="T50" fmla="*/ 0 w 571"/>
              <a:gd name="T51" fmla="*/ 7028 h 7028"/>
              <a:gd name="T52" fmla="*/ 37 w 571"/>
              <a:gd name="T53" fmla="*/ 7028 h 7028"/>
              <a:gd name="T54" fmla="*/ 37 w 571"/>
              <a:gd name="T55" fmla="*/ 3885 h 7028"/>
              <a:gd name="T56" fmla="*/ 126 w 571"/>
              <a:gd name="T57" fmla="*/ 3885 h 7028"/>
              <a:gd name="T58" fmla="*/ 89 w 571"/>
              <a:gd name="T59" fmla="*/ 3885 h 7028"/>
              <a:gd name="T60" fmla="*/ 89 w 571"/>
              <a:gd name="T61" fmla="*/ 7028 h 7028"/>
              <a:gd name="T62" fmla="*/ 126 w 571"/>
              <a:gd name="T63" fmla="*/ 7028 h 7028"/>
              <a:gd name="T64" fmla="*/ 126 w 571"/>
              <a:gd name="T65" fmla="*/ 3885 h 7028"/>
              <a:gd name="T66" fmla="*/ 215 w 571"/>
              <a:gd name="T67" fmla="*/ 3885 h 7028"/>
              <a:gd name="T68" fmla="*/ 178 w 571"/>
              <a:gd name="T69" fmla="*/ 3885 h 7028"/>
              <a:gd name="T70" fmla="*/ 178 w 571"/>
              <a:gd name="T71" fmla="*/ 7028 h 7028"/>
              <a:gd name="T72" fmla="*/ 215 w 571"/>
              <a:gd name="T73" fmla="*/ 7028 h 7028"/>
              <a:gd name="T74" fmla="*/ 215 w 571"/>
              <a:gd name="T75" fmla="*/ 3885 h 7028"/>
              <a:gd name="T76" fmla="*/ 304 w 571"/>
              <a:gd name="T77" fmla="*/ 3885 h 7028"/>
              <a:gd name="T78" fmla="*/ 267 w 571"/>
              <a:gd name="T79" fmla="*/ 3885 h 7028"/>
              <a:gd name="T80" fmla="*/ 267 w 571"/>
              <a:gd name="T81" fmla="*/ 7028 h 7028"/>
              <a:gd name="T82" fmla="*/ 304 w 571"/>
              <a:gd name="T83" fmla="*/ 7028 h 7028"/>
              <a:gd name="T84" fmla="*/ 304 w 571"/>
              <a:gd name="T85" fmla="*/ 3885 h 7028"/>
              <a:gd name="T86" fmla="*/ 393 w 571"/>
              <a:gd name="T87" fmla="*/ 3885 h 7028"/>
              <a:gd name="T88" fmla="*/ 356 w 571"/>
              <a:gd name="T89" fmla="*/ 3885 h 7028"/>
              <a:gd name="T90" fmla="*/ 356 w 571"/>
              <a:gd name="T91" fmla="*/ 7028 h 7028"/>
              <a:gd name="T92" fmla="*/ 393 w 571"/>
              <a:gd name="T93" fmla="*/ 7028 h 7028"/>
              <a:gd name="T94" fmla="*/ 393 w 571"/>
              <a:gd name="T95" fmla="*/ 3885 h 7028"/>
              <a:gd name="T96" fmla="*/ 482 w 571"/>
              <a:gd name="T97" fmla="*/ 3885 h 7028"/>
              <a:gd name="T98" fmla="*/ 445 w 571"/>
              <a:gd name="T99" fmla="*/ 3885 h 7028"/>
              <a:gd name="T100" fmla="*/ 445 w 571"/>
              <a:gd name="T101" fmla="*/ 7028 h 7028"/>
              <a:gd name="T102" fmla="*/ 482 w 571"/>
              <a:gd name="T103" fmla="*/ 7028 h 7028"/>
              <a:gd name="T104" fmla="*/ 482 w 571"/>
              <a:gd name="T105" fmla="*/ 3885 h 7028"/>
              <a:gd name="T106" fmla="*/ 571 w 571"/>
              <a:gd name="T107" fmla="*/ 3885 h 7028"/>
              <a:gd name="T108" fmla="*/ 534 w 571"/>
              <a:gd name="T109" fmla="*/ 3885 h 7028"/>
              <a:gd name="T110" fmla="*/ 534 w 571"/>
              <a:gd name="T111" fmla="*/ 7028 h 7028"/>
              <a:gd name="T112" fmla="*/ 571 w 571"/>
              <a:gd name="T113" fmla="*/ 7028 h 7028"/>
              <a:gd name="T114" fmla="*/ 571 w 571"/>
              <a:gd name="T115" fmla="*/ 3885 h 70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71" h="7028">
                <a:moveTo>
                  <a:pt x="246" y="0"/>
                </a:moveTo>
                <a:lnTo>
                  <a:pt x="246" y="2716"/>
                </a:lnTo>
                <a:cubicBezTo>
                  <a:pt x="206" y="2731"/>
                  <a:pt x="178" y="2770"/>
                  <a:pt x="178" y="2816"/>
                </a:cubicBezTo>
                <a:cubicBezTo>
                  <a:pt x="178" y="2876"/>
                  <a:pt x="226" y="2924"/>
                  <a:pt x="286" y="2924"/>
                </a:cubicBezTo>
                <a:cubicBezTo>
                  <a:pt x="345" y="2924"/>
                  <a:pt x="394" y="2876"/>
                  <a:pt x="394" y="2816"/>
                </a:cubicBezTo>
                <a:cubicBezTo>
                  <a:pt x="394" y="2770"/>
                  <a:pt x="365" y="2731"/>
                  <a:pt x="325" y="2716"/>
                </a:cubicBezTo>
                <a:lnTo>
                  <a:pt x="325" y="0"/>
                </a:lnTo>
                <a:lnTo>
                  <a:pt x="246" y="0"/>
                </a:lnTo>
                <a:close/>
                <a:moveTo>
                  <a:pt x="0" y="3749"/>
                </a:moveTo>
                <a:lnTo>
                  <a:pt x="571" y="3749"/>
                </a:lnTo>
                <a:lnTo>
                  <a:pt x="571" y="3790"/>
                </a:lnTo>
                <a:lnTo>
                  <a:pt x="0" y="3790"/>
                </a:lnTo>
                <a:lnTo>
                  <a:pt x="0" y="3749"/>
                </a:lnTo>
                <a:close/>
                <a:moveTo>
                  <a:pt x="0" y="3323"/>
                </a:moveTo>
                <a:lnTo>
                  <a:pt x="0" y="3323"/>
                </a:lnTo>
                <a:lnTo>
                  <a:pt x="0" y="3323"/>
                </a:lnTo>
                <a:cubicBezTo>
                  <a:pt x="0" y="3165"/>
                  <a:pt x="128" y="3037"/>
                  <a:pt x="286" y="3037"/>
                </a:cubicBezTo>
                <a:cubicBezTo>
                  <a:pt x="443" y="3037"/>
                  <a:pt x="571" y="3165"/>
                  <a:pt x="571" y="3323"/>
                </a:cubicBezTo>
                <a:lnTo>
                  <a:pt x="571" y="3323"/>
                </a:lnTo>
                <a:lnTo>
                  <a:pt x="571" y="3323"/>
                </a:lnTo>
                <a:lnTo>
                  <a:pt x="571" y="3683"/>
                </a:lnTo>
                <a:lnTo>
                  <a:pt x="0" y="3683"/>
                </a:lnTo>
                <a:lnTo>
                  <a:pt x="0" y="3323"/>
                </a:lnTo>
                <a:close/>
                <a:moveTo>
                  <a:pt x="37" y="3885"/>
                </a:moveTo>
                <a:lnTo>
                  <a:pt x="0" y="3885"/>
                </a:lnTo>
                <a:lnTo>
                  <a:pt x="0" y="7028"/>
                </a:lnTo>
                <a:lnTo>
                  <a:pt x="37" y="7028"/>
                </a:lnTo>
                <a:lnTo>
                  <a:pt x="37" y="3885"/>
                </a:lnTo>
                <a:close/>
                <a:moveTo>
                  <a:pt x="126" y="3885"/>
                </a:moveTo>
                <a:lnTo>
                  <a:pt x="89" y="3885"/>
                </a:lnTo>
                <a:lnTo>
                  <a:pt x="89" y="7028"/>
                </a:lnTo>
                <a:lnTo>
                  <a:pt x="126" y="7028"/>
                </a:lnTo>
                <a:lnTo>
                  <a:pt x="126" y="3885"/>
                </a:lnTo>
                <a:close/>
                <a:moveTo>
                  <a:pt x="215" y="3885"/>
                </a:moveTo>
                <a:lnTo>
                  <a:pt x="178" y="3885"/>
                </a:lnTo>
                <a:lnTo>
                  <a:pt x="178" y="7028"/>
                </a:lnTo>
                <a:lnTo>
                  <a:pt x="215" y="7028"/>
                </a:lnTo>
                <a:lnTo>
                  <a:pt x="215" y="3885"/>
                </a:lnTo>
                <a:close/>
                <a:moveTo>
                  <a:pt x="304" y="3885"/>
                </a:moveTo>
                <a:lnTo>
                  <a:pt x="267" y="3885"/>
                </a:lnTo>
                <a:lnTo>
                  <a:pt x="267" y="7028"/>
                </a:lnTo>
                <a:lnTo>
                  <a:pt x="304" y="7028"/>
                </a:lnTo>
                <a:lnTo>
                  <a:pt x="304" y="3885"/>
                </a:lnTo>
                <a:close/>
                <a:moveTo>
                  <a:pt x="393" y="3885"/>
                </a:moveTo>
                <a:lnTo>
                  <a:pt x="356" y="3885"/>
                </a:lnTo>
                <a:lnTo>
                  <a:pt x="356" y="7028"/>
                </a:lnTo>
                <a:lnTo>
                  <a:pt x="393" y="7028"/>
                </a:lnTo>
                <a:lnTo>
                  <a:pt x="393" y="3885"/>
                </a:lnTo>
                <a:close/>
                <a:moveTo>
                  <a:pt x="482" y="3885"/>
                </a:moveTo>
                <a:lnTo>
                  <a:pt x="445" y="3885"/>
                </a:lnTo>
                <a:lnTo>
                  <a:pt x="445" y="7028"/>
                </a:lnTo>
                <a:lnTo>
                  <a:pt x="482" y="7028"/>
                </a:lnTo>
                <a:lnTo>
                  <a:pt x="482" y="3885"/>
                </a:lnTo>
                <a:close/>
                <a:moveTo>
                  <a:pt x="571" y="3885"/>
                </a:moveTo>
                <a:lnTo>
                  <a:pt x="534" y="3885"/>
                </a:lnTo>
                <a:lnTo>
                  <a:pt x="534" y="7028"/>
                </a:lnTo>
                <a:lnTo>
                  <a:pt x="571" y="7028"/>
                </a:lnTo>
                <a:lnTo>
                  <a:pt x="571" y="3885"/>
                </a:lnTo>
                <a:close/>
              </a:path>
            </a:pathLst>
          </a:custGeom>
          <a:solidFill>
            <a:srgbClr val="990100"/>
          </a:solidFill>
          <a:ln>
            <a:solidFill>
              <a:srgbClr val="990100"/>
            </a:solidFill>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dirty="0">
              <a:ln>
                <a:noFill/>
              </a:ln>
              <a:solidFill>
                <a:prstClr val="black"/>
              </a:solidFill>
              <a:effectLst/>
              <a:uLnTx/>
              <a:uFillTx/>
              <a:latin typeface="Arial" panose="020B0604020202020204"/>
              <a:ea typeface="微软雅黑" panose="020B0503020204020204" pitchFamily="34" charset="-122"/>
              <a:cs typeface="+mn-cs"/>
            </a:endParaRPr>
          </a:p>
        </p:txBody>
      </p:sp>
      <p:pic>
        <p:nvPicPr>
          <p:cNvPr id="2" name="图片 1"/>
          <p:cNvPicPr>
            <a:picLocks noChangeAspect="1"/>
          </p:cNvPicPr>
          <p:nvPr/>
        </p:nvPicPr>
        <p:blipFill>
          <a:blip r:embed="rId1" cstate="print">
            <a:biLevel thresh="75000"/>
            <a:extLst>
              <a:ext uri="{BEBA8EAE-BF5A-486C-A8C5-ECC9F3942E4B}">
                <a14:imgProps xmlns:a14="http://schemas.microsoft.com/office/drawing/2010/main">
                  <a14:imgLayer r:embed="rId2">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10186714" y="6237729"/>
            <a:ext cx="1697786" cy="445883"/>
          </a:xfrm>
          <a:prstGeom prst="rect">
            <a:avLst/>
          </a:prstGeom>
        </p:spPr>
      </p:pic>
      <p:pic>
        <p:nvPicPr>
          <p:cNvPr id="4" name="图片 3" descr="logo红"/>
          <p:cNvPicPr>
            <a:picLocks noChangeAspect="1"/>
          </p:cNvPicPr>
          <p:nvPr/>
        </p:nvPicPr>
        <p:blipFill>
          <a:blip r:embed="rId3"/>
          <a:stretch>
            <a:fillRect/>
          </a:stretch>
        </p:blipFill>
        <p:spPr>
          <a:xfrm>
            <a:off x="3390265" y="1459230"/>
            <a:ext cx="6671310" cy="8788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tags/tag1.xml><?xml version="1.0" encoding="utf-8"?>
<p:tagLst xmlns:p="http://schemas.openxmlformats.org/presentationml/2006/main">
  <p:tag name="KSO_WM_DIAGRAM_VIRTUALLY_FRAME" val="{&quot;height&quot;:321.4150393700787,&quot;left&quot;:256.8307874015748,&quot;top&quot;:141.48188976377952,&quot;width&quot;:563.3645669291338}"/>
</p:tagLst>
</file>

<file path=ppt/tags/tag2.xml><?xml version="1.0" encoding="utf-8"?>
<p:tagLst xmlns:p="http://schemas.openxmlformats.org/presentationml/2006/main">
  <p:tag name="KSO_WM_DIAGRAM_VIRTUALLY_FRAME" val="{&quot;height&quot;:321.4150393700787,&quot;left&quot;:256.8307874015748,&quot;top&quot;:141.48188976377952,&quot;width&quot;:563.3645669291338}"/>
</p:tagLst>
</file>

<file path=ppt/tags/tag3.xml><?xml version="1.0" encoding="utf-8"?>
<p:tagLst xmlns:p="http://schemas.openxmlformats.org/presentationml/2006/main">
  <p:tag name="KSO_WM_DIAGRAM_VIRTUALLY_FRAME" val="{&quot;height&quot;:321.4150393700787,&quot;left&quot;:256.8307874015748,&quot;top&quot;:141.48188976377952,&quot;width&quot;:563.3645669291338}"/>
</p:tagLst>
</file>

<file path=ppt/tags/tag4.xml><?xml version="1.0" encoding="utf-8"?>
<p:tagLst xmlns:p="http://schemas.openxmlformats.org/presentationml/2006/main">
  <p:tag name="KSO_WM_DIAGRAM_VIRTUALLY_FRAME" val="{&quot;height&quot;:321.4150393700787,&quot;left&quot;:256.8307874015748,&quot;top&quot;:141.48188976377952,&quot;width&quot;:563.3645669291338}"/>
</p:tagLst>
</file>

<file path=ppt/tags/tag5.xml><?xml version="1.0" encoding="utf-8"?>
<p:tagLst xmlns:p="http://schemas.openxmlformats.org/presentationml/2006/main">
  <p:tag name="KSO_WM_DIAGRAM_VIRTUALLY_FRAME" val="{&quot;height&quot;:321.4150393700787,&quot;left&quot;:256.8307874015748,&quot;top&quot;:141.48188976377952,&quot;width&quot;:563.3645669291338}"/>
</p:tagLst>
</file>

<file path=ppt/tags/tag6.xml><?xml version="1.0" encoding="utf-8"?>
<p:tagLst xmlns:p="http://schemas.openxmlformats.org/presentationml/2006/main">
  <p:tag name="KSO_WM_DIAGRAM_VIRTUALLY_FRAME" val="{&quot;height&quot;:455.6,&quot;left&quot;:35.15,&quot;top&quot;:73.35,&quot;width&quot;:609.35}"/>
</p:tagLst>
</file>

<file path=ppt/tags/tag7.xml><?xml version="1.0" encoding="utf-8"?>
<p:tagLst xmlns:p="http://schemas.openxmlformats.org/presentationml/2006/main">
  <p:tag name="KSO_WM_DIAGRAM_VIRTUALLY_FRAME" val="{&quot;height&quot;:455.6,&quot;left&quot;:35.15,&quot;top&quot;:73.35,&quot;width&quot;:609.35}"/>
</p:tagLst>
</file>

<file path=ppt/tags/tag8.xml><?xml version="1.0" encoding="utf-8"?>
<p:tagLst xmlns:p="http://schemas.openxmlformats.org/presentationml/2006/main">
  <p:tag name="KSO_WM_DIAGRAM_VIRTUALLY_FRAME" val="{&quot;height&quot;:455.6,&quot;left&quot;:35.15,&quot;top&quot;:73.35,&quot;width&quot;:609.35}"/>
</p:tagLst>
</file>

<file path=ppt/tags/tag9.xml><?xml version="1.0" encoding="utf-8"?>
<p:tagLst xmlns:p="http://schemas.openxmlformats.org/presentationml/2006/main">
  <p:tag name="KSO_WM_DIAGRAM_VIRTUALLY_FRAME" val="{&quot;height&quot;:287.9,&quot;left&quot;:35.15,&quot;top&quot;:73.35,&quot;width&quot;:609.35}"/>
</p:tagLst>
</file>

<file path=ppt/tags/tag10.xml><?xml version="1.0" encoding="utf-8"?>
<p:tagLst xmlns:p="http://schemas.openxmlformats.org/presentationml/2006/main">
  <p:tag name="KSO_WM_DIAGRAM_VIRTUALLY_FRAME" val="{&quot;height&quot;:287.9,&quot;left&quot;:35.15,&quot;top&quot;:73.35,&quot;width&quot;:609.35}"/>
</p:tagLst>
</file>

<file path=ppt/tags/tag11.xml><?xml version="1.0" encoding="utf-8"?>
<p:tagLst xmlns:p="http://schemas.openxmlformats.org/presentationml/2006/main">
  <p:tag name="KSO_WM_DIAGRAM_VIRTUALLY_FRAME" val="{&quot;height&quot;:455.6,&quot;left&quot;:35.15,&quot;top&quot;:73.35,&quot;width&quot;:609.35}"/>
</p:tagLst>
</file>

<file path=ppt/tags/tag12.xml><?xml version="1.0" encoding="utf-8"?>
<p:tagLst xmlns:p="http://schemas.openxmlformats.org/presentationml/2006/main">
  <p:tag name="KSO_WM_DIAGRAM_VIRTUALLY_FRAME" val="{&quot;height&quot;:455.6,&quot;left&quot;:35.15,&quot;top&quot;:73.35,&quot;width&quot;:609.35}"/>
</p:tagLst>
</file>

<file path=ppt/tags/tag13.xml><?xml version="1.0" encoding="utf-8"?>
<p:tagLst xmlns:p="http://schemas.openxmlformats.org/presentationml/2006/main">
  <p:tag name="KSO_WM_DIAGRAM_VIRTUALLY_FRAME" val="{&quot;height&quot;:455.6,&quot;left&quot;:35.15,&quot;top&quot;:73.35,&quot;width&quot;:609.35}"/>
</p:tagLst>
</file>

<file path=ppt/tags/tag14.xml><?xml version="1.0" encoding="utf-8"?>
<p:tagLst xmlns:p="http://schemas.openxmlformats.org/presentationml/2006/main">
  <p:tag name="KSO_WM_DIAGRAM_VIRTUALLY_FRAME" val="{&quot;height&quot;:455.6,&quot;left&quot;:35.15,&quot;top&quot;:73.35,&quot;width&quot;:609.35}"/>
</p:tagLst>
</file>

<file path=ppt/tags/tag15.xml><?xml version="1.0" encoding="utf-8"?>
<p:tagLst xmlns:p="http://schemas.openxmlformats.org/presentationml/2006/main">
  <p:tag name="KSO_WM_DIAGRAM_VIRTUALLY_FRAME" val="{&quot;height&quot;:455.6,&quot;left&quot;:35.15,&quot;top&quot;:73.35,&quot;width&quot;:609.35}"/>
</p:tagLst>
</file>

<file path=ppt/tags/tag16.xml><?xml version="1.0" encoding="utf-8"?>
<p:tagLst xmlns:p="http://schemas.openxmlformats.org/presentationml/2006/main">
  <p:tag name="KSO_WM_DIAGRAM_VIRTUALLY_FRAME" val="{&quot;height&quot;:455.6,&quot;left&quot;:35.15,&quot;top&quot;:73.35,&quot;width&quot;:609.35}"/>
</p:tagLst>
</file>

<file path=ppt/tags/tag17.xml><?xml version="1.0" encoding="utf-8"?>
<p:tagLst xmlns:p="http://schemas.openxmlformats.org/presentationml/2006/main">
  <p:tag name="KSO_WM_DIAGRAM_VIRTUALLY_FRAME" val="{&quot;height&quot;:455.6,&quot;left&quot;:35.15,&quot;top&quot;:73.35,&quot;width&quot;:609.35}"/>
</p:tagLst>
</file>

<file path=ppt/tags/tag18.xml><?xml version="1.0" encoding="utf-8"?>
<p:tagLst xmlns:p="http://schemas.openxmlformats.org/presentationml/2006/main">
  <p:tag name="KSO_WM_DIAGRAM_VIRTUALLY_FRAME" val="{&quot;height&quot;:455.6,&quot;left&quot;:35.15,&quot;top&quot;:73.35,&quot;width&quot;:609.35}"/>
</p:tagLst>
</file>

<file path=ppt/tags/tag19.xml><?xml version="1.0" encoding="utf-8"?>
<p:tagLst xmlns:p="http://schemas.openxmlformats.org/presentationml/2006/main">
  <p:tag name="KSO_WM_DIAGRAM_VIRTUALLY_FRAME" val="{&quot;height&quot;:455.6,&quot;left&quot;:35.15,&quot;top&quot;:73.35,&quot;width&quot;:609.35}"/>
</p:tagLst>
</file>

<file path=ppt/tags/tag20.xml><?xml version="1.0" encoding="utf-8"?>
<p:tagLst xmlns:p="http://schemas.openxmlformats.org/presentationml/2006/main">
  <p:tag name="KSO_WM_DIAGRAM_VIRTUALLY_FRAME" val="{&quot;height&quot;:455.6,&quot;left&quot;:35.15,&quot;top&quot;:73.35,&quot;width&quot;:609.35}"/>
</p:tagLst>
</file>

<file path=ppt/tags/tag21.xml><?xml version="1.0" encoding="utf-8"?>
<p:tagLst xmlns:p="http://schemas.openxmlformats.org/presentationml/2006/main">
  <p:tag name="KSO_WM_DIAGRAM_VIRTUALLY_FRAME" val="{&quot;height&quot;:455.6,&quot;left&quot;:35.15,&quot;top&quot;:73.35,&quot;width&quot;:609.35}"/>
</p:tagLst>
</file>

<file path=ppt/tags/tag22.xml><?xml version="1.0" encoding="utf-8"?>
<p:tagLst xmlns:p="http://schemas.openxmlformats.org/presentationml/2006/main">
  <p:tag name="KSO_WM_DIAGRAM_VIRTUALLY_FRAME" val="{&quot;height&quot;:455.6,&quot;left&quot;:35.15,&quot;top&quot;:73.35,&quot;width&quot;:609.35}"/>
</p:tagLst>
</file>

<file path=ppt/tags/tag23.xml><?xml version="1.0" encoding="utf-8"?>
<p:tagLst xmlns:p="http://schemas.openxmlformats.org/presentationml/2006/main">
  <p:tag name="KSO_WM_DIAGRAM_VIRTUALLY_FRAME" val="{&quot;height&quot;:455.6,&quot;left&quot;:35.15,&quot;top&quot;:73.35,&quot;width&quot;:609.35}"/>
</p:tagLst>
</file>

<file path=ppt/tags/tag24.xml><?xml version="1.0" encoding="utf-8"?>
<p:tagLst xmlns:p="http://schemas.openxmlformats.org/presentationml/2006/main">
  <p:tag name="KSO_WM_DIAGRAM_VIRTUALLY_FRAME" val="{&quot;height&quot;:455.6,&quot;left&quot;:35.15,&quot;top&quot;:73.35,&quot;width&quot;:609.35}"/>
</p:tagLst>
</file>

<file path=ppt/tags/tag25.xml><?xml version="1.0" encoding="utf-8"?>
<p:tagLst xmlns:p="http://schemas.openxmlformats.org/presentationml/2006/main">
  <p:tag name="KSO_WM_DIAGRAM_VIRTUALLY_FRAME" val="{&quot;height&quot;:455.6,&quot;left&quot;:35.15,&quot;top&quot;:73.35,&quot;width&quot;:609.35}"/>
</p:tagLst>
</file>

<file path=ppt/tags/tag26.xml><?xml version="1.0" encoding="utf-8"?>
<p:tagLst xmlns:p="http://schemas.openxmlformats.org/presentationml/2006/main">
  <p:tag name="KSO_WM_DIAGRAM_VIRTUALLY_FRAME" val="{&quot;height&quot;:453.92758112435604,&quot;left&quot;:207.70031496062992,&quot;top&quot;:113.56842519685037,&quot;width&quot;:655.4649606299213}"/>
</p:tagLst>
</file>

<file path=ppt/tags/tag27.xml><?xml version="1.0" encoding="utf-8"?>
<p:tagLst xmlns:p="http://schemas.openxmlformats.org/presentationml/2006/main">
  <p:tag name="KSO_WM_DIAGRAM_VIRTUALLY_FRAME" val="{&quot;height&quot;:453.92758112435604,&quot;left&quot;:207.70031496062992,&quot;top&quot;:113.56842519685037,&quot;width&quot;:655.4649606299213}"/>
</p:tagLst>
</file>

<file path=ppt/tags/tag28.xml><?xml version="1.0" encoding="utf-8"?>
<p:tagLst xmlns:p="http://schemas.openxmlformats.org/presentationml/2006/main">
  <p:tag name="KSO_WM_DIAGRAM_VIRTUALLY_FRAME" val="{&quot;height&quot;:453.92758112435604,&quot;left&quot;:207.70031496062992,&quot;top&quot;:113.56842519685037,&quot;width&quot;:655.4649606299213}"/>
</p:tagLst>
</file>

<file path=ppt/tags/tag29.xml><?xml version="1.0" encoding="utf-8"?>
<p:tagLst xmlns:p="http://schemas.openxmlformats.org/presentationml/2006/main">
  <p:tag name="KSO_WM_DIAGRAM_VIRTUALLY_FRAME" val="{&quot;height&quot;:453.92758112435604,&quot;left&quot;:207.70031496062992,&quot;top&quot;:113.56842519685037,&quot;width&quot;:655.4649606299213}"/>
</p:tagLst>
</file>

<file path=ppt/tags/tag30.xml><?xml version="1.0" encoding="utf-8"?>
<p:tagLst xmlns:p="http://schemas.openxmlformats.org/presentationml/2006/main">
  <p:tag name="KSO_WM_DIAGRAM_VIRTUALLY_FRAME" val="{&quot;height&quot;:453.92758112435604,&quot;left&quot;:207.70031496062992,&quot;top&quot;:113.56842519685037,&quot;width&quot;:655.4649606299213}"/>
</p:tagLst>
</file>

<file path=ppt/tags/tag31.xml><?xml version="1.0" encoding="utf-8"?>
<p:tagLst xmlns:p="http://schemas.openxmlformats.org/presentationml/2006/main">
  <p:tag name="KSO_WM_DIAGRAM_VIRTUALLY_FRAME" val="{&quot;height&quot;:453.92758112435604,&quot;left&quot;:207.70031496062992,&quot;top&quot;:113.56842519685037,&quot;width&quot;:655.4649606299213}"/>
</p:tagLst>
</file>

<file path=ppt/tags/tag32.xml><?xml version="1.0" encoding="utf-8"?>
<p:tagLst xmlns:p="http://schemas.openxmlformats.org/presentationml/2006/main">
  <p:tag name="KSO_WM_DIAGRAM_VIRTUALLY_FRAME" val="{&quot;height&quot;:453.92758112435604,&quot;left&quot;:207.70031496062992,&quot;top&quot;:113.56842519685037,&quot;width&quot;:655.4649606299213}"/>
</p:tagLst>
</file>

<file path=ppt/tags/tag33.xml><?xml version="1.0" encoding="utf-8"?>
<p:tagLst xmlns:p="http://schemas.openxmlformats.org/presentationml/2006/main">
  <p:tag name="KSO_WM_DIAGRAM_VIRTUALLY_FRAME" val="{&quot;height&quot;:453.92758112435604,&quot;left&quot;:207.70031496062992,&quot;top&quot;:113.56842519685037,&quot;width&quot;:655.4649606299213}"/>
</p:tagLst>
</file>

<file path=ppt/tags/tag34.xml><?xml version="1.0" encoding="utf-8"?>
<p:tagLst xmlns:p="http://schemas.openxmlformats.org/presentationml/2006/main">
  <p:tag name="KSO_WM_DIAGRAM_VIRTUALLY_FRAME" val="{&quot;height&quot;:453.92758112435604,&quot;left&quot;:207.70031496062992,&quot;top&quot;:113.56842519685037,&quot;width&quot;:655.4649606299213}"/>
</p:tagLst>
</file>

<file path=ppt/tags/tag35.xml><?xml version="1.0" encoding="utf-8"?>
<p:tagLst xmlns:p="http://schemas.openxmlformats.org/presentationml/2006/main">
  <p:tag name="KSO_WM_DIAGRAM_VIRTUALLY_FRAME" val="{&quot;height&quot;:453.92758112435604,&quot;left&quot;:207.70031496062992,&quot;top&quot;:113.56842519685037,&quot;width&quot;:655.4649606299213}"/>
</p:tagLst>
</file>

<file path=ppt/tags/tag36.xml><?xml version="1.0" encoding="utf-8"?>
<p:tagLst xmlns:p="http://schemas.openxmlformats.org/presentationml/2006/main">
  <p:tag name="KSO_WM_DIAGRAM_VIRTUALLY_FRAME" val="{&quot;height&quot;:453.92758112435604,&quot;left&quot;:207.70031496062992,&quot;top&quot;:113.56842519685037,&quot;width&quot;:655.4649606299213}"/>
</p:tagLst>
</file>

<file path=ppt/tags/tag37.xml><?xml version="1.0" encoding="utf-8"?>
<p:tagLst xmlns:p="http://schemas.openxmlformats.org/presentationml/2006/main">
  <p:tag name="KSO_WM_DIAGRAM_VIRTUALLY_FRAME" val="{&quot;height&quot;:453.92758112435604,&quot;left&quot;:207.70031496062992,&quot;top&quot;:113.56842519685037,&quot;width&quot;:655.4649606299213}"/>
</p:tagLst>
</file>

<file path=ppt/tags/tag38.xml><?xml version="1.0" encoding="utf-8"?>
<p:tagLst xmlns:p="http://schemas.openxmlformats.org/presentationml/2006/main">
  <p:tag name="KSO_WM_DIAGRAM_VIRTUALLY_FRAME" val="{&quot;height&quot;:302.7124409448819,&quot;left&quot;:35.15,&quot;top&quot;:121.08755905511812,&quot;width&quot;:892.35}"/>
</p:tagLst>
</file>

<file path=ppt/tags/tag39.xml><?xml version="1.0" encoding="utf-8"?>
<p:tagLst xmlns:p="http://schemas.openxmlformats.org/presentationml/2006/main">
  <p:tag name="KSO_WM_DIAGRAM_VIRTUALLY_FRAME" val="{&quot;height&quot;:302.7124409448819,&quot;left&quot;:35.15,&quot;top&quot;:121.08755905511812,&quot;width&quot;:892.35}"/>
</p:tagLst>
</file>

<file path=ppt/tags/tag40.xml><?xml version="1.0" encoding="utf-8"?>
<p:tagLst xmlns:p="http://schemas.openxmlformats.org/presentationml/2006/main">
  <p:tag name="KSO_WM_DIAGRAM_VIRTUALLY_FRAME" val="{&quot;height&quot;:302.7124409448819,&quot;left&quot;:35.15,&quot;top&quot;:121.08755905511812,&quot;width&quot;:892.35}"/>
</p:tagLst>
</file>

<file path=ppt/tags/tag41.xml><?xml version="1.0" encoding="utf-8"?>
<p:tagLst xmlns:p="http://schemas.openxmlformats.org/presentationml/2006/main">
  <p:tag name="KSO_WM_DIAGRAM_VIRTUALLY_FRAME" val="{&quot;height&quot;:302.7124409448819,&quot;left&quot;:35.15,&quot;top&quot;:121.08755905511812,&quot;width&quot;:892.35}"/>
</p:tagLst>
</file>

<file path=ppt/tags/tag42.xml><?xml version="1.0" encoding="utf-8"?>
<p:tagLst xmlns:p="http://schemas.openxmlformats.org/presentationml/2006/main">
  <p:tag name="KSO_WM_DIAGRAM_VIRTUALLY_FRAME" val="{&quot;height&quot;:302.7124409448819,&quot;left&quot;:35.15,&quot;top&quot;:121.08755905511812,&quot;width&quot;:892.35}"/>
</p:tagLst>
</file>

<file path=ppt/tags/tag43.xml><?xml version="1.0" encoding="utf-8"?>
<p:tagLst xmlns:p="http://schemas.openxmlformats.org/presentationml/2006/main">
  <p:tag name="KSO_WM_DIAGRAM_VIRTUALLY_FRAME" val="{&quot;height&quot;:302.7124409448819,&quot;left&quot;:35.15,&quot;top&quot;:121.08755905511812,&quot;width&quot;:892.35}"/>
</p:tagLst>
</file>

<file path=ppt/tags/tag44.xml><?xml version="1.0" encoding="utf-8"?>
<p:tagLst xmlns:p="http://schemas.openxmlformats.org/presentationml/2006/main">
  <p:tag name="KSO_WM_DIAGRAM_VIRTUALLY_FRAME" val="{&quot;height&quot;:302.7124409448819,&quot;left&quot;:35.15,&quot;top&quot;:121.08755905511812,&quot;width&quot;:892.35}"/>
</p:tagLst>
</file>

<file path=ppt/tags/tag45.xml><?xml version="1.0" encoding="utf-8"?>
<p:tagLst xmlns:p="http://schemas.openxmlformats.org/presentationml/2006/main">
  <p:tag name="KSO_WM_DIAGRAM_VIRTUALLY_FRAME" val="{&quot;height&quot;:302.7124409448819,&quot;left&quot;:35.15,&quot;top&quot;:121.08755905511812,&quot;width&quot;:892.35}"/>
</p:tagLst>
</file>

<file path=ppt/tags/tag46.xml><?xml version="1.0" encoding="utf-8"?>
<p:tagLst xmlns:p="http://schemas.openxmlformats.org/presentationml/2006/main">
  <p:tag name="KSO_WM_DIAGRAM_VIRTUALLY_FRAME" val="{&quot;height&quot;:302.7124409448819,&quot;left&quot;:35.15,&quot;top&quot;:121.08755905511812,&quot;width&quot;:892.35}"/>
</p:tagLst>
</file>

<file path=ppt/tags/tag47.xml><?xml version="1.0" encoding="utf-8"?>
<p:tagLst xmlns:p="http://schemas.openxmlformats.org/presentationml/2006/main">
  <p:tag name="KSO_WM_DIAGRAM_VIRTUALLY_FRAME" val="{&quot;height&quot;:302.7124409448819,&quot;left&quot;:35.15,&quot;top&quot;:121.08755905511812,&quot;width&quot;:892.35}"/>
</p:tagLst>
</file>

<file path=ppt/tags/tag48.xml><?xml version="1.0" encoding="utf-8"?>
<p:tagLst xmlns:p="http://schemas.openxmlformats.org/presentationml/2006/main">
  <p:tag name="KSO_WM_DIAGRAM_VIRTUALLY_FRAME" val="{&quot;height&quot;:302.7124409448819,&quot;left&quot;:35.15,&quot;top&quot;:121.08755905511812,&quot;width&quot;:892.35}"/>
</p:tagLst>
</file>

<file path=ppt/tags/tag49.xml><?xml version="1.0" encoding="utf-8"?>
<p:tagLst xmlns:p="http://schemas.openxmlformats.org/presentationml/2006/main">
  <p:tag name="KSO_WM_DIAGRAM_VIRTUALLY_FRAME" val="{&quot;height&quot;:455.6,&quot;left&quot;:35.15,&quot;top&quot;:73.35,&quot;width&quot;:893.1}"/>
</p:tagLst>
</file>

<file path=ppt/tags/tag50.xml><?xml version="1.0" encoding="utf-8"?>
<p:tagLst xmlns:p="http://schemas.openxmlformats.org/presentationml/2006/main">
  <p:tag name="KSO_WM_DIAGRAM_VIRTUALLY_FRAME" val="{&quot;height&quot;:455.6,&quot;left&quot;:35.15,&quot;top&quot;:73.35,&quot;width&quot;:893.1}"/>
</p:tagLst>
</file>

<file path=ppt/tags/tag51.xml><?xml version="1.0" encoding="utf-8"?>
<p:tagLst xmlns:p="http://schemas.openxmlformats.org/presentationml/2006/main">
  <p:tag name="KSO_WM_DIAGRAM_VIRTUALLY_FRAME" val="{&quot;height&quot;:455.6,&quot;left&quot;:35.15,&quot;top&quot;:73.35,&quot;width&quot;:893.1}"/>
</p:tagLst>
</file>

<file path=ppt/tags/tag52.xml><?xml version="1.0" encoding="utf-8"?>
<p:tagLst xmlns:p="http://schemas.openxmlformats.org/presentationml/2006/main">
  <p:tag name="KSO_WM_DIAGRAM_VIRTUALLY_FRAME" val="{&quot;height&quot;:300.2000000000003,&quot;left&quot;:79.15,&quot;top&quot;:165.6,&quot;width&quot;:538}"/>
</p:tagLst>
</file>

<file path=ppt/tags/tag53.xml><?xml version="1.0" encoding="utf-8"?>
<p:tagLst xmlns:p="http://schemas.openxmlformats.org/presentationml/2006/main">
  <p:tag name="KSO_WM_DIAGRAM_VIRTUALLY_FRAME" val="{&quot;height&quot;:300.2000000000003,&quot;left&quot;:79.15,&quot;top&quot;:165.6,&quot;width&quot;:538}"/>
</p:tagLst>
</file>

<file path=ppt/tags/tag54.xml><?xml version="1.0" encoding="utf-8"?>
<p:tagLst xmlns:p="http://schemas.openxmlformats.org/presentationml/2006/main">
  <p:tag name="KSO_WM_DIAGRAM_VIRTUALLY_FRAME" val="{&quot;height&quot;:300.2000000000003,&quot;left&quot;:79.15,&quot;top&quot;:165.6,&quot;width&quot;:538}"/>
</p:tagLst>
</file>

<file path=ppt/tags/tag55.xml><?xml version="1.0" encoding="utf-8"?>
<p:tagLst xmlns:p="http://schemas.openxmlformats.org/presentationml/2006/main">
  <p:tag name="KSO_WM_DIAGRAM_VIRTUALLY_FRAME" val="{&quot;height&quot;:300.2000000000003,&quot;left&quot;:79.15,&quot;top&quot;:165.6,&quot;width&quot;:538}"/>
</p:tagLst>
</file>

<file path=ppt/tags/tag56.xml><?xml version="1.0" encoding="utf-8"?>
<p:tagLst xmlns:p="http://schemas.openxmlformats.org/presentationml/2006/main">
  <p:tag name="KSO_WM_DIAGRAM_VIRTUALLY_FRAME" val="{&quot;height&quot;:300.2000000000003,&quot;left&quot;:79.15,&quot;top&quot;:165.6,&quot;width&quot;:538}"/>
</p:tagLst>
</file>

<file path=ppt/tags/tag57.xml><?xml version="1.0" encoding="utf-8"?>
<p:tagLst xmlns:p="http://schemas.openxmlformats.org/presentationml/2006/main">
  <p:tag name="KSO_WM_DIAGRAM_VIRTUALLY_FRAME" val="{&quot;height&quot;:455.6,&quot;left&quot;:35.15,&quot;top&quot;:73.35,&quot;width&quot;:893.1}"/>
</p:tagLst>
</file>

<file path=ppt/tags/tag58.xml><?xml version="1.0" encoding="utf-8"?>
<p:tagLst xmlns:p="http://schemas.openxmlformats.org/presentationml/2006/main">
  <p:tag name="KSO_WM_DIAGRAM_VIRTUALLY_FRAME" val="{&quot;height&quot;:455.6,&quot;left&quot;:35.15,&quot;top&quot;:73.35,&quot;width&quot;:893.1}"/>
</p:tagLst>
</file>

<file path=ppt/tags/tag59.xml><?xml version="1.0" encoding="utf-8"?>
<p:tagLst xmlns:p="http://schemas.openxmlformats.org/presentationml/2006/main">
  <p:tag name="KSO_WM_DIAGRAM_VIRTUALLY_FRAME" val="{&quot;height&quot;:455.6,&quot;left&quot;:35.15,&quot;top&quot;:73.35,&quot;width&quot;:893.1}"/>
</p:tagLst>
</file>

<file path=ppt/tags/tag60.xml><?xml version="1.0" encoding="utf-8"?>
<p:tagLst xmlns:p="http://schemas.openxmlformats.org/presentationml/2006/main">
  <p:tag name="KSO_WM_DIAGRAM_VIRTUALLY_FRAME" val="{&quot;height&quot;:321.4150393700787,&quot;left&quot;:256.8307874015748,&quot;top&quot;:141.48188976377952,&quot;width&quot;:563.3645669291338}"/>
</p:tagLst>
</file>

<file path=ppt/tags/tag61.xml><?xml version="1.0" encoding="utf-8"?>
<p:tagLst xmlns:p="http://schemas.openxmlformats.org/presentationml/2006/main">
  <p:tag name="KSO_WM_DIAGRAM_VIRTUALLY_FRAME" val="{&quot;height&quot;:321.4150393700787,&quot;left&quot;:256.8307874015748,&quot;top&quot;:141.48188976377952,&quot;width&quot;:563.3645669291338}"/>
</p:tagLst>
</file>

<file path=ppt/tags/tag62.xml><?xml version="1.0" encoding="utf-8"?>
<p:tagLst xmlns:p="http://schemas.openxmlformats.org/presentationml/2006/main">
  <p:tag name="KSO_WM_DIAGRAM_VIRTUALLY_FRAME" val="{&quot;height&quot;:91.4,&quot;left&quot;:287.25,&quot;top&quot;:401.2,&quot;width&quot;:400.9}"/>
</p:tagLst>
</file>

<file path=ppt/tags/tag63.xml><?xml version="1.0" encoding="utf-8"?>
<p:tagLst xmlns:p="http://schemas.openxmlformats.org/presentationml/2006/main">
  <p:tag name="KSO_WM_DIAGRAM_VIRTUALLY_FRAME" val="{&quot;height&quot;:88.4,&quot;left&quot;:287.25,&quot;top&quot;:401.2,&quot;width&quot;:400.9}"/>
</p:tagLst>
</file>

<file path=ppt/tags/tag64.xml><?xml version="1.0" encoding="utf-8"?>
<p:tagLst xmlns:p="http://schemas.openxmlformats.org/presentationml/2006/main">
  <p:tag name="KSO_WM_DIAGRAM_VIRTUALLY_FRAME" val="{&quot;height&quot;:91.4,&quot;left&quot;:287.25,&quot;top&quot;:401.2,&quot;width&quot;:400.9}"/>
</p:tagLst>
</file>

<file path=ppt/tags/tag65.xml><?xml version="1.0" encoding="utf-8"?>
<p:tagLst xmlns:p="http://schemas.openxmlformats.org/presentationml/2006/main">
  <p:tag name="KSO_WM_DIAGRAM_VIRTUALLY_FRAME" val="{&quot;height&quot;:91.4,&quot;left&quot;:287.25,&quot;top&quot;:401.2,&quot;width&quot;:400.9}"/>
</p:tagLst>
</file>

<file path=ppt/tags/tag66.xml><?xml version="1.0" encoding="utf-8"?>
<p:tagLst xmlns:p="http://schemas.openxmlformats.org/presentationml/2006/main">
  <p:tag name="KSO_WM_DIAGRAM_VIRTUALLY_FRAME" val="{&quot;height&quot;:88.4,&quot;left&quot;:287.25,&quot;top&quot;:401.2,&quot;width&quot;:400.9}"/>
</p:tagLst>
</file>

<file path=ppt/tags/tag67.xml><?xml version="1.0" encoding="utf-8"?>
<p:tagLst xmlns:p="http://schemas.openxmlformats.org/presentationml/2006/main">
  <p:tag name="KSO_WM_DIAGRAM_VIRTUALLY_FRAME" val="{&quot;height&quot;:91.4,&quot;left&quot;:287.25,&quot;top&quot;:401.2,&quot;width&quot;:400.9}"/>
</p:tagLst>
</file>

<file path=ppt/tags/tag68.xml><?xml version="1.0" encoding="utf-8"?>
<p:tagLst xmlns:p="http://schemas.openxmlformats.org/presentationml/2006/main">
  <p:tag name="KSO_WM_DIAGRAM_VIRTUALLY_FRAME" val="{&quot;height&quot;:91.4,&quot;left&quot;:287.25,&quot;top&quot;:401.2,&quot;width&quot;:400.9}"/>
</p:tagLst>
</file>

<file path=ppt/tags/tag69.xml><?xml version="1.0" encoding="utf-8"?>
<p:tagLst xmlns:p="http://schemas.openxmlformats.org/presentationml/2006/main">
  <p:tag name="KSO_WM_DIAGRAM_VIRTUALLY_FRAME" val="{&quot;height&quot;:88.4,&quot;left&quot;:287.25,&quot;top&quot;:401.2,&quot;width&quot;:400.9}"/>
</p:tagLst>
</file>

<file path=ppt/tags/tag70.xml><?xml version="1.0" encoding="utf-8"?>
<p:tagLst xmlns:p="http://schemas.openxmlformats.org/presentationml/2006/main">
  <p:tag name="KSO_WM_DIAGRAM_VIRTUALLY_FRAME" val="{&quot;height&quot;:91.4,&quot;left&quot;:287.25,&quot;top&quot;:401.2,&quot;width&quot;:400.9}"/>
</p:tagLst>
</file>

<file path=ppt/tags/tag71.xml><?xml version="1.0" encoding="utf-8"?>
<p:tagLst xmlns:p="http://schemas.openxmlformats.org/presentationml/2006/main">
  <p:tag name="KSO_WM_DIAGRAM_VIRTUALLY_FRAME" val="{&quot;height&quot;:91.4,&quot;left&quot;:287.25,&quot;top&quot;:401.2,&quot;width&quot;:400.9}"/>
</p:tagLst>
</file>

<file path=ppt/tags/tag72.xml><?xml version="1.0" encoding="utf-8"?>
<p:tagLst xmlns:p="http://schemas.openxmlformats.org/presentationml/2006/main">
  <p:tag name="KSO_WM_DIAGRAM_VIRTUALLY_FRAME" val="{&quot;height&quot;:91.4,&quot;left&quot;:287.25,&quot;top&quot;:401.2,&quot;width&quot;:400.9}"/>
</p:tagLst>
</file>

<file path=ppt/tags/tag73.xml><?xml version="1.0" encoding="utf-8"?>
<p:tagLst xmlns:p="http://schemas.openxmlformats.org/presentationml/2006/main">
  <p:tag name="KSO_WM_DIAGRAM_VIRTUALLY_FRAME" val="{&quot;height&quot;:91.4,&quot;left&quot;:287.25,&quot;top&quot;:401.2,&quot;width&quot;:400.9}"/>
</p:tagLst>
</file>

<file path=ppt/tags/tag74.xml><?xml version="1.0" encoding="utf-8"?>
<p:tagLst xmlns:p="http://schemas.openxmlformats.org/presentationml/2006/main">
  <p:tag name="KSO_WM_DIAGRAM_VIRTUALLY_FRAME" val="{&quot;height&quot;:88.4,&quot;left&quot;:287.25,&quot;top&quot;:401.2,&quot;width&quot;:400.9}"/>
</p:tagLst>
</file>

<file path=ppt/tags/tag75.xml><?xml version="1.0" encoding="utf-8"?>
<p:tagLst xmlns:p="http://schemas.openxmlformats.org/presentationml/2006/main">
  <p:tag name="KSO_WM_DIAGRAM_VIRTUALLY_FRAME" val="{&quot;height&quot;:88.4,&quot;left&quot;:287.25,&quot;top&quot;:401.2,&quot;width&quot;:400.9}"/>
</p:tagLst>
</file>

<file path=ppt/tags/tag76.xml><?xml version="1.0" encoding="utf-8"?>
<p:tagLst xmlns:p="http://schemas.openxmlformats.org/presentationml/2006/main">
  <p:tag name="KSO_WM_DIAGRAM_VIRTUALLY_FRAME" val="{&quot;height&quot;:88.4,&quot;left&quot;:287.25,&quot;top&quot;:401.2,&quot;width&quot;:400.9}"/>
</p:tagLst>
</file>

<file path=ppt/tags/tag77.xml><?xml version="1.0" encoding="utf-8"?>
<p:tagLst xmlns:p="http://schemas.openxmlformats.org/presentationml/2006/main">
  <p:tag name="KSO_WM_DIAGRAM_VIRTUALLY_FRAME" val="{&quot;height&quot;:88.4,&quot;left&quot;:287.25,&quot;top&quot;:401.2,&quot;width&quot;:400.9}"/>
</p:tagLst>
</file>

<file path=ppt/tags/tag78.xml><?xml version="1.0" encoding="utf-8"?>
<p:tagLst xmlns:p="http://schemas.openxmlformats.org/presentationml/2006/main">
  <p:tag name="KSO_WM_DIAGRAM_VIRTUALLY_FRAME" val="{&quot;height&quot;:88.4,&quot;left&quot;:287.25,&quot;top&quot;:401.2,&quot;width&quot;:400.9}"/>
</p:tagLst>
</file>

<file path=ppt/tags/tag79.xml><?xml version="1.0" encoding="utf-8"?>
<p:tagLst xmlns:p="http://schemas.openxmlformats.org/presentationml/2006/main">
  <p:tag name="KSO_WM_DIAGRAM_VIRTUALLY_FRAME" val="{&quot;height&quot;:88.4,&quot;left&quot;:287.25,&quot;top&quot;:401.2,&quot;width&quot;:400.9}"/>
</p:tagLst>
</file>

<file path=ppt/tags/tag80.xml><?xml version="1.0" encoding="utf-8"?>
<p:tagLst xmlns:p="http://schemas.openxmlformats.org/presentationml/2006/main">
  <p:tag name="KSO_WM_DIAGRAM_VIRTUALLY_FRAME" val="{&quot;height&quot;:88.4,&quot;left&quot;:287.25,&quot;top&quot;:401.2,&quot;width&quot;:400.9}"/>
</p:tagLst>
</file>

<file path=ppt/tags/tag81.xml><?xml version="1.0" encoding="utf-8"?>
<p:tagLst xmlns:p="http://schemas.openxmlformats.org/presentationml/2006/main">
  <p:tag name="KSO_WM_DIAGRAM_VIRTUALLY_FRAME" val="{&quot;height&quot;:88.4,&quot;left&quot;:287.25,&quot;top&quot;:401.2,&quot;width&quot;:400.9}"/>
</p:tagLst>
</file>

<file path=ppt/tags/tag82.xml><?xml version="1.0" encoding="utf-8"?>
<p:tagLst xmlns:p="http://schemas.openxmlformats.org/presentationml/2006/main">
  <p:tag name="KSO_WM_DIAGRAM_VIRTUALLY_FRAME" val="{&quot;height&quot;:88.4,&quot;left&quot;:287.25,&quot;top&quot;:401.2,&quot;width&quot;:400.9}"/>
</p:tagLst>
</file>

<file path=ppt/tags/tag83.xml><?xml version="1.0" encoding="utf-8"?>
<p:tagLst xmlns:p="http://schemas.openxmlformats.org/presentationml/2006/main">
  <p:tag name="KSO_WM_DIAGRAM_VIRTUALLY_FRAME" val="{&quot;height&quot;:596.7685826771653,&quot;left&quot;:93.94354330708661,&quot;top&quot;:94.07724409448818,&quot;width&quot;:733.6611023622047}"/>
</p:tagLst>
</file>

<file path=ppt/tags/tag84.xml><?xml version="1.0" encoding="utf-8"?>
<p:tagLst xmlns:p="http://schemas.openxmlformats.org/presentationml/2006/main">
  <p:tag name="KSO_WM_DIAGRAM_VIRTUALLY_FRAME" val="{&quot;height&quot;:596.7685826771653,&quot;left&quot;:93.94354330708661,&quot;top&quot;:94.07724409448818,&quot;width&quot;:733.6611023622047}"/>
</p:tagLst>
</file>

<file path=ppt/tags/tag85.xml><?xml version="1.0" encoding="utf-8"?>
<p:tagLst xmlns:p="http://schemas.openxmlformats.org/presentationml/2006/main">
  <p:tag name="KSO_WM_DIAGRAM_VIRTUALLY_FRAME" val="{&quot;height&quot;:596.7685826771653,&quot;left&quot;:93.94354330708661,&quot;top&quot;:94.07724409448818,&quot;width&quot;:733.6611023622047}"/>
</p:tagLst>
</file>

<file path=ppt/tags/tag86.xml><?xml version="1.0" encoding="utf-8"?>
<p:tagLst xmlns:p="http://schemas.openxmlformats.org/presentationml/2006/main">
  <p:tag name="KSO_WM_DIAGRAM_VIRTUALLY_FRAME" val="{&quot;height&quot;:596.7685826771653,&quot;left&quot;:93.94354330708661,&quot;top&quot;:94.07724409448818,&quot;width&quot;:733.6611023622047}"/>
</p:tagLst>
</file>

<file path=ppt/tags/tag87.xml><?xml version="1.0" encoding="utf-8"?>
<p:tagLst xmlns:p="http://schemas.openxmlformats.org/presentationml/2006/main">
  <p:tag name="KSO_WM_DIAGRAM_VIRTUALLY_FRAME" val="{&quot;height&quot;:596.7685826771653,&quot;left&quot;:93.94354330708661,&quot;top&quot;:94.07724409448818,&quot;width&quot;:733.6611023622047}"/>
</p:tagLst>
</file>

<file path=ppt/tags/tag88.xml><?xml version="1.0" encoding="utf-8"?>
<p:tagLst xmlns:p="http://schemas.openxmlformats.org/presentationml/2006/main">
  <p:tag name="KSO_WM_DIAGRAM_VIRTUALLY_FRAME" val="{&quot;height&quot;:596.7685826771653,&quot;left&quot;:93.94354330708661,&quot;top&quot;:94.07724409448818,&quot;width&quot;:733.6611023622047}"/>
</p:tagLst>
</file>

<file path=ppt/tags/tag89.xml><?xml version="1.0" encoding="utf-8"?>
<p:tagLst xmlns:p="http://schemas.openxmlformats.org/presentationml/2006/main">
  <p:tag name="KSO_WM_DIAGRAM_VIRTUALLY_FRAME" val="{&quot;height&quot;:351.06503937007875,&quot;left&quot;:104.9807874015748,&quot;top&quot;:111.83188976377953,&quot;width&quot;:743.0145669291337}"/>
</p:tagLst>
</file>

<file path=ppt/tags/tag90.xml><?xml version="1.0" encoding="utf-8"?>
<p:tagLst xmlns:p="http://schemas.openxmlformats.org/presentationml/2006/main">
  <p:tag name="KSO_WM_DIAGRAM_VIRTUALLY_FRAME" val="{&quot;height&quot;:351.06503937007875,&quot;left&quot;:104.9807874015748,&quot;top&quot;:111.83188976377953,&quot;width&quot;:743.0145669291337}"/>
</p:tagLst>
</file>

<file path=ppt/tags/tag91.xml><?xml version="1.0" encoding="utf-8"?>
<p:tagLst xmlns:p="http://schemas.openxmlformats.org/presentationml/2006/main">
  <p:tag name="KSO_WM_DIAGRAM_VIRTUALLY_FRAME" val="{&quot;height&quot;:351.06503937007875,&quot;left&quot;:104.9807874015748,&quot;top&quot;:111.83188976377953,&quot;width&quot;:743.0145669291337}"/>
</p:tagLst>
</file>

<file path=ppt/tags/tag92.xml><?xml version="1.0" encoding="utf-8"?>
<p:tagLst xmlns:p="http://schemas.openxmlformats.org/presentationml/2006/main">
  <p:tag name="KSO_WM_DIAGRAM_VIRTUALLY_FRAME" val="{&quot;height&quot;:351.06503937007875,&quot;left&quot;:104.9807874015748,&quot;top&quot;:111.83188976377953,&quot;width&quot;:743.0145669291337}"/>
</p:tagLst>
</file>

<file path=ppt/tags/tag93.xml><?xml version="1.0" encoding="utf-8"?>
<p:tagLst xmlns:p="http://schemas.openxmlformats.org/presentationml/2006/main">
  <p:tag name="KSO_WM_DIAGRAM_VIRTUALLY_FRAME" val="{&quot;height&quot;:351.06503937007875,&quot;left&quot;:104.9807874015748,&quot;top&quot;:111.83188976377953,&quot;width&quot;:743.0145669291337}"/>
</p:tagLst>
</file>

<file path=ppt/tags/tag94.xml><?xml version="1.0" encoding="utf-8"?>
<p:tagLst xmlns:p="http://schemas.openxmlformats.org/presentationml/2006/main">
  <p:tag name="KSO_WM_DIAGRAM_VIRTUALLY_FRAME" val="{&quot;height&quot;:351.06503937007875,&quot;left&quot;:104.9807874015748,&quot;top&quot;:111.83188976377953,&quot;width&quot;:743.0145669291337}"/>
</p:tagLst>
</file>

<file path=ppt/tags/tag95.xml><?xml version="1.0" encoding="utf-8"?>
<p:tagLst xmlns:p="http://schemas.openxmlformats.org/presentationml/2006/main">
  <p:tag name="COMMONDATA" val="eyJoZGlkIjoiMWE5M2Q3YTk2NzExM2ViYmM0ZjRmYzRhOWQ2NWVkYzYifQ=="/>
</p:tagLst>
</file>

<file path=ppt/theme/theme1.xml><?xml version="1.0" encoding="utf-8"?>
<a:theme xmlns:a="http://schemas.openxmlformats.org/drawingml/2006/main" name="第一PPT，www.1ppt.com">
  <a:themeElements>
    <a:clrScheme name="自定义 2">
      <a:dk1>
        <a:sysClr val="windowText" lastClr="000000"/>
      </a:dk1>
      <a:lt1>
        <a:sysClr val="window" lastClr="FFFFFF"/>
      </a:lt1>
      <a:dk2>
        <a:srgbClr val="3F3F3F"/>
      </a:dk2>
      <a:lt2>
        <a:srgbClr val="E3DED1"/>
      </a:lt2>
      <a:accent1>
        <a:srgbClr val="005825"/>
      </a:accent1>
      <a:accent2>
        <a:srgbClr val="7F7F7F"/>
      </a:accent2>
      <a:accent3>
        <a:srgbClr val="414456"/>
      </a:accent3>
      <a:accent4>
        <a:srgbClr val="444455"/>
      </a:accent4>
      <a:accent5>
        <a:srgbClr val="444455"/>
      </a:accent5>
      <a:accent6>
        <a:srgbClr val="7F7F7F"/>
      </a:accent6>
      <a:hlink>
        <a:srgbClr val="002060"/>
      </a:hlink>
      <a:folHlink>
        <a:srgbClr val="B26B02"/>
      </a:folHlink>
    </a:clrScheme>
    <a:fontScheme name="自定义 1">
      <a:majorFont>
        <a:latin typeface="Arial Black"/>
        <a:ea typeface="微软雅黑"/>
        <a:cs typeface=""/>
      </a:majorFont>
      <a:minorFont>
        <a:latin typeface="Arial"/>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4023</Words>
  <Application>WPS 演示</Application>
  <PresentationFormat>宽屏</PresentationFormat>
  <Paragraphs>498</Paragraphs>
  <Slides>19</Slides>
  <Notes>36</Notes>
  <HiddenSlides>0</HiddenSlides>
  <MMClips>0</MMClips>
  <ScaleCrop>false</ScaleCrop>
  <HeadingPairs>
    <vt:vector size="6" baseType="variant">
      <vt:variant>
        <vt:lpstr>已用的字体</vt:lpstr>
      </vt:variant>
      <vt:variant>
        <vt:i4>25</vt:i4>
      </vt:variant>
      <vt:variant>
        <vt:lpstr>主题</vt:lpstr>
      </vt:variant>
      <vt:variant>
        <vt:i4>1</vt:i4>
      </vt:variant>
      <vt:variant>
        <vt:lpstr>幻灯片标题</vt:lpstr>
      </vt:variant>
      <vt:variant>
        <vt:i4>19</vt:i4>
      </vt:variant>
    </vt:vector>
  </HeadingPairs>
  <TitlesOfParts>
    <vt:vector size="45" baseType="lpstr">
      <vt:lpstr>Arial</vt:lpstr>
      <vt:lpstr>宋体</vt:lpstr>
      <vt:lpstr>Wingdings</vt:lpstr>
      <vt:lpstr>微软雅黑</vt:lpstr>
      <vt:lpstr>Arial Black</vt:lpstr>
      <vt:lpstr>Wingdings 2</vt:lpstr>
      <vt:lpstr>幼圆</vt:lpstr>
      <vt:lpstr>Calibri</vt:lpstr>
      <vt:lpstr>Arial</vt:lpstr>
      <vt:lpstr>Calibri</vt:lpstr>
      <vt:lpstr>Wingdings</vt:lpstr>
      <vt:lpstr>Arial Unicode MS</vt:lpstr>
      <vt:lpstr>等线</vt:lpstr>
      <vt:lpstr>Times New Roman</vt:lpstr>
      <vt:lpstr>Cambria Math</vt:lpstr>
      <vt:lpstr>Agency FB</vt:lpstr>
      <vt:lpstr>Arial Black</vt:lpstr>
      <vt:lpstr>华文黑体</vt:lpstr>
      <vt:lpstr>黑体</vt:lpstr>
      <vt:lpstr>Impact</vt:lpstr>
      <vt:lpstr>Swiss911 UCm BT</vt:lpstr>
      <vt:lpstr>Arial Narrow</vt:lpstr>
      <vt:lpstr>华文黑体</vt:lpstr>
      <vt:lpstr>方正大黑体_GBK</vt:lpstr>
      <vt:lpstr>Swiss 721 Std Thin</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嫇卫一</cp:lastModifiedBy>
  <cp:revision>102</cp:revision>
  <dcterms:created xsi:type="dcterms:W3CDTF">2020-10-27T11:22:00Z</dcterms:created>
  <dcterms:modified xsi:type="dcterms:W3CDTF">2025-12-07T05:32:28Z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B6F8A208F44B41CEA7358D1EFE429AA4_13</vt:lpwstr>
  </property>
  <property fmtid="{D5CDD505-2E9C-101B-9397-08002B2CF9AE}" pid="3" name="KSOProductBuildVer">
    <vt:lpwstr>2052-12.1.0.24034</vt:lpwstr>
  </property>
</Properties>
</file>